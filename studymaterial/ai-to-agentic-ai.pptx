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94"/>
    <p:restoredTop sz="94610"/>
  </p:normalViewPr>
  <p:slideViewPr>
    <p:cSldViewPr snapToGrid="0" snapToObjects="1">
      <p:cViewPr varScale="1">
        <p:scale>
          <a:sx n="147" d="100"/>
          <a:sy n="147" d="100"/>
        </p:scale>
        <p:origin x="29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01034"/>
                </a:solidFill>
                <a:latin typeface="Arial"/>
              </a:defRPr>
            </a:pPr>
            <a:r>
              <a:rPr lang="en-IN" sz="1300" b="0" i="0" u="none" strike="noStrike">
                <a:solidFill>
                  <a:srgbClr val="101034"/>
                </a:solidFill>
                <a:latin typeface="Arial"/>
              </a:rPr>
              <a:t>Model performance vs. volume of training data</a:t>
            </a:r>
          </a:p>
        </c:rich>
      </c:tx>
      <c:overlay val="0"/>
    </c:title>
    <c:autoTitleDeleted val="0"/>
    <c:plotArea>
      <c:layout/>
      <c:lineChart>
        <c:grouping val="standard"/>
        <c:varyColors val="0"/>
        <c:ser>
          <c:idx val="0"/>
          <c:order val="0"/>
          <c:tx>
            <c:strRef>
              <c:f>Sheet1!$B$1</c:f>
              <c:strCache>
                <c:ptCount val="1"/>
                <c:pt idx="0">
                  <c:v>Traditional ML</c:v>
                </c:pt>
              </c:strCache>
            </c:strRef>
          </c:tx>
          <c:spPr>
            <a:ln w="38100" cap="flat">
              <a:solidFill>
                <a:srgbClr val="9DA0DD"/>
              </a:solidFill>
              <a:prstDash val="solid"/>
              <a:round/>
            </a:ln>
            <a:effectLst/>
          </c:spPr>
          <c:marker>
            <c:symbol val="none"/>
          </c:marker>
          <c:cat>
            <c:strRef>
              <c:f>Sheet1!$A$2:$A$8</c:f>
              <c:strCache>
                <c:ptCount val="7"/>
                <c:pt idx="0">
                  <c:v>Small</c:v>
                </c:pt>
                <c:pt idx="2">
                  <c:v>Medium</c:v>
                </c:pt>
                <c:pt idx="4">
                  <c:v>Large</c:v>
                </c:pt>
                <c:pt idx="6">
                  <c:v>Very large</c:v>
                </c:pt>
              </c:strCache>
            </c:strRef>
          </c:cat>
          <c:val>
            <c:numRef>
              <c:f>Sheet1!$B$2:$B$8</c:f>
              <c:numCache>
                <c:formatCode>General</c:formatCode>
                <c:ptCount val="7"/>
                <c:pt idx="0">
                  <c:v>30</c:v>
                </c:pt>
                <c:pt idx="1">
                  <c:v>48</c:v>
                </c:pt>
                <c:pt idx="2">
                  <c:v>60</c:v>
                </c:pt>
                <c:pt idx="3">
                  <c:v>66</c:v>
                </c:pt>
                <c:pt idx="4">
                  <c:v>69</c:v>
                </c:pt>
                <c:pt idx="5">
                  <c:v>70</c:v>
                </c:pt>
                <c:pt idx="6">
                  <c:v>70.5</c:v>
                </c:pt>
              </c:numCache>
            </c:numRef>
          </c:val>
          <c:smooth val="1"/>
          <c:extLst>
            <c:ext xmlns:c16="http://schemas.microsoft.com/office/drawing/2014/chart" uri="{C3380CC4-5D6E-409C-BE32-E72D297353CC}">
              <c16:uniqueId val="{00000000-EC06-C74A-982A-EF76E3BA1A27}"/>
            </c:ext>
          </c:extLst>
        </c:ser>
        <c:ser>
          <c:idx val="1"/>
          <c:order val="1"/>
          <c:tx>
            <c:strRef>
              <c:f>Sheet1!$C$1</c:f>
              <c:strCache>
                <c:ptCount val="1"/>
                <c:pt idx="0">
                  <c:v>Small neural net</c:v>
                </c:pt>
              </c:strCache>
            </c:strRef>
          </c:tx>
          <c:spPr>
            <a:ln w="38100" cap="flat">
              <a:solidFill>
                <a:srgbClr val="5B5FBF"/>
              </a:solidFill>
              <a:prstDash val="solid"/>
              <a:round/>
            </a:ln>
            <a:effectLst/>
          </c:spPr>
          <c:marker>
            <c:symbol val="none"/>
          </c:marker>
          <c:cat>
            <c:strRef>
              <c:f>Sheet1!$A$2:$A$8</c:f>
              <c:strCache>
                <c:ptCount val="7"/>
                <c:pt idx="0">
                  <c:v>Small</c:v>
                </c:pt>
                <c:pt idx="2">
                  <c:v>Medium</c:v>
                </c:pt>
                <c:pt idx="4">
                  <c:v>Large</c:v>
                </c:pt>
                <c:pt idx="6">
                  <c:v>Very large</c:v>
                </c:pt>
              </c:strCache>
            </c:strRef>
          </c:cat>
          <c:val>
            <c:numRef>
              <c:f>Sheet1!$C$2:$C$8</c:f>
              <c:numCache>
                <c:formatCode>General</c:formatCode>
                <c:ptCount val="7"/>
                <c:pt idx="0">
                  <c:v>22</c:v>
                </c:pt>
                <c:pt idx="1">
                  <c:v>42</c:v>
                </c:pt>
                <c:pt idx="2">
                  <c:v>58</c:v>
                </c:pt>
                <c:pt idx="3">
                  <c:v>68</c:v>
                </c:pt>
                <c:pt idx="4">
                  <c:v>74</c:v>
                </c:pt>
                <c:pt idx="5">
                  <c:v>77</c:v>
                </c:pt>
                <c:pt idx="6">
                  <c:v>79</c:v>
                </c:pt>
              </c:numCache>
            </c:numRef>
          </c:val>
          <c:smooth val="1"/>
          <c:extLst>
            <c:ext xmlns:c16="http://schemas.microsoft.com/office/drawing/2014/chart" uri="{C3380CC4-5D6E-409C-BE32-E72D297353CC}">
              <c16:uniqueId val="{00000001-EC06-C74A-982A-EF76E3BA1A27}"/>
            </c:ext>
          </c:extLst>
        </c:ser>
        <c:ser>
          <c:idx val="2"/>
          <c:order val="2"/>
          <c:tx>
            <c:strRef>
              <c:f>Sheet1!$D$1</c:f>
              <c:strCache>
                <c:ptCount val="1"/>
                <c:pt idx="0">
                  <c:v>Deep neural net</c:v>
                </c:pt>
              </c:strCache>
            </c:strRef>
          </c:tx>
          <c:spPr>
            <a:ln w="38100" cap="flat">
              <a:solidFill>
                <a:srgbClr val="00A6A6"/>
              </a:solidFill>
              <a:prstDash val="solid"/>
              <a:round/>
            </a:ln>
            <a:effectLst/>
          </c:spPr>
          <c:marker>
            <c:symbol val="none"/>
          </c:marker>
          <c:cat>
            <c:strRef>
              <c:f>Sheet1!$A$2:$A$8</c:f>
              <c:strCache>
                <c:ptCount val="7"/>
                <c:pt idx="0">
                  <c:v>Small</c:v>
                </c:pt>
                <c:pt idx="2">
                  <c:v>Medium</c:v>
                </c:pt>
                <c:pt idx="4">
                  <c:v>Large</c:v>
                </c:pt>
                <c:pt idx="6">
                  <c:v>Very large</c:v>
                </c:pt>
              </c:strCache>
            </c:strRef>
          </c:cat>
          <c:val>
            <c:numRef>
              <c:f>Sheet1!$D$2:$D$8</c:f>
              <c:numCache>
                <c:formatCode>General</c:formatCode>
                <c:ptCount val="7"/>
                <c:pt idx="0">
                  <c:v>12</c:v>
                </c:pt>
                <c:pt idx="1">
                  <c:v>34</c:v>
                </c:pt>
                <c:pt idx="2">
                  <c:v>56</c:v>
                </c:pt>
                <c:pt idx="3">
                  <c:v>72</c:v>
                </c:pt>
                <c:pt idx="4">
                  <c:v>84</c:v>
                </c:pt>
                <c:pt idx="5">
                  <c:v>91</c:v>
                </c:pt>
                <c:pt idx="6">
                  <c:v>95</c:v>
                </c:pt>
              </c:numCache>
            </c:numRef>
          </c:val>
          <c:smooth val="1"/>
          <c:extLst>
            <c:ext xmlns:c16="http://schemas.microsoft.com/office/drawing/2014/chart" uri="{C3380CC4-5D6E-409C-BE32-E72D297353CC}">
              <c16:uniqueId val="{00000002-EC06-C74A-982A-EF76E3BA1A27}"/>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A5F73"/>
                    </a:solidFill>
                    <a:latin typeface="Arial"/>
                  </a:defRPr>
                </a:pPr>
                <a:r>
                  <a:rPr lang="en-IN" sz="1100" b="0" i="0" u="none" strike="noStrike">
                    <a:solidFill>
                      <a:srgbClr val="5A5F73"/>
                    </a:solidFill>
                    <a:latin typeface="Arial"/>
                  </a:rPr>
                  <a:t>Amount of training data</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5F73"/>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8EAF2"/>
              </a:solidFill>
              <a:prstDash val="solid"/>
              <a:round/>
            </a:ln>
          </c:spPr>
        </c:majorGridlines>
        <c:title>
          <c:tx>
            <c:rich>
              <a:bodyPr/>
              <a:lstStyle/>
              <a:p>
                <a:pPr>
                  <a:defRPr sz="1100" b="0" i="0" u="none" strike="noStrike">
                    <a:solidFill>
                      <a:srgbClr val="5A5F73"/>
                    </a:solidFill>
                    <a:latin typeface="Arial"/>
                  </a:defRPr>
                </a:pPr>
                <a:r>
                  <a:rPr lang="en-IN" sz="1100" b="0" i="0" u="none" strike="noStrike">
                    <a:solidFill>
                      <a:srgbClr val="5A5F73"/>
                    </a:solidFill>
                    <a:latin typeface="Arial"/>
                  </a:rPr>
                  <a:t>Performance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F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5F7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01034"/>
                </a:solidFill>
                <a:latin typeface="Arial"/>
              </a:defRPr>
            </a:pPr>
            <a:r>
              <a:rPr lang="en-IN" sz="1300" b="0" i="0" u="none" strike="noStrike">
                <a:solidFill>
                  <a:srgbClr val="101034"/>
                </a:solidFill>
                <a:latin typeface="Arial"/>
              </a:rPr>
              <a:t>Model size at launch, billions of parameters</a:t>
            </a:r>
          </a:p>
        </c:rich>
      </c:tx>
      <c:overlay val="0"/>
    </c:title>
    <c:autoTitleDeleted val="0"/>
    <c:plotArea>
      <c:layout/>
      <c:barChart>
        <c:barDir val="col"/>
        <c:grouping val="clustered"/>
        <c:varyColors val="0"/>
        <c:ser>
          <c:idx val="0"/>
          <c:order val="0"/>
          <c:tx>
            <c:strRef>
              <c:f>Sheet1!$B$1</c:f>
              <c:strCache>
                <c:ptCount val="1"/>
                <c:pt idx="0">
                  <c:v>Parameters (billions)</c:v>
                </c:pt>
              </c:strCache>
            </c:strRef>
          </c:tx>
          <c:spPr>
            <a:solidFill>
              <a:srgbClr val="9DA0DD"/>
            </a:solidFill>
            <a:effectLst/>
          </c:spPr>
          <c:invertIfNegative val="0"/>
          <c:dPt>
            <c:idx val="0"/>
            <c:invertIfNegative val="0"/>
            <c:bubble3D val="0"/>
            <c:spPr>
              <a:solidFill>
                <a:srgbClr val="9DA0DD"/>
              </a:solidFill>
              <a:effectLst/>
            </c:spPr>
            <c:extLst>
              <c:ext xmlns:c16="http://schemas.microsoft.com/office/drawing/2014/chart" uri="{C3380CC4-5D6E-409C-BE32-E72D297353CC}">
                <c16:uniqueId val="{00000001-9B3A-E14A-BAC4-1C573BBED677}"/>
              </c:ext>
            </c:extLst>
          </c:dPt>
          <c:dPt>
            <c:idx val="1"/>
            <c:invertIfNegative val="0"/>
            <c:bubble3D val="0"/>
            <c:spPr>
              <a:solidFill>
                <a:srgbClr val="5B5FBF"/>
              </a:solidFill>
              <a:effectLst/>
            </c:spPr>
            <c:extLst>
              <c:ext xmlns:c16="http://schemas.microsoft.com/office/drawing/2014/chart" uri="{C3380CC4-5D6E-409C-BE32-E72D297353CC}">
                <c16:uniqueId val="{00000003-9B3A-E14A-BAC4-1C573BBED677}"/>
              </c:ext>
            </c:extLst>
          </c:dPt>
          <c:dPt>
            <c:idx val="2"/>
            <c:invertIfNegative val="0"/>
            <c:bubble3D val="0"/>
            <c:spPr>
              <a:solidFill>
                <a:srgbClr val="2A2D7C"/>
              </a:solidFill>
              <a:effectLst/>
            </c:spPr>
            <c:extLst>
              <c:ext xmlns:c16="http://schemas.microsoft.com/office/drawing/2014/chart" uri="{C3380CC4-5D6E-409C-BE32-E72D297353CC}">
                <c16:uniqueId val="{00000005-9B3A-E14A-BAC4-1C573BBED677}"/>
              </c:ext>
            </c:extLst>
          </c:dPt>
          <c:dPt>
            <c:idx val="3"/>
            <c:invertIfNegative val="0"/>
            <c:bubble3D val="0"/>
            <c:spPr>
              <a:solidFill>
                <a:srgbClr val="00A6A6"/>
              </a:solidFill>
              <a:effectLst/>
            </c:spPr>
            <c:extLst>
              <c:ext xmlns:c16="http://schemas.microsoft.com/office/drawing/2014/chart" uri="{C3380CC4-5D6E-409C-BE32-E72D297353CC}">
                <c16:uniqueId val="{00000007-9B3A-E14A-BAC4-1C573BBED677}"/>
              </c:ext>
            </c:extLst>
          </c:dPt>
          <c:dLbls>
            <c:numFmt formatCode="#,##0.##" sourceLinked="0"/>
            <c:spPr>
              <a:noFill/>
              <a:ln>
                <a:noFill/>
              </a:ln>
              <a:effectLst/>
            </c:spPr>
            <c:txPr>
              <a:bodyPr/>
              <a:lstStyle/>
              <a:p>
                <a:pPr>
                  <a:defRPr sz="1100" b="0" i="0" u="none" strike="noStrike">
                    <a:solidFill>
                      <a:srgbClr val="10103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BERT-Large
2018</c:v>
                </c:pt>
                <c:pt idx="1">
                  <c:v>GPT-2
2019</c:v>
                </c:pt>
                <c:pt idx="2">
                  <c:v>GPT-3
2020</c:v>
                </c:pt>
                <c:pt idx="3">
                  <c:v>PaLM
2022</c:v>
                </c:pt>
              </c:strCache>
            </c:strRef>
          </c:cat>
          <c:val>
            <c:numRef>
              <c:f>Sheet1!$B$2:$B$5</c:f>
              <c:numCache>
                <c:formatCode>General</c:formatCode>
                <c:ptCount val="4"/>
                <c:pt idx="0">
                  <c:v>0.34</c:v>
                </c:pt>
                <c:pt idx="1">
                  <c:v>1.5</c:v>
                </c:pt>
                <c:pt idx="2">
                  <c:v>175</c:v>
                </c:pt>
                <c:pt idx="3">
                  <c:v>540</c:v>
                </c:pt>
              </c:numCache>
            </c:numRef>
          </c:val>
          <c:extLst>
            <c:ext xmlns:c16="http://schemas.microsoft.com/office/drawing/2014/chart" uri="{C3380CC4-5D6E-409C-BE32-E72D297353CC}">
              <c16:uniqueId val="{00000008-9B3A-E14A-BAC4-1C573BBED67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5F7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8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F7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054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Frame the session: these five terms are used interchangeably in the market, but they are nested and distinct. By the end, everyone should be able to place any tool they meet into the right box.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mental model for the whole session. Stress the nesting: every deep learning system is machine learning; every LLM is deep learning. Agentic AI is deliberately drawn outside the circles because it is an architecture pattern, not a new model family.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nothing is replaced — banks still run rules engines and gradient boosting alongside LLMs. Each wave stacks. Also flag the accelerating pace: 60 years for the first two waves, 10 for the last two.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AI is not new and not only LLMs. Ask the room for the last AI they used — most answers will be recommendation, routing or fraud, all pre-LLM. Good moment to defuse the idea that AI arrived in 2022.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slide for non-technical audiences. Concrete example: to catch spam with rules you write 'if subject contains WIN A PRIZE'. Spammers adapt faster than you can write rules. With ML you feed 100,000 labelled mails and the model derives the rules — and you retrain when spam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classify their own use cases. Common confusion: segmentation is often done with labels attached afterwards — it is still unsupervised at training time. Mention semi-supervised and self-supervised as the bridge to how LLMs are trained.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supervised: both need historical examples with the answer attached. The choice is dictated by the target column. If someone asks for a probability of default that is classification; if they ask for the expected loss amount that is regression. Many banking problems chain the two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plot left to right. The dashed verticals are the single most useful thing on this slide — they make 'the model minimises error' visible instead of abstract. Mention that least squares squares those gaps, which is why one big outlier hurts far more than several small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is where classification projects are actually won or lost. Ask which error is more expensive in their domain: a missed fraud or an annoyed genuine customer. That answer sets the threshold, and accuracy alone will never reveal it — especially on imbalanced data where 99% accuracy can mean catching nothing.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difficulty with unsupervised learning: there is no accuracy score, because there is no ground truth. Validation is judgement plus business review. That is why clusters must be named and sanity-checked by the people who own the process.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loop with your hands if you can: assign, average, repeat. Then make the business point — clustering only earns its keep when each segment gets treated differently afterwards. Mention DBSCAN and hierarchical clustering as alternatives when clusters are not round or k is genuinely unknown.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Counterweight to LLM hype. A gradient-boosted tree on tabular data trains in minutes, costs almost nothing to serve, and is explainable to a regulator. Do not reach for a language model when a table will 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that lands well: identifying a friend in a photo. You never listed the rules for their face — you learned from thousands of sightings. Layers do the same, edges to shapes to faces.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crossover point matters commercially: on a few thousand rows, a tree model wins. Deep learning pays off with volume and with unstructured data. Ask the room where their data sits on this curve.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for non-technical audiences: the takeaway is that the Transformer's ability to weigh every word against every other word, in parallel, is what let models scale to internet-sized training sets.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 distinction: a discriminative model draws the boundary between classes; a generative model learns the distribution well enough to sample from it. Both are still deep learning.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magic. The model is a very good autocomplete trained on a very large corpus. Everything people call reasoning emerges from that objective — which explains both its power and its failure modes.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industry has since moved from pure scale to efficiency — smaller models, better data, mixture-of-experts and reasoning-time compute. The chart shows the era that proved scale works, not the current frontier.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the room to map their own backlog onto these six. Almost every idea people bring is a variant of one of them. If an idea does not fit, it usually needs classical ML or an agent instead.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of the deck. Everything before was capability; everything after is architecture. Make the limits concrete with a story: the model drafts a perfect refund email and then a human still has to open four systems.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the definition. Emphasise autonomy over the number of steps: a chatbot returns after one pass, an agent decides for itself whether it is finished. Also flag that loops need guardrails — max iterations, cost ceilings, human approval on write actions.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tools are the hard part in practice, not the model. Most agent projects stall on integration, permissions and audit rather than reasoning quality. Guardrails are not optional once an agent can write to a production system.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maturity framing for a roadmap conversation. Advise starting at L1 with a narrow, high-volume workflow and a human in the loop, then earning autonomy as accuracy and audit evidence accumulate.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example closest to the audience and walk it end to end, naming the tools the agent would need. That makes the integration effort visible, which is the honest part of the story.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as the one-page reference. If participants remember nothing else, the Example row should let them classify any vendor pitch they hear next quarter.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these five. Then invite each participant to name one workflow in their own team and say which of the five categories it belongs in — that check for understanding takes five minutes and surfaces the real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discussion. Suggested closing exercise: each table picks one workflow and sketches which rung of the autonomy ladder it should target in the next six months.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034"/>
        </a:solidFill>
        <a:effectLst/>
      </p:bgPr>
    </p:bg>
    <p:spTree>
      <p:nvGrpSpPr>
        <p:cNvPr id="1" name=""/>
        <p:cNvGrpSpPr/>
        <p:nvPr/>
      </p:nvGrpSpPr>
      <p:grpSpPr>
        <a:xfrm>
          <a:off x="0" y="0"/>
          <a:ext cx="0" cy="0"/>
          <a:chOff x="0" y="0"/>
          <a:chExt cx="0" cy="0"/>
        </a:xfrm>
      </p:grpSpPr>
      <p:sp>
        <p:nvSpPr>
          <p:cNvPr id="2" name="Shape 0"/>
          <p:cNvSpPr/>
          <p:nvPr/>
        </p:nvSpPr>
        <p:spPr>
          <a:xfrm>
            <a:off x="7360920" y="1188720"/>
            <a:ext cx="4480560" cy="4480560"/>
          </a:xfrm>
          <a:prstGeom prst="ellipse">
            <a:avLst/>
          </a:prstGeom>
          <a:solidFill>
            <a:srgbClr val="101034"/>
          </a:solidFill>
          <a:ln w="19050">
            <a:solidFill>
              <a:srgbClr val="5B5FBF"/>
            </a:solidFill>
            <a:prstDash val="solid"/>
          </a:ln>
        </p:spPr>
        <p:txBody>
          <a:bodyPr/>
          <a:lstStyle/>
          <a:p>
            <a:endParaRPr lang="en-US"/>
          </a:p>
        </p:txBody>
      </p:sp>
      <p:sp>
        <p:nvSpPr>
          <p:cNvPr id="3" name="Shape 1"/>
          <p:cNvSpPr/>
          <p:nvPr/>
        </p:nvSpPr>
        <p:spPr>
          <a:xfrm>
            <a:off x="7909560" y="1737360"/>
            <a:ext cx="3383280" cy="3383280"/>
          </a:xfrm>
          <a:prstGeom prst="ellipse">
            <a:avLst/>
          </a:prstGeom>
          <a:solidFill>
            <a:srgbClr val="101034"/>
          </a:solidFill>
          <a:ln w="19050">
            <a:solidFill>
              <a:srgbClr val="3D4192"/>
            </a:solidFill>
            <a:prstDash val="solid"/>
          </a:ln>
        </p:spPr>
        <p:txBody>
          <a:bodyPr/>
          <a:lstStyle/>
          <a:p>
            <a:endParaRPr lang="en-US"/>
          </a:p>
        </p:txBody>
      </p:sp>
      <p:sp>
        <p:nvSpPr>
          <p:cNvPr id="4" name="Shape 2"/>
          <p:cNvSpPr/>
          <p:nvPr/>
        </p:nvSpPr>
        <p:spPr>
          <a:xfrm>
            <a:off x="8458200" y="2286000"/>
            <a:ext cx="2286000" cy="2286000"/>
          </a:xfrm>
          <a:prstGeom prst="ellipse">
            <a:avLst/>
          </a:prstGeom>
          <a:solidFill>
            <a:srgbClr val="101034"/>
          </a:solidFill>
          <a:ln w="19050">
            <a:solidFill>
              <a:srgbClr val="00A6A6"/>
            </a:solidFill>
            <a:prstDash val="solid"/>
          </a:ln>
        </p:spPr>
        <p:txBody>
          <a:bodyPr/>
          <a:lstStyle/>
          <a:p>
            <a:endParaRPr lang="en-US"/>
          </a:p>
        </p:txBody>
      </p:sp>
      <p:sp>
        <p:nvSpPr>
          <p:cNvPr id="5" name="Shape 3"/>
          <p:cNvSpPr/>
          <p:nvPr/>
        </p:nvSpPr>
        <p:spPr>
          <a:xfrm>
            <a:off x="9006840" y="2834640"/>
            <a:ext cx="1188720" cy="1188720"/>
          </a:xfrm>
          <a:prstGeom prst="ellipse">
            <a:avLst/>
          </a:prstGeom>
          <a:solidFill>
            <a:srgbClr val="101034"/>
          </a:solidFill>
          <a:ln w="19050">
            <a:solidFill>
              <a:srgbClr val="E09400"/>
            </a:solidFill>
            <a:prstDash val="solid"/>
          </a:ln>
        </p:spPr>
        <p:txBody>
          <a:bodyPr/>
          <a:lstStyle/>
          <a:p>
            <a:endParaRPr lang="en-US"/>
          </a:p>
        </p:txBody>
      </p:sp>
      <p:sp>
        <p:nvSpPr>
          <p:cNvPr id="6" name="Text 4"/>
          <p:cNvSpPr/>
          <p:nvPr/>
        </p:nvSpPr>
        <p:spPr>
          <a:xfrm>
            <a:off x="9006840" y="3154680"/>
            <a:ext cx="1188720" cy="548640"/>
          </a:xfrm>
          <a:prstGeom prst="rect">
            <a:avLst/>
          </a:prstGeom>
          <a:noFill/>
          <a:ln/>
        </p:spPr>
        <p:txBody>
          <a:bodyPr wrap="square" lIns="0" tIns="0" rIns="0" bIns="0" rtlCol="0" anchor="ctr"/>
          <a:lstStyle/>
          <a:p>
            <a:pPr marL="0" indent="0" algn="ctr">
              <a:buNone/>
            </a:pPr>
            <a:r>
              <a:rPr lang="en-US" sz="1600" b="1" dirty="0">
                <a:solidFill>
                  <a:srgbClr val="E09400"/>
                </a:solidFill>
                <a:latin typeface="Arial" pitchFamily="34" charset="0"/>
                <a:ea typeface="Arial" pitchFamily="34" charset="-122"/>
                <a:cs typeface="Arial" pitchFamily="34" charset="-120"/>
              </a:rPr>
              <a:t>AI</a:t>
            </a:r>
            <a:endParaRPr lang="en-US" sz="1600" dirty="0"/>
          </a:p>
        </p:txBody>
      </p:sp>
      <p:sp>
        <p:nvSpPr>
          <p:cNvPr id="7" name="Text 5"/>
          <p:cNvSpPr/>
          <p:nvPr/>
        </p:nvSpPr>
        <p:spPr>
          <a:xfrm>
            <a:off x="548640" y="1874520"/>
            <a:ext cx="6766560" cy="274320"/>
          </a:xfrm>
          <a:prstGeom prst="rect">
            <a:avLst/>
          </a:prstGeom>
          <a:noFill/>
          <a:ln/>
        </p:spPr>
        <p:txBody>
          <a:bodyPr wrap="square" lIns="0" tIns="0" rIns="0" bIns="0" rtlCol="0" anchor="ctr"/>
          <a:lstStyle/>
          <a:p>
            <a:pPr marL="0" indent="0">
              <a:buNone/>
            </a:pPr>
            <a:r>
              <a:rPr lang="en-US" sz="1200" b="1" kern="0" spc="300" dirty="0">
                <a:solidFill>
                  <a:srgbClr val="00A6A6"/>
                </a:solidFill>
                <a:latin typeface="Arial" pitchFamily="34" charset="0"/>
                <a:ea typeface="Arial" pitchFamily="34" charset="-122"/>
                <a:cs typeface="Arial" pitchFamily="34" charset="-120"/>
              </a:rPr>
              <a:t>FOUNDATION SERIES</a:t>
            </a:r>
            <a:endParaRPr lang="en-US" sz="1200" dirty="0"/>
          </a:p>
        </p:txBody>
      </p:sp>
      <p:sp>
        <p:nvSpPr>
          <p:cNvPr id="8" name="Text 6"/>
          <p:cNvSpPr/>
          <p:nvPr/>
        </p:nvSpPr>
        <p:spPr>
          <a:xfrm>
            <a:off x="548640" y="2240280"/>
            <a:ext cx="6949440" cy="137160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Arial" pitchFamily="34" charset="0"/>
                <a:ea typeface="Arial" pitchFamily="34" charset="-122"/>
                <a:cs typeface="Arial" pitchFamily="34" charset="-120"/>
              </a:rPr>
              <a:t>From AI to Agentic AI</a:t>
            </a:r>
            <a:endParaRPr lang="en-US" sz="4400" dirty="0"/>
          </a:p>
        </p:txBody>
      </p:sp>
      <p:sp>
        <p:nvSpPr>
          <p:cNvPr id="9" name="Text 7"/>
          <p:cNvSpPr/>
          <p:nvPr/>
        </p:nvSpPr>
        <p:spPr>
          <a:xfrm>
            <a:off x="548640" y="3703320"/>
            <a:ext cx="6583680" cy="731520"/>
          </a:xfrm>
          <a:prstGeom prst="rect">
            <a:avLst/>
          </a:prstGeom>
          <a:noFill/>
          <a:ln/>
        </p:spPr>
        <p:txBody>
          <a:bodyPr wrap="square" lIns="0" tIns="0" rIns="0" bIns="0" rtlCol="0" anchor="ctr"/>
          <a:lstStyle/>
          <a:p>
            <a:pPr marL="0" indent="0">
              <a:buNone/>
            </a:pPr>
            <a:r>
              <a:rPr lang="en-US" sz="1500" dirty="0">
                <a:solidFill>
                  <a:srgbClr val="9DA0DD"/>
                </a:solidFill>
                <a:latin typeface="Calibri" pitchFamily="34" charset="0"/>
                <a:ea typeface="Calibri" pitchFamily="34" charset="-122"/>
                <a:cs typeface="Calibri" pitchFamily="34" charset="-120"/>
              </a:rPr>
              <a:t>Artificial Intelligence · Machine Learning · Deep Learning · Generative AI · Agentic AI</a:t>
            </a:r>
            <a:endParaRPr lang="en-US" sz="1500" dirty="0"/>
          </a:p>
        </p:txBody>
      </p:sp>
      <p:sp>
        <p:nvSpPr>
          <p:cNvPr id="10" name="Shape 8"/>
          <p:cNvSpPr/>
          <p:nvPr/>
        </p:nvSpPr>
        <p:spPr>
          <a:xfrm>
            <a:off x="548640" y="4709160"/>
            <a:ext cx="3931920" cy="566928"/>
          </a:xfrm>
          <a:prstGeom prst="roundRect">
            <a:avLst>
              <a:gd name="adj" fmla="val 16129"/>
            </a:avLst>
          </a:prstGeom>
          <a:solidFill>
            <a:srgbClr val="1B1B4D"/>
          </a:solidFill>
          <a:ln w="12700">
            <a:solidFill>
              <a:srgbClr val="5B5FBF"/>
            </a:solidFill>
            <a:prstDash val="solid"/>
          </a:ln>
        </p:spPr>
        <p:txBody>
          <a:bodyPr/>
          <a:lstStyle/>
          <a:p>
            <a:endParaRPr lang="en-US"/>
          </a:p>
        </p:txBody>
      </p:sp>
      <p:sp>
        <p:nvSpPr>
          <p:cNvPr id="11" name="Text 9"/>
          <p:cNvSpPr/>
          <p:nvPr/>
        </p:nvSpPr>
        <p:spPr>
          <a:xfrm>
            <a:off x="548640" y="4709160"/>
            <a:ext cx="3931920" cy="56692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 visual introduction with examples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The big picture: everything nests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Each term is a subset of the one before it — not a competitor to it</a:t>
            </a:r>
            <a:endParaRPr lang="en-US" sz="1400" dirty="0"/>
          </a:p>
        </p:txBody>
      </p:sp>
      <p:sp>
        <p:nvSpPr>
          <p:cNvPr id="4" name="Shape 2"/>
          <p:cNvSpPr/>
          <p:nvPr/>
        </p:nvSpPr>
        <p:spPr>
          <a:xfrm>
            <a:off x="1143000" y="1737360"/>
            <a:ext cx="4846320" cy="4846320"/>
          </a:xfrm>
          <a:prstGeom prst="ellipse">
            <a:avLst/>
          </a:prstGeom>
          <a:solidFill>
            <a:srgbClr val="E2E4F4"/>
          </a:solidFill>
          <a:ln w="19050">
            <a:solidFill>
              <a:srgbClr val="FFFFFF"/>
            </a:solidFill>
            <a:prstDash val="solid"/>
          </a:ln>
        </p:spPr>
        <p:txBody>
          <a:bodyPr/>
          <a:lstStyle/>
          <a:p>
            <a:endParaRPr lang="en-US"/>
          </a:p>
        </p:txBody>
      </p:sp>
      <p:sp>
        <p:nvSpPr>
          <p:cNvPr id="5" name="Text 3"/>
          <p:cNvSpPr/>
          <p:nvPr/>
        </p:nvSpPr>
        <p:spPr>
          <a:xfrm>
            <a:off x="1143000" y="1847088"/>
            <a:ext cx="4846320" cy="292608"/>
          </a:xfrm>
          <a:prstGeom prst="rect">
            <a:avLst/>
          </a:prstGeom>
          <a:noFill/>
          <a:ln/>
        </p:spPr>
        <p:txBody>
          <a:bodyPr wrap="square" lIns="0" tIns="0" rIns="0" bIns="0" rtlCol="0" anchor="ctr"/>
          <a:lstStyle/>
          <a:p>
            <a:pPr marL="0" indent="0" algn="ctr">
              <a:buNone/>
            </a:pPr>
            <a:r>
              <a:rPr lang="en-US" sz="1050" b="1" dirty="0">
                <a:solidFill>
                  <a:srgbClr val="2A2D7C"/>
                </a:solidFill>
                <a:latin typeface="Arial" pitchFamily="34" charset="0"/>
                <a:ea typeface="Arial" pitchFamily="34" charset="-122"/>
                <a:cs typeface="Arial" pitchFamily="34" charset="-120"/>
              </a:rPr>
              <a:t>ARTIFICIAL INTELLIGENCE</a:t>
            </a:r>
            <a:endParaRPr lang="en-US" sz="1050" dirty="0"/>
          </a:p>
        </p:txBody>
      </p:sp>
      <p:sp>
        <p:nvSpPr>
          <p:cNvPr id="6" name="Shape 4"/>
          <p:cNvSpPr/>
          <p:nvPr/>
        </p:nvSpPr>
        <p:spPr>
          <a:xfrm>
            <a:off x="1737360" y="2331720"/>
            <a:ext cx="3657600" cy="3657600"/>
          </a:xfrm>
          <a:prstGeom prst="ellipse">
            <a:avLst/>
          </a:prstGeom>
          <a:solidFill>
            <a:srgbClr val="C2C5EA"/>
          </a:solidFill>
          <a:ln w="19050">
            <a:solidFill>
              <a:srgbClr val="FFFFFF"/>
            </a:solidFill>
            <a:prstDash val="solid"/>
          </a:ln>
        </p:spPr>
        <p:txBody>
          <a:bodyPr/>
          <a:lstStyle/>
          <a:p>
            <a:endParaRPr lang="en-US"/>
          </a:p>
        </p:txBody>
      </p:sp>
      <p:sp>
        <p:nvSpPr>
          <p:cNvPr id="7" name="Text 5"/>
          <p:cNvSpPr/>
          <p:nvPr/>
        </p:nvSpPr>
        <p:spPr>
          <a:xfrm>
            <a:off x="1737360" y="2441448"/>
            <a:ext cx="3657600" cy="292608"/>
          </a:xfrm>
          <a:prstGeom prst="rect">
            <a:avLst/>
          </a:prstGeom>
          <a:noFill/>
          <a:ln/>
        </p:spPr>
        <p:txBody>
          <a:bodyPr wrap="square" lIns="0" tIns="0" rIns="0" bIns="0" rtlCol="0" anchor="ctr"/>
          <a:lstStyle/>
          <a:p>
            <a:pPr marL="0" indent="0" algn="ctr">
              <a:buNone/>
            </a:pPr>
            <a:r>
              <a:rPr lang="en-US" sz="1050" b="1" dirty="0">
                <a:solidFill>
                  <a:srgbClr val="2A2D7C"/>
                </a:solidFill>
                <a:latin typeface="Arial" pitchFamily="34" charset="0"/>
                <a:ea typeface="Arial" pitchFamily="34" charset="-122"/>
                <a:cs typeface="Arial" pitchFamily="34" charset="-120"/>
              </a:rPr>
              <a:t>MACHINE LEARNING</a:t>
            </a:r>
            <a:endParaRPr lang="en-US" sz="1050" dirty="0"/>
          </a:p>
        </p:txBody>
      </p:sp>
      <p:sp>
        <p:nvSpPr>
          <p:cNvPr id="8" name="Shape 6"/>
          <p:cNvSpPr/>
          <p:nvPr/>
        </p:nvSpPr>
        <p:spPr>
          <a:xfrm>
            <a:off x="2286000" y="2880360"/>
            <a:ext cx="2560320" cy="2560320"/>
          </a:xfrm>
          <a:prstGeom prst="ellipse">
            <a:avLst/>
          </a:prstGeom>
          <a:solidFill>
            <a:srgbClr val="9DA0DD"/>
          </a:solidFill>
          <a:ln w="19050">
            <a:solidFill>
              <a:srgbClr val="FFFFFF"/>
            </a:solidFill>
            <a:prstDash val="solid"/>
          </a:ln>
        </p:spPr>
        <p:txBody>
          <a:bodyPr/>
          <a:lstStyle/>
          <a:p>
            <a:endParaRPr lang="en-US"/>
          </a:p>
        </p:txBody>
      </p:sp>
      <p:sp>
        <p:nvSpPr>
          <p:cNvPr id="9" name="Text 7"/>
          <p:cNvSpPr/>
          <p:nvPr/>
        </p:nvSpPr>
        <p:spPr>
          <a:xfrm>
            <a:off x="2286000" y="2990088"/>
            <a:ext cx="2560320" cy="292608"/>
          </a:xfrm>
          <a:prstGeom prst="rect">
            <a:avLst/>
          </a:prstGeom>
          <a:noFill/>
          <a:ln/>
        </p:spPr>
        <p:txBody>
          <a:bodyPr wrap="square" lIns="0" tIns="0" rIns="0" bIns="0" rtlCol="0" anchor="ctr"/>
          <a:lstStyle/>
          <a:p>
            <a:pPr marL="0" indent="0" algn="ctr">
              <a:buNone/>
            </a:pPr>
            <a:r>
              <a:rPr lang="en-US" sz="1050" b="1" dirty="0">
                <a:solidFill>
                  <a:srgbClr val="1A1C55"/>
                </a:solidFill>
                <a:latin typeface="Arial" pitchFamily="34" charset="0"/>
                <a:ea typeface="Arial" pitchFamily="34" charset="-122"/>
                <a:cs typeface="Arial" pitchFamily="34" charset="-120"/>
              </a:rPr>
              <a:t>DEEP LEARNING</a:t>
            </a:r>
            <a:endParaRPr lang="en-US" sz="1050" dirty="0"/>
          </a:p>
        </p:txBody>
      </p:sp>
      <p:sp>
        <p:nvSpPr>
          <p:cNvPr id="10" name="Shape 8"/>
          <p:cNvSpPr/>
          <p:nvPr/>
        </p:nvSpPr>
        <p:spPr>
          <a:xfrm>
            <a:off x="2834640" y="3429000"/>
            <a:ext cx="1463040" cy="1463040"/>
          </a:xfrm>
          <a:prstGeom prst="ellipse">
            <a:avLst/>
          </a:prstGeom>
          <a:solidFill>
            <a:srgbClr val="00A6A6"/>
          </a:solidFill>
          <a:ln w="19050">
            <a:solidFill>
              <a:srgbClr val="FFFFFF"/>
            </a:solidFill>
            <a:prstDash val="solid"/>
          </a:ln>
        </p:spPr>
        <p:txBody>
          <a:bodyPr/>
          <a:lstStyle/>
          <a:p>
            <a:endParaRPr lang="en-US"/>
          </a:p>
        </p:txBody>
      </p:sp>
      <p:sp>
        <p:nvSpPr>
          <p:cNvPr id="11" name="Text 9"/>
          <p:cNvSpPr/>
          <p:nvPr/>
        </p:nvSpPr>
        <p:spPr>
          <a:xfrm>
            <a:off x="2834640" y="4014216"/>
            <a:ext cx="14630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GEN AI</a:t>
            </a:r>
            <a:endParaRPr lang="en-US" sz="1000" dirty="0"/>
          </a:p>
        </p:txBody>
      </p:sp>
      <p:sp>
        <p:nvSpPr>
          <p:cNvPr id="12" name="Shape 10"/>
          <p:cNvSpPr/>
          <p:nvPr/>
        </p:nvSpPr>
        <p:spPr>
          <a:xfrm>
            <a:off x="6720840" y="1673352"/>
            <a:ext cx="182880" cy="182880"/>
          </a:xfrm>
          <a:prstGeom prst="ellipse">
            <a:avLst/>
          </a:prstGeom>
          <a:solidFill>
            <a:srgbClr val="2A2D7C"/>
          </a:solidFill>
          <a:ln w="12700">
            <a:solidFill>
              <a:srgbClr val="FFFFFF"/>
            </a:solidFill>
            <a:prstDash val="solid"/>
          </a:ln>
        </p:spPr>
        <p:txBody>
          <a:bodyPr/>
          <a:lstStyle/>
          <a:p>
            <a:endParaRPr lang="en-US"/>
          </a:p>
        </p:txBody>
      </p:sp>
      <p:sp>
        <p:nvSpPr>
          <p:cNvPr id="13" name="Text 11"/>
          <p:cNvSpPr/>
          <p:nvPr/>
        </p:nvSpPr>
        <p:spPr>
          <a:xfrm>
            <a:off x="7040880" y="1600200"/>
            <a:ext cx="457200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Artificial Intelligence</a:t>
            </a:r>
            <a:endParaRPr lang="en-US" sz="1450" dirty="0"/>
          </a:p>
        </p:txBody>
      </p:sp>
      <p:sp>
        <p:nvSpPr>
          <p:cNvPr id="14" name="Text 12"/>
          <p:cNvSpPr/>
          <p:nvPr/>
        </p:nvSpPr>
        <p:spPr>
          <a:xfrm>
            <a:off x="7040880" y="1892808"/>
            <a:ext cx="4572000" cy="5486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Any technique that lets a machine mimic human-like intelligence — including hand-written rules.</a:t>
            </a:r>
            <a:endParaRPr lang="en-US" sz="1150" dirty="0"/>
          </a:p>
        </p:txBody>
      </p:sp>
      <p:sp>
        <p:nvSpPr>
          <p:cNvPr id="15" name="Shape 13"/>
          <p:cNvSpPr/>
          <p:nvPr/>
        </p:nvSpPr>
        <p:spPr>
          <a:xfrm>
            <a:off x="6720840" y="2606040"/>
            <a:ext cx="182880" cy="182880"/>
          </a:xfrm>
          <a:prstGeom prst="ellipse">
            <a:avLst/>
          </a:prstGeom>
          <a:solidFill>
            <a:srgbClr val="5B5FBF"/>
          </a:solidFill>
          <a:ln w="12700">
            <a:solidFill>
              <a:srgbClr val="FFFFFF"/>
            </a:solidFill>
            <a:prstDash val="solid"/>
          </a:ln>
        </p:spPr>
        <p:txBody>
          <a:bodyPr/>
          <a:lstStyle/>
          <a:p>
            <a:endParaRPr lang="en-US"/>
          </a:p>
        </p:txBody>
      </p:sp>
      <p:sp>
        <p:nvSpPr>
          <p:cNvPr id="16" name="Text 14"/>
          <p:cNvSpPr/>
          <p:nvPr/>
        </p:nvSpPr>
        <p:spPr>
          <a:xfrm>
            <a:off x="7040880" y="2532888"/>
            <a:ext cx="457200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Machine Learning</a:t>
            </a:r>
            <a:endParaRPr lang="en-US" sz="1450" dirty="0"/>
          </a:p>
        </p:txBody>
      </p:sp>
      <p:sp>
        <p:nvSpPr>
          <p:cNvPr id="17" name="Text 15"/>
          <p:cNvSpPr/>
          <p:nvPr/>
        </p:nvSpPr>
        <p:spPr>
          <a:xfrm>
            <a:off x="7040880" y="2825496"/>
            <a:ext cx="4572000" cy="5486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Systems that learn patterns from data instead of being explicitly programmed.</a:t>
            </a:r>
            <a:endParaRPr lang="en-US" sz="1150" dirty="0"/>
          </a:p>
        </p:txBody>
      </p:sp>
      <p:sp>
        <p:nvSpPr>
          <p:cNvPr id="18" name="Shape 16"/>
          <p:cNvSpPr/>
          <p:nvPr/>
        </p:nvSpPr>
        <p:spPr>
          <a:xfrm>
            <a:off x="6720840" y="3538728"/>
            <a:ext cx="182880" cy="182880"/>
          </a:xfrm>
          <a:prstGeom prst="ellipse">
            <a:avLst/>
          </a:prstGeom>
          <a:solidFill>
            <a:srgbClr val="9DA0DD"/>
          </a:solidFill>
          <a:ln w="12700">
            <a:solidFill>
              <a:srgbClr val="FFFFFF"/>
            </a:solidFill>
            <a:prstDash val="solid"/>
          </a:ln>
        </p:spPr>
        <p:txBody>
          <a:bodyPr/>
          <a:lstStyle/>
          <a:p>
            <a:endParaRPr lang="en-US"/>
          </a:p>
        </p:txBody>
      </p:sp>
      <p:sp>
        <p:nvSpPr>
          <p:cNvPr id="19" name="Text 17"/>
          <p:cNvSpPr/>
          <p:nvPr/>
        </p:nvSpPr>
        <p:spPr>
          <a:xfrm>
            <a:off x="7040880" y="3465576"/>
            <a:ext cx="457200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Deep Learning</a:t>
            </a:r>
            <a:endParaRPr lang="en-US" sz="1450" dirty="0"/>
          </a:p>
        </p:txBody>
      </p:sp>
      <p:sp>
        <p:nvSpPr>
          <p:cNvPr id="20" name="Text 18"/>
          <p:cNvSpPr/>
          <p:nvPr/>
        </p:nvSpPr>
        <p:spPr>
          <a:xfrm>
            <a:off x="7040880" y="3758184"/>
            <a:ext cx="4572000" cy="5486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ML using many-layered neural networks that learn features on their own.</a:t>
            </a:r>
            <a:endParaRPr lang="en-US" sz="1150" dirty="0"/>
          </a:p>
        </p:txBody>
      </p:sp>
      <p:sp>
        <p:nvSpPr>
          <p:cNvPr id="21" name="Shape 19"/>
          <p:cNvSpPr/>
          <p:nvPr/>
        </p:nvSpPr>
        <p:spPr>
          <a:xfrm>
            <a:off x="6720840" y="4471416"/>
            <a:ext cx="182880" cy="182880"/>
          </a:xfrm>
          <a:prstGeom prst="ellipse">
            <a:avLst/>
          </a:prstGeom>
          <a:solidFill>
            <a:srgbClr val="00A6A6"/>
          </a:solidFill>
          <a:ln w="12700">
            <a:solidFill>
              <a:srgbClr val="FFFFFF"/>
            </a:solidFill>
            <a:prstDash val="solid"/>
          </a:ln>
        </p:spPr>
        <p:txBody>
          <a:bodyPr/>
          <a:lstStyle/>
          <a:p>
            <a:endParaRPr lang="en-US"/>
          </a:p>
        </p:txBody>
      </p:sp>
      <p:sp>
        <p:nvSpPr>
          <p:cNvPr id="22" name="Text 20"/>
          <p:cNvSpPr/>
          <p:nvPr/>
        </p:nvSpPr>
        <p:spPr>
          <a:xfrm>
            <a:off x="7040880" y="4398264"/>
            <a:ext cx="457200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Generative AI</a:t>
            </a:r>
            <a:endParaRPr lang="en-US" sz="1450" dirty="0"/>
          </a:p>
        </p:txBody>
      </p:sp>
      <p:sp>
        <p:nvSpPr>
          <p:cNvPr id="23" name="Text 21"/>
          <p:cNvSpPr/>
          <p:nvPr/>
        </p:nvSpPr>
        <p:spPr>
          <a:xfrm>
            <a:off x="7040880" y="4690872"/>
            <a:ext cx="4572000" cy="5486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Deep learning models that create new content: text, code, images, audio.</a:t>
            </a:r>
            <a:endParaRPr lang="en-US" sz="1150" dirty="0"/>
          </a:p>
        </p:txBody>
      </p:sp>
      <p:sp>
        <p:nvSpPr>
          <p:cNvPr id="24" name="Shape 22"/>
          <p:cNvSpPr/>
          <p:nvPr/>
        </p:nvSpPr>
        <p:spPr>
          <a:xfrm>
            <a:off x="6720840" y="5394960"/>
            <a:ext cx="4892040" cy="914400"/>
          </a:xfrm>
          <a:prstGeom prst="roundRect">
            <a:avLst>
              <a:gd name="adj" fmla="val 9000"/>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25" name="Text 23"/>
          <p:cNvSpPr/>
          <p:nvPr/>
        </p:nvSpPr>
        <p:spPr>
          <a:xfrm>
            <a:off x="6949440" y="5486400"/>
            <a:ext cx="4572000" cy="274320"/>
          </a:xfrm>
          <a:prstGeom prst="rect">
            <a:avLst/>
          </a:prstGeom>
          <a:noFill/>
          <a:ln/>
        </p:spPr>
        <p:txBody>
          <a:bodyPr wrap="square" lIns="0" tIns="0" rIns="0" bIns="0" rtlCol="0" anchor="ctr"/>
          <a:lstStyle/>
          <a:p>
            <a:pPr marL="0" indent="0">
              <a:buNone/>
            </a:pPr>
            <a:r>
              <a:rPr lang="en-US" sz="1300" b="1" dirty="0">
                <a:solidFill>
                  <a:srgbClr val="8A5B00"/>
                </a:solidFill>
                <a:latin typeface="Arial" pitchFamily="34" charset="0"/>
                <a:ea typeface="Arial" pitchFamily="34" charset="-122"/>
                <a:cs typeface="Arial" pitchFamily="34" charset="-120"/>
              </a:rPr>
              <a:t>Agentic AI sits on top</a:t>
            </a:r>
            <a:endParaRPr lang="en-US" sz="1300" dirty="0"/>
          </a:p>
        </p:txBody>
      </p:sp>
      <p:sp>
        <p:nvSpPr>
          <p:cNvPr id="26" name="Text 24"/>
          <p:cNvSpPr/>
          <p:nvPr/>
        </p:nvSpPr>
        <p:spPr>
          <a:xfrm>
            <a:off x="6949440" y="5760720"/>
            <a:ext cx="4480560" cy="457200"/>
          </a:xfrm>
          <a:prstGeom prst="rect">
            <a:avLst/>
          </a:prstGeom>
          <a:noFill/>
          <a:ln/>
        </p:spPr>
        <p:txBody>
          <a:bodyPr wrap="square" lIns="0" tIns="0" rIns="0" bIns="0" rtlCol="0" anchor="ctr"/>
          <a:lstStyle/>
          <a:p>
            <a:pPr marL="0" indent="0">
              <a:buNone/>
            </a:pPr>
            <a:r>
              <a:rPr lang="en-US" sz="1150" dirty="0">
                <a:solidFill>
                  <a:srgbClr val="8A5B00"/>
                </a:solidFill>
                <a:latin typeface="Calibri" pitchFamily="34" charset="0"/>
                <a:ea typeface="Calibri" pitchFamily="34" charset="-122"/>
                <a:cs typeface="Calibri" pitchFamily="34" charset="-120"/>
              </a:rPr>
              <a:t>It wraps a generative model with goals, tools and memory so it can act, not just answer.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Seventy years in one line</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Each wave was unlocked by the wave before it, plus more data and more compute</a:t>
            </a:r>
            <a:endParaRPr lang="en-US" sz="1400" dirty="0"/>
          </a:p>
        </p:txBody>
      </p:sp>
      <p:sp>
        <p:nvSpPr>
          <p:cNvPr id="4" name="Shape 2"/>
          <p:cNvSpPr/>
          <p:nvPr/>
        </p:nvSpPr>
        <p:spPr>
          <a:xfrm>
            <a:off x="822960" y="3794760"/>
            <a:ext cx="10607040" cy="32004"/>
          </a:xfrm>
          <a:prstGeom prst="rect">
            <a:avLst/>
          </a:prstGeom>
          <a:solidFill>
            <a:srgbClr val="9DA0DD"/>
          </a:solidFill>
          <a:ln w="12700">
            <a:solidFill>
              <a:srgbClr val="9DA0DD"/>
            </a:solidFill>
            <a:prstDash val="solid"/>
          </a:ln>
        </p:spPr>
        <p:txBody>
          <a:bodyPr/>
          <a:lstStyle/>
          <a:p>
            <a:endParaRPr lang="en-US"/>
          </a:p>
        </p:txBody>
      </p:sp>
      <p:sp>
        <p:nvSpPr>
          <p:cNvPr id="5" name="Shape 3"/>
          <p:cNvSpPr/>
          <p:nvPr/>
        </p:nvSpPr>
        <p:spPr>
          <a:xfrm>
            <a:off x="1572768" y="3447288"/>
            <a:ext cx="512064" cy="512064"/>
          </a:xfrm>
          <a:prstGeom prst="ellipse">
            <a:avLst/>
          </a:prstGeom>
          <a:solidFill>
            <a:srgbClr val="2A2D7C"/>
          </a:solidFill>
          <a:ln w="12700">
            <a:solidFill>
              <a:srgbClr val="2A2D7C"/>
            </a:solidFill>
            <a:prstDash val="solid"/>
          </a:ln>
        </p:spPr>
        <p:txBody>
          <a:bodyPr/>
          <a:lstStyle/>
          <a:p>
            <a:endParaRPr lang="en-US"/>
          </a:p>
        </p:txBody>
      </p:sp>
      <p:sp>
        <p:nvSpPr>
          <p:cNvPr id="6" name="Text 4"/>
          <p:cNvSpPr/>
          <p:nvPr/>
        </p:nvSpPr>
        <p:spPr>
          <a:xfrm>
            <a:off x="1572768" y="344728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868680" y="1874520"/>
            <a:ext cx="1920240" cy="1417320"/>
          </a:xfrm>
          <a:prstGeom prst="roundRect">
            <a:avLst>
              <a:gd name="adj" fmla="val 580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8" name="Text 6"/>
          <p:cNvSpPr/>
          <p:nvPr/>
        </p:nvSpPr>
        <p:spPr>
          <a:xfrm>
            <a:off x="996696" y="1984248"/>
            <a:ext cx="1691640" cy="237744"/>
          </a:xfrm>
          <a:prstGeom prst="rect">
            <a:avLst/>
          </a:prstGeom>
          <a:noFill/>
          <a:ln/>
        </p:spPr>
        <p:txBody>
          <a:bodyPr wrap="square" lIns="0" tIns="0" rIns="0" bIns="0" rtlCol="0" anchor="ctr"/>
          <a:lstStyle/>
          <a:p>
            <a:pPr marL="0" indent="0">
              <a:buNone/>
            </a:pPr>
            <a:r>
              <a:rPr lang="en-US" sz="1050" b="1" dirty="0">
                <a:solidFill>
                  <a:srgbClr val="2A2D7C"/>
                </a:solidFill>
                <a:latin typeface="Arial" pitchFamily="34" charset="0"/>
                <a:ea typeface="Arial" pitchFamily="34" charset="-122"/>
                <a:cs typeface="Arial" pitchFamily="34" charset="-120"/>
              </a:rPr>
              <a:t>1950s–70s</a:t>
            </a:r>
            <a:endParaRPr lang="en-US" sz="1050" dirty="0"/>
          </a:p>
        </p:txBody>
      </p:sp>
      <p:sp>
        <p:nvSpPr>
          <p:cNvPr id="9" name="Text 7"/>
          <p:cNvSpPr/>
          <p:nvPr/>
        </p:nvSpPr>
        <p:spPr>
          <a:xfrm>
            <a:off x="996696" y="2221992"/>
            <a:ext cx="1691640" cy="274320"/>
          </a:xfrm>
          <a:prstGeom prst="rect">
            <a:avLst/>
          </a:prstGeom>
          <a:noFill/>
          <a:ln/>
        </p:spPr>
        <p:txBody>
          <a:bodyPr wrap="square" lIns="0" tIns="0" rIns="0" bIns="0" rtlCol="0" anchor="ctr"/>
          <a:lstStyle/>
          <a:p>
            <a:pPr marL="0" indent="0">
              <a:buNone/>
            </a:pPr>
            <a:r>
              <a:rPr lang="en-US" sz="1350" b="1" dirty="0">
                <a:solidFill>
                  <a:srgbClr val="101034"/>
                </a:solidFill>
                <a:latin typeface="Arial" pitchFamily="34" charset="0"/>
                <a:ea typeface="Arial" pitchFamily="34" charset="-122"/>
                <a:cs typeface="Arial" pitchFamily="34" charset="-120"/>
              </a:rPr>
              <a:t>Symbolic AI</a:t>
            </a:r>
            <a:endParaRPr lang="en-US" sz="1350" dirty="0"/>
          </a:p>
        </p:txBody>
      </p:sp>
      <p:sp>
        <p:nvSpPr>
          <p:cNvPr id="10" name="Text 8"/>
          <p:cNvSpPr/>
          <p:nvPr/>
        </p:nvSpPr>
        <p:spPr>
          <a:xfrm>
            <a:off x="996696" y="2514600"/>
            <a:ext cx="1691640" cy="685800"/>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Hand-coded rules and expert systems. Turing test, chess programs.</a:t>
            </a:r>
            <a:endParaRPr lang="en-US" sz="1000" dirty="0"/>
          </a:p>
        </p:txBody>
      </p:sp>
      <p:sp>
        <p:nvSpPr>
          <p:cNvPr id="11" name="Shape 9"/>
          <p:cNvSpPr/>
          <p:nvPr/>
        </p:nvSpPr>
        <p:spPr>
          <a:xfrm>
            <a:off x="1828800" y="3291840"/>
            <a:ext cx="0" cy="411480"/>
          </a:xfrm>
          <a:prstGeom prst="line">
            <a:avLst/>
          </a:prstGeom>
          <a:noFill/>
          <a:ln w="15875">
            <a:solidFill>
              <a:srgbClr val="2A2D7C"/>
            </a:solidFill>
            <a:prstDash val="solid"/>
          </a:ln>
        </p:spPr>
        <p:txBody>
          <a:bodyPr/>
          <a:lstStyle/>
          <a:p>
            <a:endParaRPr lang="en-US"/>
          </a:p>
        </p:txBody>
      </p:sp>
      <p:sp>
        <p:nvSpPr>
          <p:cNvPr id="12" name="Shape 10"/>
          <p:cNvSpPr/>
          <p:nvPr/>
        </p:nvSpPr>
        <p:spPr>
          <a:xfrm>
            <a:off x="3730752" y="3447288"/>
            <a:ext cx="512064" cy="512064"/>
          </a:xfrm>
          <a:prstGeom prst="ellipse">
            <a:avLst/>
          </a:prstGeom>
          <a:solidFill>
            <a:srgbClr val="5B5FBF"/>
          </a:solidFill>
          <a:ln w="12700">
            <a:solidFill>
              <a:srgbClr val="5B5FBF"/>
            </a:solidFill>
            <a:prstDash val="solid"/>
          </a:ln>
        </p:spPr>
        <p:txBody>
          <a:bodyPr/>
          <a:lstStyle/>
          <a:p>
            <a:endParaRPr lang="en-US"/>
          </a:p>
        </p:txBody>
      </p:sp>
      <p:sp>
        <p:nvSpPr>
          <p:cNvPr id="13" name="Text 11"/>
          <p:cNvSpPr/>
          <p:nvPr/>
        </p:nvSpPr>
        <p:spPr>
          <a:xfrm>
            <a:off x="3730752" y="344728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Shape 12"/>
          <p:cNvSpPr/>
          <p:nvPr/>
        </p:nvSpPr>
        <p:spPr>
          <a:xfrm>
            <a:off x="3026664" y="4343400"/>
            <a:ext cx="1920240" cy="1417320"/>
          </a:xfrm>
          <a:prstGeom prst="roundRect">
            <a:avLst>
              <a:gd name="adj" fmla="val 580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5" name="Text 13"/>
          <p:cNvSpPr/>
          <p:nvPr/>
        </p:nvSpPr>
        <p:spPr>
          <a:xfrm>
            <a:off x="3154680" y="4453128"/>
            <a:ext cx="1691640" cy="237744"/>
          </a:xfrm>
          <a:prstGeom prst="rect">
            <a:avLst/>
          </a:prstGeom>
          <a:noFill/>
          <a:ln/>
        </p:spPr>
        <p:txBody>
          <a:bodyPr wrap="square" lIns="0" tIns="0" rIns="0" bIns="0" rtlCol="0" anchor="ctr"/>
          <a:lstStyle/>
          <a:p>
            <a:pPr marL="0" indent="0">
              <a:buNone/>
            </a:pPr>
            <a:r>
              <a:rPr lang="en-US" sz="1050" b="1" dirty="0">
                <a:solidFill>
                  <a:srgbClr val="5B5FBF"/>
                </a:solidFill>
                <a:latin typeface="Arial" pitchFamily="34" charset="0"/>
                <a:ea typeface="Arial" pitchFamily="34" charset="-122"/>
                <a:cs typeface="Arial" pitchFamily="34" charset="-120"/>
              </a:rPr>
              <a:t>1980s–2000s</a:t>
            </a:r>
            <a:endParaRPr lang="en-US" sz="1050" dirty="0"/>
          </a:p>
        </p:txBody>
      </p:sp>
      <p:sp>
        <p:nvSpPr>
          <p:cNvPr id="16" name="Text 14"/>
          <p:cNvSpPr/>
          <p:nvPr/>
        </p:nvSpPr>
        <p:spPr>
          <a:xfrm>
            <a:off x="3154680" y="4690872"/>
            <a:ext cx="1691640" cy="274320"/>
          </a:xfrm>
          <a:prstGeom prst="rect">
            <a:avLst/>
          </a:prstGeom>
          <a:noFill/>
          <a:ln/>
        </p:spPr>
        <p:txBody>
          <a:bodyPr wrap="square" lIns="0" tIns="0" rIns="0" bIns="0" rtlCol="0" anchor="ctr"/>
          <a:lstStyle/>
          <a:p>
            <a:pPr marL="0" indent="0">
              <a:buNone/>
            </a:pPr>
            <a:r>
              <a:rPr lang="en-US" sz="1350" b="1" dirty="0">
                <a:solidFill>
                  <a:srgbClr val="101034"/>
                </a:solidFill>
                <a:latin typeface="Arial" pitchFamily="34" charset="0"/>
                <a:ea typeface="Arial" pitchFamily="34" charset="-122"/>
                <a:cs typeface="Arial" pitchFamily="34" charset="-120"/>
              </a:rPr>
              <a:t>Machine Learning</a:t>
            </a:r>
            <a:endParaRPr lang="en-US" sz="1350" dirty="0"/>
          </a:p>
        </p:txBody>
      </p:sp>
      <p:sp>
        <p:nvSpPr>
          <p:cNvPr id="17" name="Text 15"/>
          <p:cNvSpPr/>
          <p:nvPr/>
        </p:nvSpPr>
        <p:spPr>
          <a:xfrm>
            <a:off x="3154680" y="4983480"/>
            <a:ext cx="1691640" cy="685800"/>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Statistical learning from data. Spam filters, credit scoring.</a:t>
            </a:r>
            <a:endParaRPr lang="en-US" sz="1000" dirty="0"/>
          </a:p>
        </p:txBody>
      </p:sp>
      <p:sp>
        <p:nvSpPr>
          <p:cNvPr id="18" name="Shape 16"/>
          <p:cNvSpPr/>
          <p:nvPr/>
        </p:nvSpPr>
        <p:spPr>
          <a:xfrm>
            <a:off x="3986784" y="3813048"/>
            <a:ext cx="0" cy="530352"/>
          </a:xfrm>
          <a:prstGeom prst="line">
            <a:avLst/>
          </a:prstGeom>
          <a:noFill/>
          <a:ln w="15875">
            <a:solidFill>
              <a:srgbClr val="5B5FBF"/>
            </a:solidFill>
            <a:prstDash val="solid"/>
          </a:ln>
        </p:spPr>
        <p:txBody>
          <a:bodyPr/>
          <a:lstStyle/>
          <a:p>
            <a:endParaRPr lang="en-US"/>
          </a:p>
        </p:txBody>
      </p:sp>
      <p:sp>
        <p:nvSpPr>
          <p:cNvPr id="19" name="Shape 17"/>
          <p:cNvSpPr/>
          <p:nvPr/>
        </p:nvSpPr>
        <p:spPr>
          <a:xfrm>
            <a:off x="5888736" y="3447288"/>
            <a:ext cx="512064" cy="512064"/>
          </a:xfrm>
          <a:prstGeom prst="ellipse">
            <a:avLst/>
          </a:prstGeom>
          <a:solidFill>
            <a:srgbClr val="9DA0DD"/>
          </a:solidFill>
          <a:ln w="12700">
            <a:solidFill>
              <a:srgbClr val="9DA0DD"/>
            </a:solidFill>
            <a:prstDash val="solid"/>
          </a:ln>
        </p:spPr>
        <p:txBody>
          <a:bodyPr/>
          <a:lstStyle/>
          <a:p>
            <a:endParaRPr lang="en-US"/>
          </a:p>
        </p:txBody>
      </p:sp>
      <p:sp>
        <p:nvSpPr>
          <p:cNvPr id="20" name="Text 18"/>
          <p:cNvSpPr/>
          <p:nvPr/>
        </p:nvSpPr>
        <p:spPr>
          <a:xfrm>
            <a:off x="5888736" y="344728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Shape 19"/>
          <p:cNvSpPr/>
          <p:nvPr/>
        </p:nvSpPr>
        <p:spPr>
          <a:xfrm>
            <a:off x="5184648" y="1874520"/>
            <a:ext cx="1920240" cy="1417320"/>
          </a:xfrm>
          <a:prstGeom prst="roundRect">
            <a:avLst>
              <a:gd name="adj" fmla="val 580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2" name="Text 20"/>
          <p:cNvSpPr/>
          <p:nvPr/>
        </p:nvSpPr>
        <p:spPr>
          <a:xfrm>
            <a:off x="5312664" y="1984248"/>
            <a:ext cx="1691640" cy="237744"/>
          </a:xfrm>
          <a:prstGeom prst="rect">
            <a:avLst/>
          </a:prstGeom>
          <a:noFill/>
          <a:ln/>
        </p:spPr>
        <p:txBody>
          <a:bodyPr wrap="square" lIns="0" tIns="0" rIns="0" bIns="0" rtlCol="0" anchor="ctr"/>
          <a:lstStyle/>
          <a:p>
            <a:pPr marL="0" indent="0">
              <a:buNone/>
            </a:pPr>
            <a:r>
              <a:rPr lang="en-US" sz="1050" b="1" dirty="0">
                <a:solidFill>
                  <a:srgbClr val="9DA0DD"/>
                </a:solidFill>
                <a:latin typeface="Arial" pitchFamily="34" charset="0"/>
                <a:ea typeface="Arial" pitchFamily="34" charset="-122"/>
                <a:cs typeface="Arial" pitchFamily="34" charset="-120"/>
              </a:rPr>
              <a:t>2012</a:t>
            </a:r>
            <a:endParaRPr lang="en-US" sz="1050" dirty="0"/>
          </a:p>
        </p:txBody>
      </p:sp>
      <p:sp>
        <p:nvSpPr>
          <p:cNvPr id="23" name="Text 21"/>
          <p:cNvSpPr/>
          <p:nvPr/>
        </p:nvSpPr>
        <p:spPr>
          <a:xfrm>
            <a:off x="5312664" y="2221992"/>
            <a:ext cx="1691640" cy="274320"/>
          </a:xfrm>
          <a:prstGeom prst="rect">
            <a:avLst/>
          </a:prstGeom>
          <a:noFill/>
          <a:ln/>
        </p:spPr>
        <p:txBody>
          <a:bodyPr wrap="square" lIns="0" tIns="0" rIns="0" bIns="0" rtlCol="0" anchor="ctr"/>
          <a:lstStyle/>
          <a:p>
            <a:pPr marL="0" indent="0">
              <a:buNone/>
            </a:pPr>
            <a:r>
              <a:rPr lang="en-US" sz="1350" b="1" dirty="0">
                <a:solidFill>
                  <a:srgbClr val="101034"/>
                </a:solidFill>
                <a:latin typeface="Arial" pitchFamily="34" charset="0"/>
                <a:ea typeface="Arial" pitchFamily="34" charset="-122"/>
                <a:cs typeface="Arial" pitchFamily="34" charset="-120"/>
              </a:rPr>
              <a:t>Deep Learning</a:t>
            </a:r>
            <a:endParaRPr lang="en-US" sz="1350" dirty="0"/>
          </a:p>
        </p:txBody>
      </p:sp>
      <p:sp>
        <p:nvSpPr>
          <p:cNvPr id="24" name="Text 22"/>
          <p:cNvSpPr/>
          <p:nvPr/>
        </p:nvSpPr>
        <p:spPr>
          <a:xfrm>
            <a:off x="5312664" y="2514600"/>
            <a:ext cx="1691640" cy="685800"/>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AlexNet wins ImageNet. GPUs make deep networks practical.</a:t>
            </a:r>
            <a:endParaRPr lang="en-US" sz="1000" dirty="0"/>
          </a:p>
        </p:txBody>
      </p:sp>
      <p:sp>
        <p:nvSpPr>
          <p:cNvPr id="25" name="Shape 23"/>
          <p:cNvSpPr/>
          <p:nvPr/>
        </p:nvSpPr>
        <p:spPr>
          <a:xfrm>
            <a:off x="6144768" y="3291840"/>
            <a:ext cx="0" cy="411480"/>
          </a:xfrm>
          <a:prstGeom prst="line">
            <a:avLst/>
          </a:prstGeom>
          <a:noFill/>
          <a:ln w="15875">
            <a:solidFill>
              <a:srgbClr val="9DA0DD"/>
            </a:solidFill>
            <a:prstDash val="solid"/>
          </a:ln>
        </p:spPr>
        <p:txBody>
          <a:bodyPr/>
          <a:lstStyle/>
          <a:p>
            <a:endParaRPr lang="en-US"/>
          </a:p>
        </p:txBody>
      </p:sp>
      <p:sp>
        <p:nvSpPr>
          <p:cNvPr id="26" name="Shape 24"/>
          <p:cNvSpPr/>
          <p:nvPr/>
        </p:nvSpPr>
        <p:spPr>
          <a:xfrm>
            <a:off x="8046720" y="3447288"/>
            <a:ext cx="512064" cy="512064"/>
          </a:xfrm>
          <a:prstGeom prst="ellipse">
            <a:avLst/>
          </a:prstGeom>
          <a:solidFill>
            <a:srgbClr val="00A6A6"/>
          </a:solidFill>
          <a:ln w="12700">
            <a:solidFill>
              <a:srgbClr val="00A6A6"/>
            </a:solidFill>
            <a:prstDash val="solid"/>
          </a:ln>
        </p:spPr>
        <p:txBody>
          <a:bodyPr/>
          <a:lstStyle/>
          <a:p>
            <a:endParaRPr lang="en-US"/>
          </a:p>
        </p:txBody>
      </p:sp>
      <p:sp>
        <p:nvSpPr>
          <p:cNvPr id="27" name="Text 25"/>
          <p:cNvSpPr/>
          <p:nvPr/>
        </p:nvSpPr>
        <p:spPr>
          <a:xfrm>
            <a:off x="8046720" y="344728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8" name="Shape 26"/>
          <p:cNvSpPr/>
          <p:nvPr/>
        </p:nvSpPr>
        <p:spPr>
          <a:xfrm>
            <a:off x="7342632" y="4343400"/>
            <a:ext cx="1920240" cy="1417320"/>
          </a:xfrm>
          <a:prstGeom prst="roundRect">
            <a:avLst>
              <a:gd name="adj" fmla="val 580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9" name="Text 27"/>
          <p:cNvSpPr/>
          <p:nvPr/>
        </p:nvSpPr>
        <p:spPr>
          <a:xfrm>
            <a:off x="7470648" y="4453128"/>
            <a:ext cx="1691640" cy="237744"/>
          </a:xfrm>
          <a:prstGeom prst="rect">
            <a:avLst/>
          </a:prstGeom>
          <a:noFill/>
          <a:ln/>
        </p:spPr>
        <p:txBody>
          <a:bodyPr wrap="square" lIns="0" tIns="0" rIns="0" bIns="0" rtlCol="0" anchor="ctr"/>
          <a:lstStyle/>
          <a:p>
            <a:pPr marL="0" indent="0">
              <a:buNone/>
            </a:pPr>
            <a:r>
              <a:rPr lang="en-US" sz="1050" b="1" dirty="0">
                <a:solidFill>
                  <a:srgbClr val="00A6A6"/>
                </a:solidFill>
                <a:latin typeface="Arial" pitchFamily="34" charset="0"/>
                <a:ea typeface="Arial" pitchFamily="34" charset="-122"/>
                <a:cs typeface="Arial" pitchFamily="34" charset="-120"/>
              </a:rPr>
              <a:t>2017–2022</a:t>
            </a:r>
            <a:endParaRPr lang="en-US" sz="1050" dirty="0"/>
          </a:p>
        </p:txBody>
      </p:sp>
      <p:sp>
        <p:nvSpPr>
          <p:cNvPr id="30" name="Text 28"/>
          <p:cNvSpPr/>
          <p:nvPr/>
        </p:nvSpPr>
        <p:spPr>
          <a:xfrm>
            <a:off x="7470648" y="4690872"/>
            <a:ext cx="1691640" cy="274320"/>
          </a:xfrm>
          <a:prstGeom prst="rect">
            <a:avLst/>
          </a:prstGeom>
          <a:noFill/>
          <a:ln/>
        </p:spPr>
        <p:txBody>
          <a:bodyPr wrap="square" lIns="0" tIns="0" rIns="0" bIns="0" rtlCol="0" anchor="ctr"/>
          <a:lstStyle/>
          <a:p>
            <a:pPr marL="0" indent="0">
              <a:buNone/>
            </a:pPr>
            <a:r>
              <a:rPr lang="en-US" sz="1350" b="1" dirty="0">
                <a:solidFill>
                  <a:srgbClr val="101034"/>
                </a:solidFill>
                <a:latin typeface="Arial" pitchFamily="34" charset="0"/>
                <a:ea typeface="Arial" pitchFamily="34" charset="-122"/>
                <a:cs typeface="Arial" pitchFamily="34" charset="-120"/>
              </a:rPr>
              <a:t>Generative AI</a:t>
            </a:r>
            <a:endParaRPr lang="en-US" sz="1350" dirty="0"/>
          </a:p>
        </p:txBody>
      </p:sp>
      <p:sp>
        <p:nvSpPr>
          <p:cNvPr id="31" name="Text 29"/>
          <p:cNvSpPr/>
          <p:nvPr/>
        </p:nvSpPr>
        <p:spPr>
          <a:xfrm>
            <a:off x="7470648" y="4983480"/>
            <a:ext cx="1691640" cy="685800"/>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The Transformer, then GPT-3 and ChatGPT. Content creation at scale.</a:t>
            </a:r>
            <a:endParaRPr lang="en-US" sz="1000" dirty="0"/>
          </a:p>
        </p:txBody>
      </p:sp>
      <p:sp>
        <p:nvSpPr>
          <p:cNvPr id="32" name="Shape 30"/>
          <p:cNvSpPr/>
          <p:nvPr/>
        </p:nvSpPr>
        <p:spPr>
          <a:xfrm>
            <a:off x="8302752" y="3813048"/>
            <a:ext cx="0" cy="530352"/>
          </a:xfrm>
          <a:prstGeom prst="line">
            <a:avLst/>
          </a:prstGeom>
          <a:noFill/>
          <a:ln w="15875">
            <a:solidFill>
              <a:srgbClr val="00A6A6"/>
            </a:solidFill>
            <a:prstDash val="solid"/>
          </a:ln>
        </p:spPr>
        <p:txBody>
          <a:bodyPr/>
          <a:lstStyle/>
          <a:p>
            <a:endParaRPr lang="en-US"/>
          </a:p>
        </p:txBody>
      </p:sp>
      <p:sp>
        <p:nvSpPr>
          <p:cNvPr id="33" name="Shape 31"/>
          <p:cNvSpPr/>
          <p:nvPr/>
        </p:nvSpPr>
        <p:spPr>
          <a:xfrm>
            <a:off x="10204704" y="3447288"/>
            <a:ext cx="512064" cy="512064"/>
          </a:xfrm>
          <a:prstGeom prst="ellipse">
            <a:avLst/>
          </a:prstGeom>
          <a:solidFill>
            <a:srgbClr val="E09400"/>
          </a:solidFill>
          <a:ln w="12700">
            <a:solidFill>
              <a:srgbClr val="E09400"/>
            </a:solidFill>
            <a:prstDash val="solid"/>
          </a:ln>
        </p:spPr>
        <p:txBody>
          <a:bodyPr/>
          <a:lstStyle/>
          <a:p>
            <a:endParaRPr lang="en-US"/>
          </a:p>
        </p:txBody>
      </p:sp>
      <p:sp>
        <p:nvSpPr>
          <p:cNvPr id="34" name="Text 32"/>
          <p:cNvSpPr/>
          <p:nvPr/>
        </p:nvSpPr>
        <p:spPr>
          <a:xfrm>
            <a:off x="10204704" y="344728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35" name="Shape 33"/>
          <p:cNvSpPr/>
          <p:nvPr/>
        </p:nvSpPr>
        <p:spPr>
          <a:xfrm>
            <a:off x="9500616" y="1874520"/>
            <a:ext cx="1920240" cy="1417320"/>
          </a:xfrm>
          <a:prstGeom prst="roundRect">
            <a:avLst>
              <a:gd name="adj" fmla="val 580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36" name="Text 34"/>
          <p:cNvSpPr/>
          <p:nvPr/>
        </p:nvSpPr>
        <p:spPr>
          <a:xfrm>
            <a:off x="9628632" y="1984248"/>
            <a:ext cx="1691640" cy="237744"/>
          </a:xfrm>
          <a:prstGeom prst="rect">
            <a:avLst/>
          </a:prstGeom>
          <a:noFill/>
          <a:ln/>
        </p:spPr>
        <p:txBody>
          <a:bodyPr wrap="square" lIns="0" tIns="0" rIns="0" bIns="0" rtlCol="0" anchor="ctr"/>
          <a:lstStyle/>
          <a:p>
            <a:pPr marL="0" indent="0">
              <a:buNone/>
            </a:pPr>
            <a:r>
              <a:rPr lang="en-US" sz="1050" b="1" dirty="0">
                <a:solidFill>
                  <a:srgbClr val="E09400"/>
                </a:solidFill>
                <a:latin typeface="Arial" pitchFamily="34" charset="0"/>
                <a:ea typeface="Arial" pitchFamily="34" charset="-122"/>
                <a:cs typeface="Arial" pitchFamily="34" charset="-120"/>
              </a:rPr>
              <a:t>2023 →</a:t>
            </a:r>
            <a:endParaRPr lang="en-US" sz="1050" dirty="0"/>
          </a:p>
        </p:txBody>
      </p:sp>
      <p:sp>
        <p:nvSpPr>
          <p:cNvPr id="37" name="Text 35"/>
          <p:cNvSpPr/>
          <p:nvPr/>
        </p:nvSpPr>
        <p:spPr>
          <a:xfrm>
            <a:off x="9628632" y="2221992"/>
            <a:ext cx="1691640" cy="274320"/>
          </a:xfrm>
          <a:prstGeom prst="rect">
            <a:avLst/>
          </a:prstGeom>
          <a:noFill/>
          <a:ln/>
        </p:spPr>
        <p:txBody>
          <a:bodyPr wrap="square" lIns="0" tIns="0" rIns="0" bIns="0" rtlCol="0" anchor="ctr"/>
          <a:lstStyle/>
          <a:p>
            <a:pPr marL="0" indent="0">
              <a:buNone/>
            </a:pPr>
            <a:r>
              <a:rPr lang="en-US" sz="1350" b="1" dirty="0">
                <a:solidFill>
                  <a:srgbClr val="101034"/>
                </a:solidFill>
                <a:latin typeface="Arial" pitchFamily="34" charset="0"/>
                <a:ea typeface="Arial" pitchFamily="34" charset="-122"/>
                <a:cs typeface="Arial" pitchFamily="34" charset="-120"/>
              </a:rPr>
              <a:t>Agentic AI</a:t>
            </a:r>
            <a:endParaRPr lang="en-US" sz="1350" dirty="0"/>
          </a:p>
        </p:txBody>
      </p:sp>
      <p:sp>
        <p:nvSpPr>
          <p:cNvPr id="38" name="Text 36"/>
          <p:cNvSpPr/>
          <p:nvPr/>
        </p:nvSpPr>
        <p:spPr>
          <a:xfrm>
            <a:off x="9628632" y="2514600"/>
            <a:ext cx="1691640" cy="685800"/>
          </a:xfrm>
          <a:prstGeom prst="rect">
            <a:avLst/>
          </a:prstGeom>
          <a:noFill/>
          <a:ln/>
        </p:spPr>
        <p:txBody>
          <a:bodyPr wrap="square" lIns="0" tIns="0" rIns="0" bIns="0" rtlCol="0" anchor="ctr"/>
          <a:lstStyle/>
          <a:p>
            <a:pPr marL="0" indent="0">
              <a:buNone/>
            </a:pPr>
            <a:r>
              <a:rPr lang="en-US" sz="1000" dirty="0">
                <a:solidFill>
                  <a:srgbClr val="5A5F73"/>
                </a:solidFill>
                <a:latin typeface="Calibri" pitchFamily="34" charset="0"/>
                <a:ea typeface="Calibri" pitchFamily="34" charset="-122"/>
                <a:cs typeface="Calibri" pitchFamily="34" charset="-120"/>
              </a:rPr>
              <a:t>Tool use, planning and memory. Models that take actions.</a:t>
            </a:r>
            <a:endParaRPr lang="en-US" sz="1000" dirty="0"/>
          </a:p>
        </p:txBody>
      </p:sp>
      <p:sp>
        <p:nvSpPr>
          <p:cNvPr id="39" name="Shape 37"/>
          <p:cNvSpPr/>
          <p:nvPr/>
        </p:nvSpPr>
        <p:spPr>
          <a:xfrm>
            <a:off x="10460736" y="3291840"/>
            <a:ext cx="0" cy="411480"/>
          </a:xfrm>
          <a:prstGeom prst="line">
            <a:avLst/>
          </a:prstGeom>
          <a:noFill/>
          <a:ln w="15875">
            <a:solidFill>
              <a:srgbClr val="E09400"/>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Artificial Intelligence</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The umbrella term: machines performing tasks that normally need human intelligence</a:t>
            </a:r>
            <a:endParaRPr lang="en-US" sz="1400" dirty="0"/>
          </a:p>
        </p:txBody>
      </p:sp>
      <p:sp>
        <p:nvSpPr>
          <p:cNvPr id="4" name="Shape 2"/>
          <p:cNvSpPr/>
          <p:nvPr/>
        </p:nvSpPr>
        <p:spPr>
          <a:xfrm>
            <a:off x="548640" y="1600200"/>
            <a:ext cx="4937760" cy="1965960"/>
          </a:xfrm>
          <a:prstGeom prst="roundRect">
            <a:avLst>
              <a:gd name="adj" fmla="val 4186"/>
            </a:avLst>
          </a:prstGeom>
          <a:solidFill>
            <a:srgbClr val="101034"/>
          </a:solidFill>
          <a:ln w="12700">
            <a:solidFill>
              <a:srgbClr val="101034"/>
            </a:solidFill>
            <a:prstDash val="solid"/>
          </a:ln>
          <a:effectLst>
            <a:outerShdw blurRad="127000" dist="25400" dir="5400000" algn="bl" rotWithShape="0">
              <a:srgbClr val="9AA0BE">
                <a:alpha val="30000"/>
              </a:srgbClr>
            </a:outerShdw>
          </a:effectLst>
        </p:spPr>
        <p:txBody>
          <a:bodyPr/>
          <a:lstStyle/>
          <a:p>
            <a:endParaRPr lang="en-US"/>
          </a:p>
        </p:txBody>
      </p:sp>
      <p:sp>
        <p:nvSpPr>
          <p:cNvPr id="5" name="Text 3"/>
          <p:cNvSpPr/>
          <p:nvPr/>
        </p:nvSpPr>
        <p:spPr>
          <a:xfrm>
            <a:off x="777240" y="1783080"/>
            <a:ext cx="4480560" cy="274320"/>
          </a:xfrm>
          <a:prstGeom prst="rect">
            <a:avLst/>
          </a:prstGeom>
          <a:noFill/>
          <a:ln/>
        </p:spPr>
        <p:txBody>
          <a:bodyPr wrap="square" lIns="0" tIns="0" rIns="0" bIns="0" rtlCol="0" anchor="ctr"/>
          <a:lstStyle/>
          <a:p>
            <a:pPr marL="0" indent="0">
              <a:buNone/>
            </a:pPr>
            <a:r>
              <a:rPr lang="en-US" sz="1100" b="1" kern="0" spc="200" dirty="0">
                <a:solidFill>
                  <a:srgbClr val="00A6A6"/>
                </a:solidFill>
                <a:latin typeface="Arial" pitchFamily="34" charset="0"/>
                <a:ea typeface="Arial" pitchFamily="34" charset="-122"/>
                <a:cs typeface="Arial" pitchFamily="34" charset="-120"/>
              </a:rPr>
              <a:t>Definition</a:t>
            </a:r>
            <a:endParaRPr lang="en-US" sz="1100" dirty="0"/>
          </a:p>
        </p:txBody>
      </p:sp>
      <p:sp>
        <p:nvSpPr>
          <p:cNvPr id="6" name="Text 4"/>
          <p:cNvSpPr/>
          <p:nvPr/>
        </p:nvSpPr>
        <p:spPr>
          <a:xfrm>
            <a:off x="777240" y="2084832"/>
            <a:ext cx="4526280" cy="1188720"/>
          </a:xfrm>
          <a:prstGeom prst="rect">
            <a:avLst/>
          </a:prstGeom>
          <a:noFill/>
          <a:ln/>
        </p:spPr>
        <p:txBody>
          <a:bodyPr wrap="square" lIns="0" tIns="0" rIns="0" bIns="0" rtlCol="0" anchor="ctr"/>
          <a:lstStyle/>
          <a:p>
            <a:pPr marL="0" indent="0">
              <a:lnSpc>
                <a:spcPts val="2200"/>
              </a:lnSpc>
              <a:buNone/>
            </a:pPr>
            <a:r>
              <a:rPr lang="en-US" sz="1600" dirty="0">
                <a:solidFill>
                  <a:srgbClr val="FFFFFF"/>
                </a:solidFill>
                <a:latin typeface="Calibri" pitchFamily="34" charset="0"/>
                <a:ea typeface="Calibri" pitchFamily="34" charset="-122"/>
                <a:cs typeface="Calibri" pitchFamily="34" charset="-120"/>
              </a:rPr>
              <a:t>The science of making machines that reason, perceive, learn and decide the way people do.</a:t>
            </a:r>
            <a:endParaRPr lang="en-US" sz="1600" dirty="0"/>
          </a:p>
        </p:txBody>
      </p:sp>
      <p:sp>
        <p:nvSpPr>
          <p:cNvPr id="7" name="Shape 5"/>
          <p:cNvSpPr/>
          <p:nvPr/>
        </p:nvSpPr>
        <p:spPr>
          <a:xfrm>
            <a:off x="548640" y="3794760"/>
            <a:ext cx="310896" cy="310896"/>
          </a:xfrm>
          <a:prstGeom prst="ellipse">
            <a:avLst/>
          </a:prstGeom>
          <a:solidFill>
            <a:srgbClr val="00A6A6"/>
          </a:solidFill>
          <a:ln w="12700">
            <a:solidFill>
              <a:srgbClr val="00A6A6"/>
            </a:solidFill>
            <a:prstDash val="solid"/>
          </a:ln>
        </p:spPr>
        <p:txBody>
          <a:bodyPr/>
          <a:lstStyle/>
          <a:p>
            <a:endParaRPr lang="en-US"/>
          </a:p>
        </p:txBody>
      </p:sp>
      <p:sp>
        <p:nvSpPr>
          <p:cNvPr id="8" name="Text 6"/>
          <p:cNvSpPr/>
          <p:nvPr/>
        </p:nvSpPr>
        <p:spPr>
          <a:xfrm>
            <a:off x="548640" y="379476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960120" y="3767328"/>
            <a:ext cx="2011680" cy="256032"/>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Perceive</a:t>
            </a:r>
            <a:endParaRPr lang="en-US" sz="1300" dirty="0"/>
          </a:p>
        </p:txBody>
      </p:sp>
      <p:sp>
        <p:nvSpPr>
          <p:cNvPr id="10" name="Text 8"/>
          <p:cNvSpPr/>
          <p:nvPr/>
        </p:nvSpPr>
        <p:spPr>
          <a:xfrm>
            <a:off x="960120" y="4023360"/>
            <a:ext cx="2011680" cy="256032"/>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See, hear, read</a:t>
            </a:r>
            <a:endParaRPr lang="en-US" sz="1050" dirty="0"/>
          </a:p>
        </p:txBody>
      </p:sp>
      <p:sp>
        <p:nvSpPr>
          <p:cNvPr id="11" name="Shape 9"/>
          <p:cNvSpPr/>
          <p:nvPr/>
        </p:nvSpPr>
        <p:spPr>
          <a:xfrm>
            <a:off x="3063240" y="3794760"/>
            <a:ext cx="310896" cy="310896"/>
          </a:xfrm>
          <a:prstGeom prst="ellipse">
            <a:avLst/>
          </a:prstGeom>
          <a:solidFill>
            <a:srgbClr val="00A6A6"/>
          </a:solidFill>
          <a:ln w="12700">
            <a:solidFill>
              <a:srgbClr val="00A6A6"/>
            </a:solidFill>
            <a:prstDash val="solid"/>
          </a:ln>
        </p:spPr>
        <p:txBody>
          <a:bodyPr/>
          <a:lstStyle/>
          <a:p>
            <a:endParaRPr lang="en-US"/>
          </a:p>
        </p:txBody>
      </p:sp>
      <p:sp>
        <p:nvSpPr>
          <p:cNvPr id="12" name="Text 10"/>
          <p:cNvSpPr/>
          <p:nvPr/>
        </p:nvSpPr>
        <p:spPr>
          <a:xfrm>
            <a:off x="3063240" y="379476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3474720" y="3767328"/>
            <a:ext cx="2011680" cy="256032"/>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Reason</a:t>
            </a:r>
            <a:endParaRPr lang="en-US" sz="1300" dirty="0"/>
          </a:p>
        </p:txBody>
      </p:sp>
      <p:sp>
        <p:nvSpPr>
          <p:cNvPr id="14" name="Text 12"/>
          <p:cNvSpPr/>
          <p:nvPr/>
        </p:nvSpPr>
        <p:spPr>
          <a:xfrm>
            <a:off x="3474720" y="4023360"/>
            <a:ext cx="2011680" cy="256032"/>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Infer and deduce</a:t>
            </a:r>
            <a:endParaRPr lang="en-US" sz="1050" dirty="0"/>
          </a:p>
        </p:txBody>
      </p:sp>
      <p:sp>
        <p:nvSpPr>
          <p:cNvPr id="15" name="Shape 13"/>
          <p:cNvSpPr/>
          <p:nvPr/>
        </p:nvSpPr>
        <p:spPr>
          <a:xfrm>
            <a:off x="548640" y="4572000"/>
            <a:ext cx="310896" cy="310896"/>
          </a:xfrm>
          <a:prstGeom prst="ellipse">
            <a:avLst/>
          </a:prstGeom>
          <a:solidFill>
            <a:srgbClr val="00A6A6"/>
          </a:solidFill>
          <a:ln w="12700">
            <a:solidFill>
              <a:srgbClr val="00A6A6"/>
            </a:solidFill>
            <a:prstDash val="solid"/>
          </a:ln>
        </p:spPr>
        <p:txBody>
          <a:bodyPr/>
          <a:lstStyle/>
          <a:p>
            <a:endParaRPr lang="en-US"/>
          </a:p>
        </p:txBody>
      </p:sp>
      <p:sp>
        <p:nvSpPr>
          <p:cNvPr id="16" name="Text 14"/>
          <p:cNvSpPr/>
          <p:nvPr/>
        </p:nvSpPr>
        <p:spPr>
          <a:xfrm>
            <a:off x="548640" y="4572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960120" y="4544568"/>
            <a:ext cx="2011680" cy="256032"/>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Learn</a:t>
            </a:r>
            <a:endParaRPr lang="en-US" sz="1300" dirty="0"/>
          </a:p>
        </p:txBody>
      </p:sp>
      <p:sp>
        <p:nvSpPr>
          <p:cNvPr id="18" name="Text 16"/>
          <p:cNvSpPr/>
          <p:nvPr/>
        </p:nvSpPr>
        <p:spPr>
          <a:xfrm>
            <a:off x="960120" y="4800600"/>
            <a:ext cx="2011680" cy="256032"/>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Improve with data</a:t>
            </a:r>
            <a:endParaRPr lang="en-US" sz="1050" dirty="0"/>
          </a:p>
        </p:txBody>
      </p:sp>
      <p:sp>
        <p:nvSpPr>
          <p:cNvPr id="19" name="Shape 17"/>
          <p:cNvSpPr/>
          <p:nvPr/>
        </p:nvSpPr>
        <p:spPr>
          <a:xfrm>
            <a:off x="3063240" y="4572000"/>
            <a:ext cx="310896" cy="310896"/>
          </a:xfrm>
          <a:prstGeom prst="ellipse">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3063240" y="4572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1" name="Text 19"/>
          <p:cNvSpPr/>
          <p:nvPr/>
        </p:nvSpPr>
        <p:spPr>
          <a:xfrm>
            <a:off x="3474720" y="4544568"/>
            <a:ext cx="2011680" cy="256032"/>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Act</a:t>
            </a:r>
            <a:endParaRPr lang="en-US" sz="1300" dirty="0"/>
          </a:p>
        </p:txBody>
      </p:sp>
      <p:sp>
        <p:nvSpPr>
          <p:cNvPr id="22" name="Text 20"/>
          <p:cNvSpPr/>
          <p:nvPr/>
        </p:nvSpPr>
        <p:spPr>
          <a:xfrm>
            <a:off x="3474720" y="4800600"/>
            <a:ext cx="2011680" cy="256032"/>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Decide and execute</a:t>
            </a:r>
            <a:endParaRPr lang="en-US" sz="1050" dirty="0"/>
          </a:p>
        </p:txBody>
      </p:sp>
      <p:sp>
        <p:nvSpPr>
          <p:cNvPr id="23" name="Text 21"/>
          <p:cNvSpPr/>
          <p:nvPr/>
        </p:nvSpPr>
        <p:spPr>
          <a:xfrm>
            <a:off x="5943600" y="1627632"/>
            <a:ext cx="5669280" cy="292608"/>
          </a:xfrm>
          <a:prstGeom prst="rect">
            <a:avLst/>
          </a:prstGeom>
          <a:noFill/>
          <a:ln/>
        </p:spPr>
        <p:txBody>
          <a:bodyPr wrap="square" lIns="0" tIns="0" rIns="0" bIns="0" rtlCol="0" anchor="ctr"/>
          <a:lstStyle/>
          <a:p>
            <a:pPr marL="0" indent="0">
              <a:buNone/>
            </a:pPr>
            <a:r>
              <a:rPr lang="en-US" sz="1500" b="1" dirty="0">
                <a:solidFill>
                  <a:srgbClr val="2A2D7C"/>
                </a:solidFill>
                <a:latin typeface="Arial" pitchFamily="34" charset="0"/>
                <a:ea typeface="Arial" pitchFamily="34" charset="-122"/>
                <a:cs typeface="Arial" pitchFamily="34" charset="-120"/>
              </a:rPr>
              <a:t>AI you already used today</a:t>
            </a:r>
            <a:endParaRPr lang="en-US" sz="1500" dirty="0"/>
          </a:p>
        </p:txBody>
      </p:sp>
      <p:sp>
        <p:nvSpPr>
          <p:cNvPr id="24" name="Shape 22"/>
          <p:cNvSpPr/>
          <p:nvPr/>
        </p:nvSpPr>
        <p:spPr>
          <a:xfrm>
            <a:off x="5943600" y="2057400"/>
            <a:ext cx="569671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5" name="Shape 23"/>
          <p:cNvSpPr/>
          <p:nvPr/>
        </p:nvSpPr>
        <p:spPr>
          <a:xfrm>
            <a:off x="6144768" y="2276856"/>
            <a:ext cx="457200" cy="457200"/>
          </a:xfrm>
          <a:prstGeom prst="roundRect">
            <a:avLst>
              <a:gd name="adj" fmla="val 24000"/>
            </a:avLst>
          </a:prstGeom>
          <a:solidFill>
            <a:srgbClr val="2A2D7C"/>
          </a:solidFill>
          <a:ln w="12700">
            <a:solidFill>
              <a:srgbClr val="2A2D7C"/>
            </a:solidFill>
            <a:prstDash val="solid"/>
          </a:ln>
        </p:spPr>
        <p:txBody>
          <a:bodyPr/>
          <a:lstStyle/>
          <a:p>
            <a:endParaRPr lang="en-US"/>
          </a:p>
        </p:txBody>
      </p:sp>
      <p:sp>
        <p:nvSpPr>
          <p:cNvPr id="26" name="Text 24"/>
          <p:cNvSpPr/>
          <p:nvPr/>
        </p:nvSpPr>
        <p:spPr>
          <a:xfrm>
            <a:off x="6144768" y="2276856"/>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6766560" y="2221992"/>
            <a:ext cx="46634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Maps that reroute you</a:t>
            </a:r>
            <a:endParaRPr lang="en-US" sz="1300" dirty="0"/>
          </a:p>
        </p:txBody>
      </p:sp>
      <p:sp>
        <p:nvSpPr>
          <p:cNvPr id="28" name="Text 26"/>
          <p:cNvSpPr/>
          <p:nvPr/>
        </p:nvSpPr>
        <p:spPr>
          <a:xfrm>
            <a:off x="6766560" y="2496312"/>
            <a:ext cx="4663440" cy="36576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Traffic prediction picks the fastest path in real time.</a:t>
            </a:r>
            <a:endParaRPr lang="en-US" sz="1100" dirty="0"/>
          </a:p>
        </p:txBody>
      </p:sp>
      <p:sp>
        <p:nvSpPr>
          <p:cNvPr id="29" name="Shape 27"/>
          <p:cNvSpPr/>
          <p:nvPr/>
        </p:nvSpPr>
        <p:spPr>
          <a:xfrm>
            <a:off x="5943600" y="3118104"/>
            <a:ext cx="569671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30" name="Shape 28"/>
          <p:cNvSpPr/>
          <p:nvPr/>
        </p:nvSpPr>
        <p:spPr>
          <a:xfrm>
            <a:off x="6144768" y="3337560"/>
            <a:ext cx="457200" cy="457200"/>
          </a:xfrm>
          <a:prstGeom prst="roundRect">
            <a:avLst>
              <a:gd name="adj" fmla="val 24000"/>
            </a:avLst>
          </a:prstGeom>
          <a:solidFill>
            <a:srgbClr val="2A2D7C"/>
          </a:solidFill>
          <a:ln w="12700">
            <a:solidFill>
              <a:srgbClr val="2A2D7C"/>
            </a:solidFill>
            <a:prstDash val="solid"/>
          </a:ln>
        </p:spPr>
        <p:txBody>
          <a:bodyPr/>
          <a:lstStyle/>
          <a:p>
            <a:endParaRPr lang="en-US"/>
          </a:p>
        </p:txBody>
      </p:sp>
      <p:sp>
        <p:nvSpPr>
          <p:cNvPr id="31" name="Text 29"/>
          <p:cNvSpPr/>
          <p:nvPr/>
        </p:nvSpPr>
        <p:spPr>
          <a:xfrm>
            <a:off x="6144768" y="3337560"/>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32" name="Text 30"/>
          <p:cNvSpPr/>
          <p:nvPr/>
        </p:nvSpPr>
        <p:spPr>
          <a:xfrm>
            <a:off x="6766560" y="3282696"/>
            <a:ext cx="46634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Your spam folder</a:t>
            </a:r>
            <a:endParaRPr lang="en-US" sz="1300" dirty="0"/>
          </a:p>
        </p:txBody>
      </p:sp>
      <p:sp>
        <p:nvSpPr>
          <p:cNvPr id="33" name="Text 31"/>
          <p:cNvSpPr/>
          <p:nvPr/>
        </p:nvSpPr>
        <p:spPr>
          <a:xfrm>
            <a:off x="6766560" y="3557016"/>
            <a:ext cx="4663440" cy="36576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Every mail is scored and filed before you see it.</a:t>
            </a:r>
            <a:endParaRPr lang="en-US" sz="1100" dirty="0"/>
          </a:p>
        </p:txBody>
      </p:sp>
      <p:sp>
        <p:nvSpPr>
          <p:cNvPr id="34" name="Shape 32"/>
          <p:cNvSpPr/>
          <p:nvPr/>
        </p:nvSpPr>
        <p:spPr>
          <a:xfrm>
            <a:off x="5943600" y="4178808"/>
            <a:ext cx="569671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35" name="Shape 33"/>
          <p:cNvSpPr/>
          <p:nvPr/>
        </p:nvSpPr>
        <p:spPr>
          <a:xfrm>
            <a:off x="6144768" y="4398264"/>
            <a:ext cx="457200" cy="457200"/>
          </a:xfrm>
          <a:prstGeom prst="roundRect">
            <a:avLst>
              <a:gd name="adj" fmla="val 24000"/>
            </a:avLst>
          </a:prstGeom>
          <a:solidFill>
            <a:srgbClr val="2A2D7C"/>
          </a:solidFill>
          <a:ln w="12700">
            <a:solidFill>
              <a:srgbClr val="2A2D7C"/>
            </a:solidFill>
            <a:prstDash val="solid"/>
          </a:ln>
        </p:spPr>
        <p:txBody>
          <a:bodyPr/>
          <a:lstStyle/>
          <a:p>
            <a:endParaRPr lang="en-US"/>
          </a:p>
        </p:txBody>
      </p:sp>
      <p:sp>
        <p:nvSpPr>
          <p:cNvPr id="36" name="Text 34"/>
          <p:cNvSpPr/>
          <p:nvPr/>
        </p:nvSpPr>
        <p:spPr>
          <a:xfrm>
            <a:off x="6144768" y="4398264"/>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37" name="Text 35"/>
          <p:cNvSpPr/>
          <p:nvPr/>
        </p:nvSpPr>
        <p:spPr>
          <a:xfrm>
            <a:off x="6766560" y="4343400"/>
            <a:ext cx="46634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Fraud alert on a card swipe</a:t>
            </a:r>
            <a:endParaRPr lang="en-US" sz="1300" dirty="0"/>
          </a:p>
        </p:txBody>
      </p:sp>
      <p:sp>
        <p:nvSpPr>
          <p:cNvPr id="38" name="Text 36"/>
          <p:cNvSpPr/>
          <p:nvPr/>
        </p:nvSpPr>
        <p:spPr>
          <a:xfrm>
            <a:off x="6766560" y="4617720"/>
            <a:ext cx="4663440" cy="36576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Unusual spend is blocked within milliseconds.</a:t>
            </a:r>
            <a:endParaRPr lang="en-US" sz="1100" dirty="0"/>
          </a:p>
        </p:txBody>
      </p:sp>
      <p:sp>
        <p:nvSpPr>
          <p:cNvPr id="39" name="Shape 37"/>
          <p:cNvSpPr/>
          <p:nvPr/>
        </p:nvSpPr>
        <p:spPr>
          <a:xfrm>
            <a:off x="5943600" y="5239512"/>
            <a:ext cx="569671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40" name="Shape 38"/>
          <p:cNvSpPr/>
          <p:nvPr/>
        </p:nvSpPr>
        <p:spPr>
          <a:xfrm>
            <a:off x="6144768" y="5458968"/>
            <a:ext cx="457200" cy="457200"/>
          </a:xfrm>
          <a:prstGeom prst="roundRect">
            <a:avLst>
              <a:gd name="adj" fmla="val 24000"/>
            </a:avLst>
          </a:prstGeom>
          <a:solidFill>
            <a:srgbClr val="2A2D7C"/>
          </a:solidFill>
          <a:ln w="12700">
            <a:solidFill>
              <a:srgbClr val="2A2D7C"/>
            </a:solidFill>
            <a:prstDash val="solid"/>
          </a:ln>
        </p:spPr>
        <p:txBody>
          <a:bodyPr/>
          <a:lstStyle/>
          <a:p>
            <a:endParaRPr lang="en-US"/>
          </a:p>
        </p:txBody>
      </p:sp>
      <p:sp>
        <p:nvSpPr>
          <p:cNvPr id="41" name="Text 39"/>
          <p:cNvSpPr/>
          <p:nvPr/>
        </p:nvSpPr>
        <p:spPr>
          <a:xfrm>
            <a:off x="6144768" y="5458968"/>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42" name="Text 40"/>
          <p:cNvSpPr/>
          <p:nvPr/>
        </p:nvSpPr>
        <p:spPr>
          <a:xfrm>
            <a:off x="6766560" y="5404104"/>
            <a:ext cx="46634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Face unlock on your phone</a:t>
            </a:r>
            <a:endParaRPr lang="en-US" sz="1300" dirty="0"/>
          </a:p>
        </p:txBody>
      </p:sp>
      <p:sp>
        <p:nvSpPr>
          <p:cNvPr id="43" name="Text 41"/>
          <p:cNvSpPr/>
          <p:nvPr/>
        </p:nvSpPr>
        <p:spPr>
          <a:xfrm>
            <a:off x="6766560" y="5678424"/>
            <a:ext cx="4663440" cy="36576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Vision model verifies you in under a second.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What changes with Machine Learning</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The inputs and outputs of the development process are flipped</a:t>
            </a:r>
            <a:endParaRPr lang="en-US" sz="1400" dirty="0"/>
          </a:p>
        </p:txBody>
      </p:sp>
      <p:sp>
        <p:nvSpPr>
          <p:cNvPr id="4" name="Text 2"/>
          <p:cNvSpPr/>
          <p:nvPr/>
        </p:nvSpPr>
        <p:spPr>
          <a:xfrm>
            <a:off x="2514600" y="1481328"/>
            <a:ext cx="5486400" cy="256032"/>
          </a:xfrm>
          <a:prstGeom prst="rect">
            <a:avLst/>
          </a:prstGeom>
          <a:noFill/>
          <a:ln/>
        </p:spPr>
        <p:txBody>
          <a:bodyPr wrap="square" lIns="0" tIns="0" rIns="0" bIns="0" rtlCol="0" anchor="ctr"/>
          <a:lstStyle/>
          <a:p>
            <a:pPr marL="0" indent="0">
              <a:buNone/>
            </a:pPr>
            <a:r>
              <a:rPr lang="en-US" sz="1050" b="1" kern="0" spc="200" dirty="0">
                <a:solidFill>
                  <a:srgbClr val="2A2D7C"/>
                </a:solidFill>
                <a:latin typeface="Arial" pitchFamily="34" charset="0"/>
                <a:ea typeface="Arial" pitchFamily="34" charset="-122"/>
                <a:cs typeface="Arial" pitchFamily="34" charset="-120"/>
              </a:rPr>
              <a:t>TRADITIONAL PROGRAMMING</a:t>
            </a:r>
            <a:endParaRPr lang="en-US" sz="1050" dirty="0"/>
          </a:p>
        </p:txBody>
      </p:sp>
      <p:sp>
        <p:nvSpPr>
          <p:cNvPr id="5" name="Shape 3"/>
          <p:cNvSpPr/>
          <p:nvPr/>
        </p:nvSpPr>
        <p:spPr>
          <a:xfrm>
            <a:off x="548640" y="2286000"/>
            <a:ext cx="1600200" cy="502920"/>
          </a:xfrm>
          <a:prstGeom prst="roundRect">
            <a:avLst>
              <a:gd name="adj" fmla="val 18182"/>
            </a:avLst>
          </a:prstGeom>
          <a:solidFill>
            <a:srgbClr val="2A2D7C"/>
          </a:solidFill>
          <a:ln w="12700">
            <a:solidFill>
              <a:srgbClr val="2A2D7C"/>
            </a:solidFill>
            <a:prstDash val="solid"/>
          </a:ln>
        </p:spPr>
        <p:txBody>
          <a:bodyPr/>
          <a:lstStyle/>
          <a:p>
            <a:endParaRPr lang="en-US"/>
          </a:p>
        </p:txBody>
      </p:sp>
      <p:sp>
        <p:nvSpPr>
          <p:cNvPr id="6" name="Text 4"/>
          <p:cNvSpPr/>
          <p:nvPr/>
        </p:nvSpPr>
        <p:spPr>
          <a:xfrm>
            <a:off x="548640" y="2286000"/>
            <a:ext cx="16002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You write</a:t>
            </a:r>
            <a:endParaRPr lang="en-US" sz="1150" dirty="0"/>
          </a:p>
        </p:txBody>
      </p:sp>
      <p:sp>
        <p:nvSpPr>
          <p:cNvPr id="7" name="Shape 5"/>
          <p:cNvSpPr/>
          <p:nvPr/>
        </p:nvSpPr>
        <p:spPr>
          <a:xfrm>
            <a:off x="2514600" y="1783080"/>
            <a:ext cx="2148840" cy="1508760"/>
          </a:xfrm>
          <a:prstGeom prst="roundRect">
            <a:avLst>
              <a:gd name="adj" fmla="val 545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8" name="Text 6"/>
          <p:cNvSpPr/>
          <p:nvPr/>
        </p:nvSpPr>
        <p:spPr>
          <a:xfrm>
            <a:off x="2651760" y="2103120"/>
            <a:ext cx="1874520" cy="36576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Rules + Data</a:t>
            </a:r>
            <a:endParaRPr lang="en-US" sz="1400" dirty="0"/>
          </a:p>
        </p:txBody>
      </p:sp>
      <p:sp>
        <p:nvSpPr>
          <p:cNvPr id="9" name="Text 7"/>
          <p:cNvSpPr/>
          <p:nvPr/>
        </p:nvSpPr>
        <p:spPr>
          <a:xfrm>
            <a:off x="2651760" y="2514600"/>
            <a:ext cx="1874520" cy="54864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A developer encodes the logic</a:t>
            </a:r>
            <a:endParaRPr lang="en-US" sz="1050" dirty="0"/>
          </a:p>
        </p:txBody>
      </p:sp>
      <p:sp>
        <p:nvSpPr>
          <p:cNvPr id="10" name="Shape 8"/>
          <p:cNvSpPr/>
          <p:nvPr/>
        </p:nvSpPr>
        <p:spPr>
          <a:xfrm>
            <a:off x="4745736" y="2377440"/>
            <a:ext cx="384048" cy="329184"/>
          </a:xfrm>
          <a:prstGeom prst="rightArrow">
            <a:avLst/>
          </a:prstGeom>
          <a:solidFill>
            <a:srgbClr val="9DA0DD"/>
          </a:solidFill>
          <a:ln w="12700">
            <a:solidFill>
              <a:srgbClr val="9DA0DD"/>
            </a:solidFill>
            <a:prstDash val="solid"/>
          </a:ln>
        </p:spPr>
        <p:txBody>
          <a:bodyPr/>
          <a:lstStyle/>
          <a:p>
            <a:endParaRPr lang="en-US"/>
          </a:p>
        </p:txBody>
      </p:sp>
      <p:sp>
        <p:nvSpPr>
          <p:cNvPr id="11" name="Shape 9"/>
          <p:cNvSpPr/>
          <p:nvPr/>
        </p:nvSpPr>
        <p:spPr>
          <a:xfrm>
            <a:off x="5212080" y="1783080"/>
            <a:ext cx="2148840" cy="1508760"/>
          </a:xfrm>
          <a:prstGeom prst="roundRect">
            <a:avLst>
              <a:gd name="adj" fmla="val 545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2" name="Text 10"/>
          <p:cNvSpPr/>
          <p:nvPr/>
        </p:nvSpPr>
        <p:spPr>
          <a:xfrm>
            <a:off x="5349240" y="2103120"/>
            <a:ext cx="1874520" cy="36576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Program</a:t>
            </a:r>
            <a:endParaRPr lang="en-US" sz="1400" dirty="0"/>
          </a:p>
        </p:txBody>
      </p:sp>
      <p:sp>
        <p:nvSpPr>
          <p:cNvPr id="13" name="Text 11"/>
          <p:cNvSpPr/>
          <p:nvPr/>
        </p:nvSpPr>
        <p:spPr>
          <a:xfrm>
            <a:off x="5349240" y="2514600"/>
            <a:ext cx="1874520" cy="54864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Runs the rules as written</a:t>
            </a:r>
            <a:endParaRPr lang="en-US" sz="1050" dirty="0"/>
          </a:p>
        </p:txBody>
      </p:sp>
      <p:sp>
        <p:nvSpPr>
          <p:cNvPr id="14" name="Shape 12"/>
          <p:cNvSpPr/>
          <p:nvPr/>
        </p:nvSpPr>
        <p:spPr>
          <a:xfrm>
            <a:off x="7443216" y="2377440"/>
            <a:ext cx="384048" cy="329184"/>
          </a:xfrm>
          <a:prstGeom prst="rightArrow">
            <a:avLst/>
          </a:prstGeom>
          <a:solidFill>
            <a:srgbClr val="9DA0DD"/>
          </a:solidFill>
          <a:ln w="12700">
            <a:solidFill>
              <a:srgbClr val="9DA0DD"/>
            </a:solidFill>
            <a:prstDash val="solid"/>
          </a:ln>
        </p:spPr>
        <p:txBody>
          <a:bodyPr/>
          <a:lstStyle/>
          <a:p>
            <a:endParaRPr lang="en-US"/>
          </a:p>
        </p:txBody>
      </p:sp>
      <p:sp>
        <p:nvSpPr>
          <p:cNvPr id="15" name="Shape 13"/>
          <p:cNvSpPr/>
          <p:nvPr/>
        </p:nvSpPr>
        <p:spPr>
          <a:xfrm>
            <a:off x="7909560" y="1783080"/>
            <a:ext cx="2148840" cy="1508760"/>
          </a:xfrm>
          <a:prstGeom prst="roundRect">
            <a:avLst>
              <a:gd name="adj" fmla="val 5455"/>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16" name="Text 14"/>
          <p:cNvSpPr/>
          <p:nvPr/>
        </p:nvSpPr>
        <p:spPr>
          <a:xfrm>
            <a:off x="8046720" y="2103120"/>
            <a:ext cx="1874520" cy="365760"/>
          </a:xfrm>
          <a:prstGeom prst="rect">
            <a:avLst/>
          </a:prstGeom>
          <a:noFill/>
          <a:ln/>
        </p:spPr>
        <p:txBody>
          <a:bodyPr wrap="square" lIns="0" tIns="0" rIns="0" bIns="0" rtlCol="0" anchor="ctr"/>
          <a:lstStyle/>
          <a:p>
            <a:pPr marL="0" indent="0" algn="ctr">
              <a:buNone/>
            </a:pPr>
            <a:r>
              <a:rPr lang="en-US" sz="1400" b="1" dirty="0">
                <a:solidFill>
                  <a:srgbClr val="8A5B00"/>
                </a:solidFill>
                <a:latin typeface="Arial" pitchFamily="34" charset="0"/>
                <a:ea typeface="Arial" pitchFamily="34" charset="-122"/>
                <a:cs typeface="Arial" pitchFamily="34" charset="-120"/>
              </a:rPr>
              <a:t>Answers</a:t>
            </a:r>
            <a:endParaRPr lang="en-US" sz="1400" dirty="0"/>
          </a:p>
        </p:txBody>
      </p:sp>
      <p:sp>
        <p:nvSpPr>
          <p:cNvPr id="17" name="Text 15"/>
          <p:cNvSpPr/>
          <p:nvPr/>
        </p:nvSpPr>
        <p:spPr>
          <a:xfrm>
            <a:off x="8046720" y="2514600"/>
            <a:ext cx="1874520" cy="548640"/>
          </a:xfrm>
          <a:prstGeom prst="rect">
            <a:avLst/>
          </a:prstGeom>
          <a:noFill/>
          <a:ln/>
        </p:spPr>
        <p:txBody>
          <a:bodyPr wrap="square" lIns="0" tIns="0" rIns="0" bIns="0" rtlCol="0" anchor="ctr"/>
          <a:lstStyle/>
          <a:p>
            <a:pPr marL="0" indent="0" algn="ctr">
              <a:buNone/>
            </a:pPr>
            <a:r>
              <a:rPr lang="en-US" sz="1050" dirty="0">
                <a:solidFill>
                  <a:srgbClr val="8A5B00"/>
                </a:solidFill>
                <a:latin typeface="Calibri" pitchFamily="34" charset="0"/>
                <a:ea typeface="Calibri" pitchFamily="34" charset="-122"/>
                <a:cs typeface="Calibri" pitchFamily="34" charset="-120"/>
              </a:rPr>
              <a:t>Output for each input</a:t>
            </a:r>
            <a:endParaRPr lang="en-US" sz="1050" dirty="0"/>
          </a:p>
        </p:txBody>
      </p:sp>
      <p:sp>
        <p:nvSpPr>
          <p:cNvPr id="18" name="Text 16"/>
          <p:cNvSpPr/>
          <p:nvPr/>
        </p:nvSpPr>
        <p:spPr>
          <a:xfrm>
            <a:off x="2514600" y="3977640"/>
            <a:ext cx="5486400" cy="256032"/>
          </a:xfrm>
          <a:prstGeom prst="rect">
            <a:avLst/>
          </a:prstGeom>
          <a:noFill/>
          <a:ln/>
        </p:spPr>
        <p:txBody>
          <a:bodyPr wrap="square" lIns="0" tIns="0" rIns="0" bIns="0" rtlCol="0" anchor="ctr"/>
          <a:lstStyle/>
          <a:p>
            <a:pPr marL="0" indent="0">
              <a:buNone/>
            </a:pPr>
            <a:r>
              <a:rPr lang="en-US" sz="1050" b="1" kern="0" spc="200" dirty="0">
                <a:solidFill>
                  <a:srgbClr val="00A6A6"/>
                </a:solidFill>
                <a:latin typeface="Arial" pitchFamily="34" charset="0"/>
                <a:ea typeface="Arial" pitchFamily="34" charset="-122"/>
                <a:cs typeface="Arial" pitchFamily="34" charset="-120"/>
              </a:rPr>
              <a:t>MACHINE LEARNING</a:t>
            </a:r>
            <a:endParaRPr lang="en-US" sz="1050" dirty="0"/>
          </a:p>
        </p:txBody>
      </p:sp>
      <p:sp>
        <p:nvSpPr>
          <p:cNvPr id="19" name="Shape 17"/>
          <p:cNvSpPr/>
          <p:nvPr/>
        </p:nvSpPr>
        <p:spPr>
          <a:xfrm>
            <a:off x="548640" y="4782312"/>
            <a:ext cx="1600200" cy="502920"/>
          </a:xfrm>
          <a:prstGeom prst="roundRect">
            <a:avLst>
              <a:gd name="adj" fmla="val 18182"/>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548640" y="4782312"/>
            <a:ext cx="16002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You supply</a:t>
            </a:r>
            <a:endParaRPr lang="en-US" sz="1150" dirty="0"/>
          </a:p>
        </p:txBody>
      </p:sp>
      <p:sp>
        <p:nvSpPr>
          <p:cNvPr id="21" name="Shape 19"/>
          <p:cNvSpPr/>
          <p:nvPr/>
        </p:nvSpPr>
        <p:spPr>
          <a:xfrm>
            <a:off x="2514600" y="4279392"/>
            <a:ext cx="2148840" cy="1508760"/>
          </a:xfrm>
          <a:prstGeom prst="roundRect">
            <a:avLst>
              <a:gd name="adj" fmla="val 545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2" name="Text 20"/>
          <p:cNvSpPr/>
          <p:nvPr/>
        </p:nvSpPr>
        <p:spPr>
          <a:xfrm>
            <a:off x="2651760" y="4599432"/>
            <a:ext cx="1874520" cy="36576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Data + Answers</a:t>
            </a:r>
            <a:endParaRPr lang="en-US" sz="1400" dirty="0"/>
          </a:p>
        </p:txBody>
      </p:sp>
      <p:sp>
        <p:nvSpPr>
          <p:cNvPr id="23" name="Text 21"/>
          <p:cNvSpPr/>
          <p:nvPr/>
        </p:nvSpPr>
        <p:spPr>
          <a:xfrm>
            <a:off x="2651760" y="5010912"/>
            <a:ext cx="1874520" cy="54864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Historical examples with labels</a:t>
            </a:r>
            <a:endParaRPr lang="en-US" sz="1050" dirty="0"/>
          </a:p>
        </p:txBody>
      </p:sp>
      <p:sp>
        <p:nvSpPr>
          <p:cNvPr id="24" name="Shape 22"/>
          <p:cNvSpPr/>
          <p:nvPr/>
        </p:nvSpPr>
        <p:spPr>
          <a:xfrm>
            <a:off x="4745736" y="4873752"/>
            <a:ext cx="384048" cy="329184"/>
          </a:xfrm>
          <a:prstGeom prst="rightArrow">
            <a:avLst/>
          </a:prstGeom>
          <a:solidFill>
            <a:srgbClr val="7FD3D3"/>
          </a:solidFill>
          <a:ln w="12700">
            <a:solidFill>
              <a:srgbClr val="7FD3D3"/>
            </a:solidFill>
            <a:prstDash val="solid"/>
          </a:ln>
        </p:spPr>
        <p:txBody>
          <a:bodyPr/>
          <a:lstStyle/>
          <a:p>
            <a:endParaRPr lang="en-US"/>
          </a:p>
        </p:txBody>
      </p:sp>
      <p:sp>
        <p:nvSpPr>
          <p:cNvPr id="25" name="Shape 23"/>
          <p:cNvSpPr/>
          <p:nvPr/>
        </p:nvSpPr>
        <p:spPr>
          <a:xfrm>
            <a:off x="5212080" y="4279392"/>
            <a:ext cx="2148840" cy="1508760"/>
          </a:xfrm>
          <a:prstGeom prst="roundRect">
            <a:avLst>
              <a:gd name="adj" fmla="val 545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6" name="Text 24"/>
          <p:cNvSpPr/>
          <p:nvPr/>
        </p:nvSpPr>
        <p:spPr>
          <a:xfrm>
            <a:off x="5349240" y="4599432"/>
            <a:ext cx="1874520" cy="36576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Training</a:t>
            </a:r>
            <a:endParaRPr lang="en-US" sz="1400" dirty="0"/>
          </a:p>
        </p:txBody>
      </p:sp>
      <p:sp>
        <p:nvSpPr>
          <p:cNvPr id="27" name="Text 25"/>
          <p:cNvSpPr/>
          <p:nvPr/>
        </p:nvSpPr>
        <p:spPr>
          <a:xfrm>
            <a:off x="5349240" y="5010912"/>
            <a:ext cx="1874520" cy="54864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Model searches for patterns</a:t>
            </a:r>
            <a:endParaRPr lang="en-US" sz="1050" dirty="0"/>
          </a:p>
        </p:txBody>
      </p:sp>
      <p:sp>
        <p:nvSpPr>
          <p:cNvPr id="28" name="Shape 26"/>
          <p:cNvSpPr/>
          <p:nvPr/>
        </p:nvSpPr>
        <p:spPr>
          <a:xfrm>
            <a:off x="7443216" y="4873752"/>
            <a:ext cx="384048" cy="329184"/>
          </a:xfrm>
          <a:prstGeom prst="rightArrow">
            <a:avLst/>
          </a:prstGeom>
          <a:solidFill>
            <a:srgbClr val="7FD3D3"/>
          </a:solidFill>
          <a:ln w="12700">
            <a:solidFill>
              <a:srgbClr val="7FD3D3"/>
            </a:solidFill>
            <a:prstDash val="solid"/>
          </a:ln>
        </p:spPr>
        <p:txBody>
          <a:bodyPr/>
          <a:lstStyle/>
          <a:p>
            <a:endParaRPr lang="en-US"/>
          </a:p>
        </p:txBody>
      </p:sp>
      <p:sp>
        <p:nvSpPr>
          <p:cNvPr id="29" name="Shape 27"/>
          <p:cNvSpPr/>
          <p:nvPr/>
        </p:nvSpPr>
        <p:spPr>
          <a:xfrm>
            <a:off x="7909560" y="4279392"/>
            <a:ext cx="2148840" cy="1508760"/>
          </a:xfrm>
          <a:prstGeom prst="roundRect">
            <a:avLst>
              <a:gd name="adj" fmla="val 5455"/>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30" name="Text 28"/>
          <p:cNvSpPr/>
          <p:nvPr/>
        </p:nvSpPr>
        <p:spPr>
          <a:xfrm>
            <a:off x="8046720" y="4599432"/>
            <a:ext cx="1874520" cy="365760"/>
          </a:xfrm>
          <a:prstGeom prst="rect">
            <a:avLst/>
          </a:prstGeom>
          <a:noFill/>
          <a:ln/>
        </p:spPr>
        <p:txBody>
          <a:bodyPr wrap="square" lIns="0" tIns="0" rIns="0" bIns="0" rtlCol="0" anchor="ctr"/>
          <a:lstStyle/>
          <a:p>
            <a:pPr marL="0" indent="0" algn="ctr">
              <a:buNone/>
            </a:pPr>
            <a:r>
              <a:rPr lang="en-US" sz="1400" b="1" dirty="0">
                <a:solidFill>
                  <a:srgbClr val="8A5B00"/>
                </a:solidFill>
                <a:latin typeface="Arial" pitchFamily="34" charset="0"/>
                <a:ea typeface="Arial" pitchFamily="34" charset="-122"/>
                <a:cs typeface="Arial" pitchFamily="34" charset="-120"/>
              </a:rPr>
              <a:t>Rules</a:t>
            </a:r>
            <a:endParaRPr lang="en-US" sz="1400" dirty="0"/>
          </a:p>
        </p:txBody>
      </p:sp>
      <p:sp>
        <p:nvSpPr>
          <p:cNvPr id="31" name="Text 29"/>
          <p:cNvSpPr/>
          <p:nvPr/>
        </p:nvSpPr>
        <p:spPr>
          <a:xfrm>
            <a:off x="8046720" y="5010912"/>
            <a:ext cx="1874520" cy="548640"/>
          </a:xfrm>
          <a:prstGeom prst="rect">
            <a:avLst/>
          </a:prstGeom>
          <a:noFill/>
          <a:ln/>
        </p:spPr>
        <p:txBody>
          <a:bodyPr wrap="square" lIns="0" tIns="0" rIns="0" bIns="0" rtlCol="0" anchor="ctr"/>
          <a:lstStyle/>
          <a:p>
            <a:pPr marL="0" indent="0" algn="ctr">
              <a:buNone/>
            </a:pPr>
            <a:r>
              <a:rPr lang="en-US" sz="1050" dirty="0">
                <a:solidFill>
                  <a:srgbClr val="8A5B00"/>
                </a:solidFill>
                <a:latin typeface="Calibri" pitchFamily="34" charset="0"/>
                <a:ea typeface="Calibri" pitchFamily="34" charset="-122"/>
                <a:cs typeface="Calibri" pitchFamily="34" charset="-120"/>
              </a:rPr>
              <a:t>A model that generalises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Three ways a machine learns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Chosen by the shape of your data and the question you are asking</a:t>
            </a:r>
            <a:endParaRPr lang="en-US" sz="1400" dirty="0"/>
          </a:p>
        </p:txBody>
      </p:sp>
      <p:sp>
        <p:nvSpPr>
          <p:cNvPr id="4" name="Shape 2"/>
          <p:cNvSpPr/>
          <p:nvPr/>
        </p:nvSpPr>
        <p:spPr>
          <a:xfrm>
            <a:off x="548640" y="1572768"/>
            <a:ext cx="3520440" cy="448056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548640" y="1572768"/>
            <a:ext cx="3520440" cy="868680"/>
          </a:xfrm>
          <a:prstGeom prst="roundRect">
            <a:avLst>
              <a:gd name="adj" fmla="val 9474"/>
            </a:avLst>
          </a:prstGeom>
          <a:solidFill>
            <a:srgbClr val="2A2D7C"/>
          </a:solidFill>
          <a:ln w="12700">
            <a:solidFill>
              <a:srgbClr val="2A2D7C"/>
            </a:solidFill>
            <a:prstDash val="solid"/>
          </a:ln>
        </p:spPr>
        <p:txBody>
          <a:bodyPr/>
          <a:lstStyle/>
          <a:p>
            <a:endParaRPr lang="en-US"/>
          </a:p>
        </p:txBody>
      </p:sp>
      <p:sp>
        <p:nvSpPr>
          <p:cNvPr id="6" name="Shape 4"/>
          <p:cNvSpPr/>
          <p:nvPr/>
        </p:nvSpPr>
        <p:spPr>
          <a:xfrm>
            <a:off x="548640" y="2148840"/>
            <a:ext cx="3520440" cy="292608"/>
          </a:xfrm>
          <a:prstGeom prst="rect">
            <a:avLst/>
          </a:prstGeom>
          <a:solidFill>
            <a:srgbClr val="2A2D7C"/>
          </a:solidFill>
          <a:ln w="12700">
            <a:solidFill>
              <a:srgbClr val="2A2D7C"/>
            </a:solidFill>
            <a:prstDash val="solid"/>
          </a:ln>
        </p:spPr>
        <p:txBody>
          <a:bodyPr/>
          <a:lstStyle/>
          <a:p>
            <a:endParaRPr lang="en-US"/>
          </a:p>
        </p:txBody>
      </p:sp>
      <p:sp>
        <p:nvSpPr>
          <p:cNvPr id="7" name="Text 5"/>
          <p:cNvSpPr/>
          <p:nvPr/>
        </p:nvSpPr>
        <p:spPr>
          <a:xfrm>
            <a:off x="749808" y="1664208"/>
            <a:ext cx="3118104" cy="32004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Supervised</a:t>
            </a:r>
            <a:endParaRPr lang="en-US" sz="1800" dirty="0"/>
          </a:p>
        </p:txBody>
      </p:sp>
      <p:sp>
        <p:nvSpPr>
          <p:cNvPr id="8" name="Text 6"/>
          <p:cNvSpPr/>
          <p:nvPr/>
        </p:nvSpPr>
        <p:spPr>
          <a:xfrm>
            <a:off x="749808" y="1993392"/>
            <a:ext cx="3118104"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Learns from labelled examples</a:t>
            </a:r>
            <a:endParaRPr lang="en-US" sz="1100" dirty="0"/>
          </a:p>
        </p:txBody>
      </p:sp>
      <p:sp>
        <p:nvSpPr>
          <p:cNvPr id="9" name="Shape 7"/>
          <p:cNvSpPr/>
          <p:nvPr/>
        </p:nvSpPr>
        <p:spPr>
          <a:xfrm>
            <a:off x="768096" y="2770632"/>
            <a:ext cx="128016" cy="128016"/>
          </a:xfrm>
          <a:prstGeom prst="ellipse">
            <a:avLst/>
          </a:prstGeom>
          <a:solidFill>
            <a:srgbClr val="2A2D7C"/>
          </a:solidFill>
          <a:ln w="12700">
            <a:solidFill>
              <a:srgbClr val="2A2D7C"/>
            </a:solidFill>
            <a:prstDash val="solid"/>
          </a:ln>
        </p:spPr>
        <p:txBody>
          <a:bodyPr/>
          <a:lstStyle/>
          <a:p>
            <a:endParaRPr lang="en-US"/>
          </a:p>
        </p:txBody>
      </p:sp>
      <p:sp>
        <p:nvSpPr>
          <p:cNvPr id="10" name="Text 8"/>
          <p:cNvSpPr/>
          <p:nvPr/>
        </p:nvSpPr>
        <p:spPr>
          <a:xfrm>
            <a:off x="1005840" y="269748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Data: past loans marked repaid / defaulted</a:t>
            </a:r>
            <a:endParaRPr lang="en-US" sz="1150" dirty="0"/>
          </a:p>
        </p:txBody>
      </p:sp>
      <p:sp>
        <p:nvSpPr>
          <p:cNvPr id="11" name="Shape 9"/>
          <p:cNvSpPr/>
          <p:nvPr/>
        </p:nvSpPr>
        <p:spPr>
          <a:xfrm>
            <a:off x="768096" y="3639312"/>
            <a:ext cx="128016" cy="128016"/>
          </a:xfrm>
          <a:prstGeom prst="ellipse">
            <a:avLst/>
          </a:prstGeom>
          <a:solidFill>
            <a:srgbClr val="2A2D7C"/>
          </a:solidFill>
          <a:ln w="12700">
            <a:solidFill>
              <a:srgbClr val="2A2D7C"/>
            </a:solidFill>
            <a:prstDash val="solid"/>
          </a:ln>
        </p:spPr>
        <p:txBody>
          <a:bodyPr/>
          <a:lstStyle/>
          <a:p>
            <a:endParaRPr lang="en-US"/>
          </a:p>
        </p:txBody>
      </p:sp>
      <p:sp>
        <p:nvSpPr>
          <p:cNvPr id="12" name="Text 10"/>
          <p:cNvSpPr/>
          <p:nvPr/>
        </p:nvSpPr>
        <p:spPr>
          <a:xfrm>
            <a:off x="1005840" y="356616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Task: predict the label for a new case</a:t>
            </a:r>
            <a:endParaRPr lang="en-US" sz="1150" dirty="0"/>
          </a:p>
        </p:txBody>
      </p:sp>
      <p:sp>
        <p:nvSpPr>
          <p:cNvPr id="13" name="Shape 11"/>
          <p:cNvSpPr/>
          <p:nvPr/>
        </p:nvSpPr>
        <p:spPr>
          <a:xfrm>
            <a:off x="768096" y="4507992"/>
            <a:ext cx="128016" cy="128016"/>
          </a:xfrm>
          <a:prstGeom prst="ellipse">
            <a:avLst/>
          </a:prstGeom>
          <a:solidFill>
            <a:srgbClr val="2A2D7C"/>
          </a:solidFill>
          <a:ln w="12700">
            <a:solidFill>
              <a:srgbClr val="2A2D7C"/>
            </a:solidFill>
            <a:prstDash val="solid"/>
          </a:ln>
        </p:spPr>
        <p:txBody>
          <a:bodyPr/>
          <a:lstStyle/>
          <a:p>
            <a:endParaRPr lang="en-US"/>
          </a:p>
        </p:txBody>
      </p:sp>
      <p:sp>
        <p:nvSpPr>
          <p:cNvPr id="14" name="Text 12"/>
          <p:cNvSpPr/>
          <p:nvPr/>
        </p:nvSpPr>
        <p:spPr>
          <a:xfrm>
            <a:off x="1005840" y="443484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Algorithms: regression, XGBoost, random forest</a:t>
            </a:r>
            <a:endParaRPr lang="en-US" sz="1150" dirty="0"/>
          </a:p>
        </p:txBody>
      </p:sp>
      <p:sp>
        <p:nvSpPr>
          <p:cNvPr id="15" name="Shape 13"/>
          <p:cNvSpPr/>
          <p:nvPr/>
        </p:nvSpPr>
        <p:spPr>
          <a:xfrm>
            <a:off x="749808" y="5257800"/>
            <a:ext cx="3118104" cy="658368"/>
          </a:xfrm>
          <a:prstGeom prst="roundRect">
            <a:avLst>
              <a:gd name="adj" fmla="val 11111"/>
            </a:avLst>
          </a:prstGeom>
          <a:solidFill>
            <a:srgbClr val="FFFFFF"/>
          </a:solidFill>
          <a:ln w="12700">
            <a:solidFill>
              <a:srgbClr val="DCDFEE"/>
            </a:solidFill>
            <a:prstDash val="solid"/>
          </a:ln>
        </p:spPr>
        <p:txBody>
          <a:bodyPr/>
          <a:lstStyle/>
          <a:p>
            <a:endParaRPr lang="en-US"/>
          </a:p>
        </p:txBody>
      </p:sp>
      <p:sp>
        <p:nvSpPr>
          <p:cNvPr id="16" name="Text 14"/>
          <p:cNvSpPr/>
          <p:nvPr/>
        </p:nvSpPr>
        <p:spPr>
          <a:xfrm>
            <a:off x="859536" y="5257800"/>
            <a:ext cx="2898648" cy="65836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Used for  </a:t>
            </a:r>
            <a:r>
              <a:rPr lang="en-US" sz="1050" dirty="0">
                <a:solidFill>
                  <a:srgbClr val="5A5F73"/>
                </a:solidFill>
                <a:latin typeface="Calibri" pitchFamily="34" charset="0"/>
                <a:ea typeface="Calibri" pitchFamily="34" charset="-122"/>
                <a:cs typeface="Calibri" pitchFamily="34" charset="-120"/>
              </a:rPr>
              <a:t>Credit scoring, churn prediction, demand forecasting</a:t>
            </a:r>
            <a:endParaRPr lang="en-US" sz="1050" dirty="0"/>
          </a:p>
        </p:txBody>
      </p:sp>
      <p:sp>
        <p:nvSpPr>
          <p:cNvPr id="17" name="Shape 15"/>
          <p:cNvSpPr/>
          <p:nvPr/>
        </p:nvSpPr>
        <p:spPr>
          <a:xfrm>
            <a:off x="4315968" y="1572768"/>
            <a:ext cx="3520440" cy="448056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8" name="Shape 16"/>
          <p:cNvSpPr/>
          <p:nvPr/>
        </p:nvSpPr>
        <p:spPr>
          <a:xfrm>
            <a:off x="4315968" y="1572768"/>
            <a:ext cx="3520440" cy="868680"/>
          </a:xfrm>
          <a:prstGeom prst="roundRect">
            <a:avLst>
              <a:gd name="adj" fmla="val 9474"/>
            </a:avLst>
          </a:prstGeom>
          <a:solidFill>
            <a:srgbClr val="00A6A6"/>
          </a:solidFill>
          <a:ln w="12700">
            <a:solidFill>
              <a:srgbClr val="00A6A6"/>
            </a:solidFill>
            <a:prstDash val="solid"/>
          </a:ln>
        </p:spPr>
        <p:txBody>
          <a:bodyPr/>
          <a:lstStyle/>
          <a:p>
            <a:endParaRPr lang="en-US"/>
          </a:p>
        </p:txBody>
      </p:sp>
      <p:sp>
        <p:nvSpPr>
          <p:cNvPr id="19" name="Shape 17"/>
          <p:cNvSpPr/>
          <p:nvPr/>
        </p:nvSpPr>
        <p:spPr>
          <a:xfrm>
            <a:off x="4315968" y="2148840"/>
            <a:ext cx="3520440" cy="292608"/>
          </a:xfrm>
          <a:prstGeom prst="rect">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4517136" y="1664208"/>
            <a:ext cx="3118104" cy="32004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Unsupervised</a:t>
            </a:r>
            <a:endParaRPr lang="en-US" sz="1800" dirty="0"/>
          </a:p>
        </p:txBody>
      </p:sp>
      <p:sp>
        <p:nvSpPr>
          <p:cNvPr id="21" name="Text 19"/>
          <p:cNvSpPr/>
          <p:nvPr/>
        </p:nvSpPr>
        <p:spPr>
          <a:xfrm>
            <a:off x="4517136" y="1993392"/>
            <a:ext cx="3118104"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Finds structure in unlabelled data</a:t>
            </a:r>
            <a:endParaRPr lang="en-US" sz="1100" dirty="0"/>
          </a:p>
        </p:txBody>
      </p:sp>
      <p:sp>
        <p:nvSpPr>
          <p:cNvPr id="22" name="Shape 20"/>
          <p:cNvSpPr/>
          <p:nvPr/>
        </p:nvSpPr>
        <p:spPr>
          <a:xfrm>
            <a:off x="4535424" y="2770632"/>
            <a:ext cx="128016" cy="128016"/>
          </a:xfrm>
          <a:prstGeom prst="ellipse">
            <a:avLst/>
          </a:prstGeom>
          <a:solidFill>
            <a:srgbClr val="00A6A6"/>
          </a:solidFill>
          <a:ln w="12700">
            <a:solidFill>
              <a:srgbClr val="00A6A6"/>
            </a:solidFill>
            <a:prstDash val="solid"/>
          </a:ln>
        </p:spPr>
        <p:txBody>
          <a:bodyPr/>
          <a:lstStyle/>
          <a:p>
            <a:endParaRPr lang="en-US"/>
          </a:p>
        </p:txBody>
      </p:sp>
      <p:sp>
        <p:nvSpPr>
          <p:cNvPr id="23" name="Text 21"/>
          <p:cNvSpPr/>
          <p:nvPr/>
        </p:nvSpPr>
        <p:spPr>
          <a:xfrm>
            <a:off x="4773168" y="269748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Data: customer transactions, no labels</a:t>
            </a:r>
            <a:endParaRPr lang="en-US" sz="1150" dirty="0"/>
          </a:p>
        </p:txBody>
      </p:sp>
      <p:sp>
        <p:nvSpPr>
          <p:cNvPr id="24" name="Shape 22"/>
          <p:cNvSpPr/>
          <p:nvPr/>
        </p:nvSpPr>
        <p:spPr>
          <a:xfrm>
            <a:off x="4535424" y="3639312"/>
            <a:ext cx="128016" cy="128016"/>
          </a:xfrm>
          <a:prstGeom prst="ellipse">
            <a:avLst/>
          </a:prstGeom>
          <a:solidFill>
            <a:srgbClr val="00A6A6"/>
          </a:solidFill>
          <a:ln w="12700">
            <a:solidFill>
              <a:srgbClr val="00A6A6"/>
            </a:solidFill>
            <a:prstDash val="solid"/>
          </a:ln>
        </p:spPr>
        <p:txBody>
          <a:bodyPr/>
          <a:lstStyle/>
          <a:p>
            <a:endParaRPr lang="en-US"/>
          </a:p>
        </p:txBody>
      </p:sp>
      <p:sp>
        <p:nvSpPr>
          <p:cNvPr id="25" name="Text 23"/>
          <p:cNvSpPr/>
          <p:nvPr/>
        </p:nvSpPr>
        <p:spPr>
          <a:xfrm>
            <a:off x="4773168" y="356616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Task: group similar items, spot outliers</a:t>
            </a:r>
            <a:endParaRPr lang="en-US" sz="1150" dirty="0"/>
          </a:p>
        </p:txBody>
      </p:sp>
      <p:sp>
        <p:nvSpPr>
          <p:cNvPr id="26" name="Shape 24"/>
          <p:cNvSpPr/>
          <p:nvPr/>
        </p:nvSpPr>
        <p:spPr>
          <a:xfrm>
            <a:off x="4535424" y="4507992"/>
            <a:ext cx="128016" cy="128016"/>
          </a:xfrm>
          <a:prstGeom prst="ellipse">
            <a:avLst/>
          </a:prstGeom>
          <a:solidFill>
            <a:srgbClr val="00A6A6"/>
          </a:solidFill>
          <a:ln w="12700">
            <a:solidFill>
              <a:srgbClr val="00A6A6"/>
            </a:solidFill>
            <a:prstDash val="solid"/>
          </a:ln>
        </p:spPr>
        <p:txBody>
          <a:bodyPr/>
          <a:lstStyle/>
          <a:p>
            <a:endParaRPr lang="en-US"/>
          </a:p>
        </p:txBody>
      </p:sp>
      <p:sp>
        <p:nvSpPr>
          <p:cNvPr id="27" name="Text 25"/>
          <p:cNvSpPr/>
          <p:nvPr/>
        </p:nvSpPr>
        <p:spPr>
          <a:xfrm>
            <a:off x="4773168" y="443484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Algorithms: k-means, DBSCAN, PCA</a:t>
            </a:r>
            <a:endParaRPr lang="en-US" sz="1150" dirty="0"/>
          </a:p>
        </p:txBody>
      </p:sp>
      <p:sp>
        <p:nvSpPr>
          <p:cNvPr id="28" name="Shape 26"/>
          <p:cNvSpPr/>
          <p:nvPr/>
        </p:nvSpPr>
        <p:spPr>
          <a:xfrm>
            <a:off x="4517136" y="5257800"/>
            <a:ext cx="3118104" cy="658368"/>
          </a:xfrm>
          <a:prstGeom prst="roundRect">
            <a:avLst>
              <a:gd name="adj" fmla="val 11111"/>
            </a:avLst>
          </a:prstGeom>
          <a:solidFill>
            <a:srgbClr val="FFFFFF"/>
          </a:solidFill>
          <a:ln w="12700">
            <a:solidFill>
              <a:srgbClr val="DCDFEE"/>
            </a:solidFill>
            <a:prstDash val="solid"/>
          </a:ln>
        </p:spPr>
        <p:txBody>
          <a:bodyPr/>
          <a:lstStyle/>
          <a:p>
            <a:endParaRPr lang="en-US"/>
          </a:p>
        </p:txBody>
      </p:sp>
      <p:sp>
        <p:nvSpPr>
          <p:cNvPr id="29" name="Text 27"/>
          <p:cNvSpPr/>
          <p:nvPr/>
        </p:nvSpPr>
        <p:spPr>
          <a:xfrm>
            <a:off x="4626864" y="5257800"/>
            <a:ext cx="2898648" cy="658368"/>
          </a:xfrm>
          <a:prstGeom prst="rect">
            <a:avLst/>
          </a:prstGeom>
          <a:noFill/>
          <a:ln/>
        </p:spPr>
        <p:txBody>
          <a:bodyPr wrap="square" lIns="0" tIns="0" rIns="0" bIns="0" rtlCol="0" anchor="ctr"/>
          <a:lstStyle/>
          <a:p>
            <a:pPr marL="0" indent="0">
              <a:buNone/>
            </a:pPr>
            <a:r>
              <a:rPr lang="en-US" sz="1050" b="1" dirty="0">
                <a:solidFill>
                  <a:srgbClr val="00A6A6"/>
                </a:solidFill>
                <a:latin typeface="Calibri" pitchFamily="34" charset="0"/>
                <a:ea typeface="Calibri" pitchFamily="34" charset="-122"/>
                <a:cs typeface="Calibri" pitchFamily="34" charset="-120"/>
              </a:rPr>
              <a:t>Used for  </a:t>
            </a:r>
            <a:r>
              <a:rPr lang="en-US" sz="1050" dirty="0">
                <a:solidFill>
                  <a:srgbClr val="5A5F73"/>
                </a:solidFill>
                <a:latin typeface="Calibri" pitchFamily="34" charset="0"/>
                <a:ea typeface="Calibri" pitchFamily="34" charset="-122"/>
                <a:cs typeface="Calibri" pitchFamily="34" charset="-120"/>
              </a:rPr>
              <a:t>Customer segmentation, anomaly detection</a:t>
            </a:r>
            <a:endParaRPr lang="en-US" sz="1050" dirty="0"/>
          </a:p>
        </p:txBody>
      </p:sp>
      <p:sp>
        <p:nvSpPr>
          <p:cNvPr id="30" name="Shape 28"/>
          <p:cNvSpPr/>
          <p:nvPr/>
        </p:nvSpPr>
        <p:spPr>
          <a:xfrm>
            <a:off x="8083296" y="1572768"/>
            <a:ext cx="3520440" cy="448056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31" name="Shape 29"/>
          <p:cNvSpPr/>
          <p:nvPr/>
        </p:nvSpPr>
        <p:spPr>
          <a:xfrm>
            <a:off x="8083296" y="1572768"/>
            <a:ext cx="3520440" cy="868680"/>
          </a:xfrm>
          <a:prstGeom prst="roundRect">
            <a:avLst>
              <a:gd name="adj" fmla="val 9474"/>
            </a:avLst>
          </a:prstGeom>
          <a:solidFill>
            <a:srgbClr val="E09400"/>
          </a:solidFill>
          <a:ln w="12700">
            <a:solidFill>
              <a:srgbClr val="E09400"/>
            </a:solidFill>
            <a:prstDash val="solid"/>
          </a:ln>
        </p:spPr>
        <p:txBody>
          <a:bodyPr/>
          <a:lstStyle/>
          <a:p>
            <a:endParaRPr lang="en-US"/>
          </a:p>
        </p:txBody>
      </p:sp>
      <p:sp>
        <p:nvSpPr>
          <p:cNvPr id="32" name="Shape 30"/>
          <p:cNvSpPr/>
          <p:nvPr/>
        </p:nvSpPr>
        <p:spPr>
          <a:xfrm>
            <a:off x="8083296" y="2148840"/>
            <a:ext cx="3520440" cy="292608"/>
          </a:xfrm>
          <a:prstGeom prst="rect">
            <a:avLst/>
          </a:prstGeom>
          <a:solidFill>
            <a:srgbClr val="E09400"/>
          </a:solidFill>
          <a:ln w="12700">
            <a:solidFill>
              <a:srgbClr val="E09400"/>
            </a:solidFill>
            <a:prstDash val="solid"/>
          </a:ln>
        </p:spPr>
        <p:txBody>
          <a:bodyPr/>
          <a:lstStyle/>
          <a:p>
            <a:endParaRPr lang="en-US"/>
          </a:p>
        </p:txBody>
      </p:sp>
      <p:sp>
        <p:nvSpPr>
          <p:cNvPr id="33" name="Text 31"/>
          <p:cNvSpPr/>
          <p:nvPr/>
        </p:nvSpPr>
        <p:spPr>
          <a:xfrm>
            <a:off x="8284464" y="1664208"/>
            <a:ext cx="3118104" cy="32004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Reinforcement</a:t>
            </a:r>
            <a:endParaRPr lang="en-US" sz="1800" dirty="0"/>
          </a:p>
        </p:txBody>
      </p:sp>
      <p:sp>
        <p:nvSpPr>
          <p:cNvPr id="34" name="Text 32"/>
          <p:cNvSpPr/>
          <p:nvPr/>
        </p:nvSpPr>
        <p:spPr>
          <a:xfrm>
            <a:off x="8284464" y="1993392"/>
            <a:ext cx="3118104"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Learns by trial, reward and penalty</a:t>
            </a:r>
            <a:endParaRPr lang="en-US" sz="1100" dirty="0"/>
          </a:p>
        </p:txBody>
      </p:sp>
      <p:sp>
        <p:nvSpPr>
          <p:cNvPr id="35" name="Shape 33"/>
          <p:cNvSpPr/>
          <p:nvPr/>
        </p:nvSpPr>
        <p:spPr>
          <a:xfrm>
            <a:off x="8302752" y="2770632"/>
            <a:ext cx="128016" cy="128016"/>
          </a:xfrm>
          <a:prstGeom prst="ellipse">
            <a:avLst/>
          </a:prstGeom>
          <a:solidFill>
            <a:srgbClr val="E09400"/>
          </a:solidFill>
          <a:ln w="12700">
            <a:solidFill>
              <a:srgbClr val="E09400"/>
            </a:solidFill>
            <a:prstDash val="solid"/>
          </a:ln>
        </p:spPr>
        <p:txBody>
          <a:bodyPr/>
          <a:lstStyle/>
          <a:p>
            <a:endParaRPr lang="en-US"/>
          </a:p>
        </p:txBody>
      </p:sp>
      <p:sp>
        <p:nvSpPr>
          <p:cNvPr id="36" name="Text 34"/>
          <p:cNvSpPr/>
          <p:nvPr/>
        </p:nvSpPr>
        <p:spPr>
          <a:xfrm>
            <a:off x="8540496" y="269748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Data: an environment to act in</a:t>
            </a:r>
            <a:endParaRPr lang="en-US" sz="1150" dirty="0"/>
          </a:p>
        </p:txBody>
      </p:sp>
      <p:sp>
        <p:nvSpPr>
          <p:cNvPr id="37" name="Shape 35"/>
          <p:cNvSpPr/>
          <p:nvPr/>
        </p:nvSpPr>
        <p:spPr>
          <a:xfrm>
            <a:off x="8302752" y="3639312"/>
            <a:ext cx="128016" cy="128016"/>
          </a:xfrm>
          <a:prstGeom prst="ellipse">
            <a:avLst/>
          </a:prstGeom>
          <a:solidFill>
            <a:srgbClr val="E09400"/>
          </a:solidFill>
          <a:ln w="12700">
            <a:solidFill>
              <a:srgbClr val="E09400"/>
            </a:solidFill>
            <a:prstDash val="solid"/>
          </a:ln>
        </p:spPr>
        <p:txBody>
          <a:bodyPr/>
          <a:lstStyle/>
          <a:p>
            <a:endParaRPr lang="en-US"/>
          </a:p>
        </p:txBody>
      </p:sp>
      <p:sp>
        <p:nvSpPr>
          <p:cNvPr id="38" name="Text 36"/>
          <p:cNvSpPr/>
          <p:nvPr/>
        </p:nvSpPr>
        <p:spPr>
          <a:xfrm>
            <a:off x="8540496" y="356616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Task: maximise cumulative reward</a:t>
            </a:r>
            <a:endParaRPr lang="en-US" sz="1150" dirty="0"/>
          </a:p>
        </p:txBody>
      </p:sp>
      <p:sp>
        <p:nvSpPr>
          <p:cNvPr id="39" name="Shape 37"/>
          <p:cNvSpPr/>
          <p:nvPr/>
        </p:nvSpPr>
        <p:spPr>
          <a:xfrm>
            <a:off x="8302752" y="4507992"/>
            <a:ext cx="128016" cy="128016"/>
          </a:xfrm>
          <a:prstGeom prst="ellipse">
            <a:avLst/>
          </a:prstGeom>
          <a:solidFill>
            <a:srgbClr val="E09400"/>
          </a:solidFill>
          <a:ln w="12700">
            <a:solidFill>
              <a:srgbClr val="E09400"/>
            </a:solidFill>
            <a:prstDash val="solid"/>
          </a:ln>
        </p:spPr>
        <p:txBody>
          <a:bodyPr/>
          <a:lstStyle/>
          <a:p>
            <a:endParaRPr lang="en-US"/>
          </a:p>
        </p:txBody>
      </p:sp>
      <p:sp>
        <p:nvSpPr>
          <p:cNvPr id="40" name="Text 38"/>
          <p:cNvSpPr/>
          <p:nvPr/>
        </p:nvSpPr>
        <p:spPr>
          <a:xfrm>
            <a:off x="8540496" y="4434840"/>
            <a:ext cx="2834640" cy="7315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Algorithms: Q-learning, PPO</a:t>
            </a:r>
            <a:endParaRPr lang="en-US" sz="1150" dirty="0"/>
          </a:p>
        </p:txBody>
      </p:sp>
      <p:sp>
        <p:nvSpPr>
          <p:cNvPr id="41" name="Shape 39"/>
          <p:cNvSpPr/>
          <p:nvPr/>
        </p:nvSpPr>
        <p:spPr>
          <a:xfrm>
            <a:off x="8284464" y="5257800"/>
            <a:ext cx="3118104" cy="658368"/>
          </a:xfrm>
          <a:prstGeom prst="roundRect">
            <a:avLst>
              <a:gd name="adj" fmla="val 11111"/>
            </a:avLst>
          </a:prstGeom>
          <a:solidFill>
            <a:srgbClr val="FFFFFF"/>
          </a:solidFill>
          <a:ln w="12700">
            <a:solidFill>
              <a:srgbClr val="DCDFEE"/>
            </a:solidFill>
            <a:prstDash val="solid"/>
          </a:ln>
        </p:spPr>
        <p:txBody>
          <a:bodyPr/>
          <a:lstStyle/>
          <a:p>
            <a:endParaRPr lang="en-US"/>
          </a:p>
        </p:txBody>
      </p:sp>
      <p:sp>
        <p:nvSpPr>
          <p:cNvPr id="42" name="Text 40"/>
          <p:cNvSpPr/>
          <p:nvPr/>
        </p:nvSpPr>
        <p:spPr>
          <a:xfrm>
            <a:off x="8394192" y="5257800"/>
            <a:ext cx="2898648" cy="658368"/>
          </a:xfrm>
          <a:prstGeom prst="rect">
            <a:avLst/>
          </a:prstGeom>
          <a:noFill/>
          <a:ln/>
        </p:spPr>
        <p:txBody>
          <a:bodyPr wrap="square" lIns="0" tIns="0" rIns="0" bIns="0" rtlCol="0" anchor="ctr"/>
          <a:lstStyle/>
          <a:p>
            <a:pPr marL="0" indent="0">
              <a:buNone/>
            </a:pPr>
            <a:r>
              <a:rPr lang="en-US" sz="1050" b="1" dirty="0">
                <a:solidFill>
                  <a:srgbClr val="E09400"/>
                </a:solidFill>
                <a:latin typeface="Calibri" pitchFamily="34" charset="0"/>
                <a:ea typeface="Calibri" pitchFamily="34" charset="-122"/>
                <a:cs typeface="Calibri" pitchFamily="34" charset="-120"/>
              </a:rPr>
              <a:t>Used for  </a:t>
            </a:r>
            <a:r>
              <a:rPr lang="en-US" sz="1050" dirty="0">
                <a:solidFill>
                  <a:srgbClr val="5A5F73"/>
                </a:solidFill>
                <a:latin typeface="Calibri" pitchFamily="34" charset="0"/>
                <a:ea typeface="Calibri" pitchFamily="34" charset="-122"/>
                <a:cs typeface="Calibri" pitchFamily="34" charset="-120"/>
              </a:rPr>
              <a:t>Game playing, robotics, RLHF for chat models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Supervised learning has two flavours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The only real difference: are you predicting a number, or a category?</a:t>
            </a:r>
            <a:endParaRPr lang="en-US" sz="1400" dirty="0"/>
          </a:p>
        </p:txBody>
      </p:sp>
      <p:sp>
        <p:nvSpPr>
          <p:cNvPr id="4" name="Shape 2"/>
          <p:cNvSpPr/>
          <p:nvPr/>
        </p:nvSpPr>
        <p:spPr>
          <a:xfrm>
            <a:off x="548640" y="1572768"/>
            <a:ext cx="5394960" cy="4709160"/>
          </a:xfrm>
          <a:prstGeom prst="roundRect">
            <a:avLst>
              <a:gd name="adj" fmla="val 1748"/>
            </a:avLst>
          </a:prstGeom>
          <a:solidFill>
            <a:srgbClr val="EEF7F7"/>
          </a:solidFill>
          <a:ln w="12700">
            <a:solidFill>
              <a:srgbClr val="7FD3D3"/>
            </a:solidFill>
            <a:prstDash val="solid"/>
          </a:ln>
          <a:effectLst>
            <a:outerShdw blurRad="127000" dist="25400" dir="5400000" algn="bl" rotWithShape="0">
              <a:srgbClr val="9AA0BE">
                <a:alpha val="30000"/>
              </a:srgbClr>
            </a:outerShdw>
          </a:effectLst>
        </p:spPr>
        <p:txBody>
          <a:bodyPr/>
          <a:lstStyle/>
          <a:p>
            <a:endParaRPr lang="en-US"/>
          </a:p>
        </p:txBody>
      </p:sp>
      <p:sp>
        <p:nvSpPr>
          <p:cNvPr id="5" name="Text 3"/>
          <p:cNvSpPr/>
          <p:nvPr/>
        </p:nvSpPr>
        <p:spPr>
          <a:xfrm>
            <a:off x="822960" y="1719072"/>
            <a:ext cx="4846320" cy="256032"/>
          </a:xfrm>
          <a:prstGeom prst="rect">
            <a:avLst/>
          </a:prstGeom>
          <a:noFill/>
          <a:ln/>
        </p:spPr>
        <p:txBody>
          <a:bodyPr wrap="square" lIns="0" tIns="0" rIns="0" bIns="0" rtlCol="0" anchor="ctr"/>
          <a:lstStyle/>
          <a:p>
            <a:pPr marL="0" indent="0">
              <a:buNone/>
            </a:pPr>
            <a:r>
              <a:rPr lang="en-US" sz="1050" b="1" kern="0" spc="250" dirty="0">
                <a:solidFill>
                  <a:srgbClr val="00A6A6"/>
                </a:solidFill>
                <a:latin typeface="Arial" pitchFamily="34" charset="0"/>
                <a:ea typeface="Arial" pitchFamily="34" charset="-122"/>
                <a:cs typeface="Arial" pitchFamily="34" charset="-120"/>
              </a:rPr>
              <a:t>REGRESSION</a:t>
            </a:r>
            <a:endParaRPr lang="en-US" sz="1050" dirty="0"/>
          </a:p>
        </p:txBody>
      </p:sp>
      <p:sp>
        <p:nvSpPr>
          <p:cNvPr id="6" name="Text 4"/>
          <p:cNvSpPr/>
          <p:nvPr/>
        </p:nvSpPr>
        <p:spPr>
          <a:xfrm>
            <a:off x="822960" y="1975104"/>
            <a:ext cx="4846320" cy="384048"/>
          </a:xfrm>
          <a:prstGeom prst="rect">
            <a:avLst/>
          </a:prstGeom>
          <a:noFill/>
          <a:ln/>
        </p:spPr>
        <p:txBody>
          <a:bodyPr wrap="square" lIns="0" tIns="0" rIns="0" bIns="0" rtlCol="0" anchor="ctr"/>
          <a:lstStyle/>
          <a:p>
            <a:pPr marL="0" indent="0">
              <a:buNone/>
            </a:pPr>
            <a:r>
              <a:rPr lang="en-US" sz="2000" b="1" dirty="0">
                <a:solidFill>
                  <a:srgbClr val="101034"/>
                </a:solidFill>
                <a:latin typeface="Arial" pitchFamily="34" charset="0"/>
                <a:ea typeface="Arial" pitchFamily="34" charset="-122"/>
                <a:cs typeface="Arial" pitchFamily="34" charset="-120"/>
              </a:rPr>
              <a:t>Predict a number</a:t>
            </a:r>
            <a:endParaRPr lang="en-US" sz="2000" dirty="0"/>
          </a:p>
        </p:txBody>
      </p:sp>
      <p:sp>
        <p:nvSpPr>
          <p:cNvPr id="7" name="Shape 5"/>
          <p:cNvSpPr/>
          <p:nvPr/>
        </p:nvSpPr>
        <p:spPr>
          <a:xfrm>
            <a:off x="1417320" y="3886200"/>
            <a:ext cx="3794760" cy="0"/>
          </a:xfrm>
          <a:prstGeom prst="line">
            <a:avLst/>
          </a:prstGeom>
          <a:noFill/>
          <a:ln w="15875">
            <a:solidFill>
              <a:srgbClr val="B8BCD4"/>
            </a:solidFill>
            <a:prstDash val="solid"/>
          </a:ln>
        </p:spPr>
        <p:txBody>
          <a:bodyPr/>
          <a:lstStyle/>
          <a:p>
            <a:endParaRPr lang="en-US"/>
          </a:p>
        </p:txBody>
      </p:sp>
      <p:sp>
        <p:nvSpPr>
          <p:cNvPr id="8" name="Shape 6"/>
          <p:cNvSpPr/>
          <p:nvPr/>
        </p:nvSpPr>
        <p:spPr>
          <a:xfrm>
            <a:off x="1417320" y="2651760"/>
            <a:ext cx="0" cy="1234440"/>
          </a:xfrm>
          <a:prstGeom prst="line">
            <a:avLst/>
          </a:prstGeom>
          <a:noFill/>
          <a:ln w="15875">
            <a:solidFill>
              <a:srgbClr val="B8BCD4"/>
            </a:solidFill>
            <a:prstDash val="solid"/>
          </a:ln>
        </p:spPr>
        <p:txBody>
          <a:bodyPr/>
          <a:lstStyle/>
          <a:p>
            <a:endParaRPr lang="en-US"/>
          </a:p>
        </p:txBody>
      </p:sp>
      <p:sp>
        <p:nvSpPr>
          <p:cNvPr id="9" name="Text 7"/>
          <p:cNvSpPr/>
          <p:nvPr/>
        </p:nvSpPr>
        <p:spPr>
          <a:xfrm>
            <a:off x="822960" y="2606040"/>
            <a:ext cx="685800" cy="237744"/>
          </a:xfrm>
          <a:prstGeom prst="rect">
            <a:avLst/>
          </a:prstGeom>
          <a:noFill/>
          <a:ln/>
        </p:spPr>
        <p:txBody>
          <a:bodyPr wrap="square" lIns="0" tIns="0" rIns="0" bIns="0" rtlCol="0" anchor="ctr"/>
          <a:lstStyle/>
          <a:p>
            <a:pPr marL="0" indent="0">
              <a:buNone/>
            </a:pPr>
            <a:r>
              <a:rPr lang="en-US" sz="900" dirty="0">
                <a:solidFill>
                  <a:srgbClr val="5A5F73"/>
                </a:solidFill>
                <a:latin typeface="Calibri" pitchFamily="34" charset="0"/>
                <a:ea typeface="Calibri" pitchFamily="34" charset="-122"/>
                <a:cs typeface="Calibri" pitchFamily="34" charset="-120"/>
              </a:rPr>
              <a:t>Price</a:t>
            </a:r>
            <a:endParaRPr lang="en-US" sz="900" dirty="0"/>
          </a:p>
        </p:txBody>
      </p:sp>
      <p:sp>
        <p:nvSpPr>
          <p:cNvPr id="10" name="Text 8"/>
          <p:cNvSpPr/>
          <p:nvPr/>
        </p:nvSpPr>
        <p:spPr>
          <a:xfrm>
            <a:off x="1417320" y="3922776"/>
            <a:ext cx="3794760" cy="237744"/>
          </a:xfrm>
          <a:prstGeom prst="rect">
            <a:avLst/>
          </a:prstGeom>
          <a:noFill/>
          <a:ln/>
        </p:spPr>
        <p:txBody>
          <a:bodyPr wrap="square" lIns="0" tIns="0" rIns="0" bIns="0" rtlCol="0" anchor="ctr"/>
          <a:lstStyle/>
          <a:p>
            <a:pPr marL="0" indent="0" algn="r">
              <a:buNone/>
            </a:pPr>
            <a:r>
              <a:rPr lang="en-US" sz="900" dirty="0">
                <a:solidFill>
                  <a:srgbClr val="5A5F73"/>
                </a:solidFill>
                <a:latin typeface="Calibri" pitchFamily="34" charset="0"/>
                <a:ea typeface="Calibri" pitchFamily="34" charset="-122"/>
                <a:cs typeface="Calibri" pitchFamily="34" charset="-120"/>
              </a:rPr>
              <a:t>Floor area</a:t>
            </a:r>
            <a:endParaRPr lang="en-US" sz="900" dirty="0"/>
          </a:p>
        </p:txBody>
      </p:sp>
      <p:sp>
        <p:nvSpPr>
          <p:cNvPr id="11" name="Shape 9"/>
          <p:cNvSpPr/>
          <p:nvPr/>
        </p:nvSpPr>
        <p:spPr>
          <a:xfrm flipV="1">
            <a:off x="1493215" y="2799893"/>
            <a:ext cx="3642970" cy="975208"/>
          </a:xfrm>
          <a:prstGeom prst="line">
            <a:avLst/>
          </a:prstGeom>
          <a:noFill/>
          <a:ln w="28575">
            <a:solidFill>
              <a:srgbClr val="00A6A6"/>
            </a:solidFill>
            <a:prstDash val="solid"/>
          </a:ln>
        </p:spPr>
        <p:txBody>
          <a:bodyPr/>
          <a:lstStyle/>
          <a:p>
            <a:endParaRPr lang="en-US"/>
          </a:p>
        </p:txBody>
      </p:sp>
      <p:sp>
        <p:nvSpPr>
          <p:cNvPr id="12" name="Shape 10"/>
          <p:cNvSpPr/>
          <p:nvPr/>
        </p:nvSpPr>
        <p:spPr>
          <a:xfrm>
            <a:off x="1661465" y="3653942"/>
            <a:ext cx="118872" cy="118872"/>
          </a:xfrm>
          <a:prstGeom prst="ellipse">
            <a:avLst/>
          </a:prstGeom>
          <a:solidFill>
            <a:srgbClr val="2A2D7C"/>
          </a:solidFill>
          <a:ln w="9525">
            <a:solidFill>
              <a:srgbClr val="FFFFFF"/>
            </a:solidFill>
            <a:prstDash val="solid"/>
          </a:ln>
        </p:spPr>
        <p:txBody>
          <a:bodyPr/>
          <a:lstStyle/>
          <a:p>
            <a:endParaRPr lang="en-US"/>
          </a:p>
        </p:txBody>
      </p:sp>
      <p:sp>
        <p:nvSpPr>
          <p:cNvPr id="13" name="Shape 11"/>
          <p:cNvSpPr/>
          <p:nvPr/>
        </p:nvSpPr>
        <p:spPr>
          <a:xfrm>
            <a:off x="1927098" y="3530498"/>
            <a:ext cx="118872" cy="118872"/>
          </a:xfrm>
          <a:prstGeom prst="ellipse">
            <a:avLst/>
          </a:prstGeom>
          <a:solidFill>
            <a:srgbClr val="2A2D7C"/>
          </a:solidFill>
          <a:ln w="9525">
            <a:solidFill>
              <a:srgbClr val="FFFFFF"/>
            </a:solidFill>
            <a:prstDash val="solid"/>
          </a:ln>
        </p:spPr>
        <p:txBody>
          <a:bodyPr/>
          <a:lstStyle/>
          <a:p>
            <a:endParaRPr lang="en-US"/>
          </a:p>
        </p:txBody>
      </p:sp>
      <p:sp>
        <p:nvSpPr>
          <p:cNvPr id="14" name="Shape 12"/>
          <p:cNvSpPr/>
          <p:nvPr/>
        </p:nvSpPr>
        <p:spPr>
          <a:xfrm>
            <a:off x="2230679" y="3592220"/>
            <a:ext cx="118872" cy="118872"/>
          </a:xfrm>
          <a:prstGeom prst="ellipse">
            <a:avLst/>
          </a:prstGeom>
          <a:solidFill>
            <a:srgbClr val="2A2D7C"/>
          </a:solidFill>
          <a:ln w="9525">
            <a:solidFill>
              <a:srgbClr val="FFFFFF"/>
            </a:solidFill>
            <a:prstDash val="solid"/>
          </a:ln>
        </p:spPr>
        <p:txBody>
          <a:bodyPr/>
          <a:lstStyle/>
          <a:p>
            <a:endParaRPr lang="en-US"/>
          </a:p>
        </p:txBody>
      </p:sp>
      <p:sp>
        <p:nvSpPr>
          <p:cNvPr id="15" name="Shape 13"/>
          <p:cNvSpPr/>
          <p:nvPr/>
        </p:nvSpPr>
        <p:spPr>
          <a:xfrm>
            <a:off x="2496312" y="3407054"/>
            <a:ext cx="118872" cy="118872"/>
          </a:xfrm>
          <a:prstGeom prst="ellipse">
            <a:avLst/>
          </a:prstGeom>
          <a:solidFill>
            <a:srgbClr val="2A2D7C"/>
          </a:solidFill>
          <a:ln w="9525">
            <a:solidFill>
              <a:srgbClr val="FFFFFF"/>
            </a:solidFill>
            <a:prstDash val="solid"/>
          </a:ln>
        </p:spPr>
        <p:txBody>
          <a:bodyPr/>
          <a:lstStyle/>
          <a:p>
            <a:endParaRPr lang="en-US"/>
          </a:p>
        </p:txBody>
      </p:sp>
      <p:sp>
        <p:nvSpPr>
          <p:cNvPr id="16" name="Shape 14"/>
          <p:cNvSpPr/>
          <p:nvPr/>
        </p:nvSpPr>
        <p:spPr>
          <a:xfrm>
            <a:off x="2799893" y="3444088"/>
            <a:ext cx="118872" cy="118872"/>
          </a:xfrm>
          <a:prstGeom prst="ellipse">
            <a:avLst/>
          </a:prstGeom>
          <a:solidFill>
            <a:srgbClr val="2A2D7C"/>
          </a:solidFill>
          <a:ln w="9525">
            <a:solidFill>
              <a:srgbClr val="FFFFFF"/>
            </a:solidFill>
            <a:prstDash val="solid"/>
          </a:ln>
        </p:spPr>
        <p:txBody>
          <a:bodyPr/>
          <a:lstStyle/>
          <a:p>
            <a:endParaRPr lang="en-US"/>
          </a:p>
        </p:txBody>
      </p:sp>
      <p:sp>
        <p:nvSpPr>
          <p:cNvPr id="17" name="Shape 15"/>
          <p:cNvSpPr/>
          <p:nvPr/>
        </p:nvSpPr>
        <p:spPr>
          <a:xfrm>
            <a:off x="3065526" y="3271266"/>
            <a:ext cx="118872" cy="118872"/>
          </a:xfrm>
          <a:prstGeom prst="ellipse">
            <a:avLst/>
          </a:prstGeom>
          <a:solidFill>
            <a:srgbClr val="2A2D7C"/>
          </a:solidFill>
          <a:ln w="9525">
            <a:solidFill>
              <a:srgbClr val="FFFFFF"/>
            </a:solidFill>
            <a:prstDash val="solid"/>
          </a:ln>
        </p:spPr>
        <p:txBody>
          <a:bodyPr/>
          <a:lstStyle/>
          <a:p>
            <a:endParaRPr lang="en-US"/>
          </a:p>
        </p:txBody>
      </p:sp>
      <p:sp>
        <p:nvSpPr>
          <p:cNvPr id="18" name="Shape 16"/>
          <p:cNvSpPr/>
          <p:nvPr/>
        </p:nvSpPr>
        <p:spPr>
          <a:xfrm>
            <a:off x="3331159" y="3345332"/>
            <a:ext cx="118872" cy="118872"/>
          </a:xfrm>
          <a:prstGeom prst="ellipse">
            <a:avLst/>
          </a:prstGeom>
          <a:solidFill>
            <a:srgbClr val="2A2D7C"/>
          </a:solidFill>
          <a:ln w="9525">
            <a:solidFill>
              <a:srgbClr val="FFFFFF"/>
            </a:solidFill>
            <a:prstDash val="solid"/>
          </a:ln>
        </p:spPr>
        <p:txBody>
          <a:bodyPr/>
          <a:lstStyle/>
          <a:p>
            <a:endParaRPr lang="en-US"/>
          </a:p>
        </p:txBody>
      </p:sp>
      <p:sp>
        <p:nvSpPr>
          <p:cNvPr id="19" name="Shape 17"/>
          <p:cNvSpPr/>
          <p:nvPr/>
        </p:nvSpPr>
        <p:spPr>
          <a:xfrm>
            <a:off x="3634740" y="3135478"/>
            <a:ext cx="118872" cy="118872"/>
          </a:xfrm>
          <a:prstGeom prst="ellipse">
            <a:avLst/>
          </a:prstGeom>
          <a:solidFill>
            <a:srgbClr val="2A2D7C"/>
          </a:solidFill>
          <a:ln w="9525">
            <a:solidFill>
              <a:srgbClr val="FFFFFF"/>
            </a:solidFill>
            <a:prstDash val="solid"/>
          </a:ln>
        </p:spPr>
        <p:txBody>
          <a:bodyPr/>
          <a:lstStyle/>
          <a:p>
            <a:endParaRPr lang="en-US"/>
          </a:p>
        </p:txBody>
      </p:sp>
      <p:sp>
        <p:nvSpPr>
          <p:cNvPr id="20" name="Shape 18"/>
          <p:cNvSpPr/>
          <p:nvPr/>
        </p:nvSpPr>
        <p:spPr>
          <a:xfrm>
            <a:off x="3900373" y="3184855"/>
            <a:ext cx="118872" cy="118872"/>
          </a:xfrm>
          <a:prstGeom prst="ellipse">
            <a:avLst/>
          </a:prstGeom>
          <a:solidFill>
            <a:srgbClr val="2A2D7C"/>
          </a:solidFill>
          <a:ln w="9525">
            <a:solidFill>
              <a:srgbClr val="FFFFFF"/>
            </a:solidFill>
            <a:prstDash val="solid"/>
          </a:ln>
        </p:spPr>
        <p:txBody>
          <a:bodyPr/>
          <a:lstStyle/>
          <a:p>
            <a:endParaRPr lang="en-US"/>
          </a:p>
        </p:txBody>
      </p:sp>
      <p:sp>
        <p:nvSpPr>
          <p:cNvPr id="21" name="Shape 19"/>
          <p:cNvSpPr/>
          <p:nvPr/>
        </p:nvSpPr>
        <p:spPr>
          <a:xfrm>
            <a:off x="4203954" y="2999689"/>
            <a:ext cx="118872" cy="118872"/>
          </a:xfrm>
          <a:prstGeom prst="ellipse">
            <a:avLst/>
          </a:prstGeom>
          <a:solidFill>
            <a:srgbClr val="2A2D7C"/>
          </a:solidFill>
          <a:ln w="9525">
            <a:solidFill>
              <a:srgbClr val="FFFFFF"/>
            </a:solidFill>
            <a:prstDash val="solid"/>
          </a:ln>
        </p:spPr>
        <p:txBody>
          <a:bodyPr/>
          <a:lstStyle/>
          <a:p>
            <a:endParaRPr lang="en-US"/>
          </a:p>
        </p:txBody>
      </p:sp>
      <p:sp>
        <p:nvSpPr>
          <p:cNvPr id="22" name="Shape 20"/>
          <p:cNvSpPr/>
          <p:nvPr/>
        </p:nvSpPr>
        <p:spPr>
          <a:xfrm>
            <a:off x="4507535" y="2937967"/>
            <a:ext cx="118872" cy="118872"/>
          </a:xfrm>
          <a:prstGeom prst="ellipse">
            <a:avLst/>
          </a:prstGeom>
          <a:solidFill>
            <a:srgbClr val="2A2D7C"/>
          </a:solidFill>
          <a:ln w="9525">
            <a:solidFill>
              <a:srgbClr val="FFFFFF"/>
            </a:solidFill>
            <a:prstDash val="solid"/>
          </a:ln>
        </p:spPr>
        <p:txBody>
          <a:bodyPr/>
          <a:lstStyle/>
          <a:p>
            <a:endParaRPr lang="en-US"/>
          </a:p>
        </p:txBody>
      </p:sp>
      <p:sp>
        <p:nvSpPr>
          <p:cNvPr id="23" name="Shape 21"/>
          <p:cNvSpPr/>
          <p:nvPr/>
        </p:nvSpPr>
        <p:spPr>
          <a:xfrm>
            <a:off x="4811116" y="2826868"/>
            <a:ext cx="118872" cy="118872"/>
          </a:xfrm>
          <a:prstGeom prst="ellipse">
            <a:avLst/>
          </a:prstGeom>
          <a:solidFill>
            <a:srgbClr val="2A2D7C"/>
          </a:solidFill>
          <a:ln w="9525">
            <a:solidFill>
              <a:srgbClr val="FFFFFF"/>
            </a:solidFill>
            <a:prstDash val="solid"/>
          </a:ln>
        </p:spPr>
        <p:txBody>
          <a:bodyPr/>
          <a:lstStyle/>
          <a:p>
            <a:endParaRPr lang="en-US"/>
          </a:p>
        </p:txBody>
      </p:sp>
      <p:sp>
        <p:nvSpPr>
          <p:cNvPr id="24" name="Text 22"/>
          <p:cNvSpPr/>
          <p:nvPr/>
        </p:nvSpPr>
        <p:spPr>
          <a:xfrm>
            <a:off x="1417320" y="4142232"/>
            <a:ext cx="3794760" cy="237744"/>
          </a:xfrm>
          <a:prstGeom prst="rect">
            <a:avLst/>
          </a:prstGeom>
          <a:noFill/>
          <a:ln/>
        </p:spPr>
        <p:txBody>
          <a:bodyPr wrap="square" lIns="0" tIns="0" rIns="0" bIns="0" rtlCol="0" anchor="ctr"/>
          <a:lstStyle/>
          <a:p>
            <a:pPr marL="0" indent="0">
              <a:buNone/>
            </a:pPr>
            <a:r>
              <a:rPr lang="en-US" sz="950" i="1" dirty="0">
                <a:solidFill>
                  <a:srgbClr val="00A6A6"/>
                </a:solidFill>
                <a:latin typeface="Calibri" pitchFamily="34" charset="0"/>
                <a:ea typeface="Calibri" pitchFamily="34" charset="-122"/>
                <a:cs typeface="Calibri" pitchFamily="34" charset="-120"/>
              </a:rPr>
              <a:t>one line through the points → read off any value</a:t>
            </a:r>
            <a:endParaRPr lang="en-US" sz="950" dirty="0"/>
          </a:p>
        </p:txBody>
      </p:sp>
      <p:sp>
        <p:nvSpPr>
          <p:cNvPr id="25" name="Text 23"/>
          <p:cNvSpPr/>
          <p:nvPr/>
        </p:nvSpPr>
        <p:spPr>
          <a:xfrm>
            <a:off x="822960" y="4315968"/>
            <a:ext cx="4846320" cy="411480"/>
          </a:xfrm>
          <a:prstGeom prst="rect">
            <a:avLst/>
          </a:prstGeom>
          <a:noFill/>
          <a:ln/>
        </p:spPr>
        <p:txBody>
          <a:bodyPr wrap="square" lIns="0" tIns="0" rIns="0" bIns="0" rtlCol="0" anchor="ctr"/>
          <a:lstStyle/>
          <a:p>
            <a:pPr marL="0" indent="0">
              <a:buNone/>
            </a:pPr>
            <a:r>
              <a:rPr lang="en-US" sz="1200" b="1" dirty="0">
                <a:solidFill>
                  <a:srgbClr val="00A6A6"/>
                </a:solidFill>
                <a:latin typeface="Calibri" pitchFamily="34" charset="0"/>
                <a:ea typeface="Calibri" pitchFamily="34" charset="-122"/>
                <a:cs typeface="Calibri" pitchFamily="34" charset="-120"/>
              </a:rPr>
              <a:t>Asks</a:t>
            </a:r>
            <a:r>
              <a:rPr lang="en-US" sz="1200" dirty="0">
                <a:solidFill>
                  <a:srgbClr val="101034"/>
                </a:solidFill>
                <a:latin typeface="Calibri" pitchFamily="34" charset="0"/>
                <a:ea typeface="Calibri" pitchFamily="34" charset="-122"/>
                <a:cs typeface="Calibri" pitchFamily="34" charset="-120"/>
              </a:rPr>
              <a:t> How much? How many?</a:t>
            </a:r>
            <a:endParaRPr lang="en-US" sz="1200" dirty="0"/>
          </a:p>
        </p:txBody>
      </p:sp>
      <p:sp>
        <p:nvSpPr>
          <p:cNvPr id="26" name="Shape 24"/>
          <p:cNvSpPr/>
          <p:nvPr/>
        </p:nvSpPr>
        <p:spPr>
          <a:xfrm>
            <a:off x="822960" y="4745736"/>
            <a:ext cx="4846320" cy="0"/>
          </a:xfrm>
          <a:prstGeom prst="line">
            <a:avLst/>
          </a:prstGeom>
          <a:noFill/>
          <a:ln w="9525">
            <a:solidFill>
              <a:srgbClr val="7FD3D3"/>
            </a:solidFill>
            <a:prstDash val="solid"/>
          </a:ln>
        </p:spPr>
        <p:txBody>
          <a:bodyPr/>
          <a:lstStyle/>
          <a:p>
            <a:endParaRPr lang="en-US"/>
          </a:p>
        </p:txBody>
      </p:sp>
      <p:sp>
        <p:nvSpPr>
          <p:cNvPr id="27" name="Text 25"/>
          <p:cNvSpPr/>
          <p:nvPr/>
        </p:nvSpPr>
        <p:spPr>
          <a:xfrm>
            <a:off x="822960" y="4800600"/>
            <a:ext cx="4846320" cy="411480"/>
          </a:xfrm>
          <a:prstGeom prst="rect">
            <a:avLst/>
          </a:prstGeom>
          <a:noFill/>
          <a:ln/>
        </p:spPr>
        <p:txBody>
          <a:bodyPr wrap="square" lIns="0" tIns="0" rIns="0" bIns="0" rtlCol="0" anchor="ctr"/>
          <a:lstStyle/>
          <a:p>
            <a:pPr marL="0" indent="0">
              <a:buNone/>
            </a:pPr>
            <a:r>
              <a:rPr lang="en-US" sz="1200" b="1" dirty="0">
                <a:solidFill>
                  <a:srgbClr val="00A6A6"/>
                </a:solidFill>
                <a:latin typeface="Calibri" pitchFamily="34" charset="0"/>
                <a:ea typeface="Calibri" pitchFamily="34" charset="-122"/>
                <a:cs typeface="Calibri" pitchFamily="34" charset="-120"/>
              </a:rPr>
              <a:t>Output</a:t>
            </a:r>
            <a:r>
              <a:rPr lang="en-US" sz="1200" dirty="0">
                <a:solidFill>
                  <a:srgbClr val="101034"/>
                </a:solidFill>
                <a:latin typeface="Calibri" pitchFamily="34" charset="0"/>
                <a:ea typeface="Calibri" pitchFamily="34" charset="-122"/>
                <a:cs typeface="Calibri" pitchFamily="34" charset="-120"/>
              </a:rPr>
              <a:t> A continuous value on a scale</a:t>
            </a:r>
            <a:endParaRPr lang="en-US" sz="1200" dirty="0"/>
          </a:p>
        </p:txBody>
      </p:sp>
      <p:sp>
        <p:nvSpPr>
          <p:cNvPr id="28" name="Shape 26"/>
          <p:cNvSpPr/>
          <p:nvPr/>
        </p:nvSpPr>
        <p:spPr>
          <a:xfrm>
            <a:off x="822960" y="5230368"/>
            <a:ext cx="4846320" cy="0"/>
          </a:xfrm>
          <a:prstGeom prst="line">
            <a:avLst/>
          </a:prstGeom>
          <a:noFill/>
          <a:ln w="9525">
            <a:solidFill>
              <a:srgbClr val="7FD3D3"/>
            </a:solidFill>
            <a:prstDash val="solid"/>
          </a:ln>
        </p:spPr>
        <p:txBody>
          <a:bodyPr/>
          <a:lstStyle/>
          <a:p>
            <a:endParaRPr lang="en-US"/>
          </a:p>
        </p:txBody>
      </p:sp>
      <p:sp>
        <p:nvSpPr>
          <p:cNvPr id="29" name="Text 27"/>
          <p:cNvSpPr/>
          <p:nvPr/>
        </p:nvSpPr>
        <p:spPr>
          <a:xfrm>
            <a:off x="822960" y="5285232"/>
            <a:ext cx="4846320" cy="411480"/>
          </a:xfrm>
          <a:prstGeom prst="rect">
            <a:avLst/>
          </a:prstGeom>
          <a:noFill/>
          <a:ln/>
        </p:spPr>
        <p:txBody>
          <a:bodyPr wrap="square" lIns="0" tIns="0" rIns="0" bIns="0" rtlCol="0" anchor="ctr"/>
          <a:lstStyle/>
          <a:p>
            <a:pPr marL="0" indent="0">
              <a:buNone/>
            </a:pPr>
            <a:r>
              <a:rPr lang="en-US" sz="1200" b="1" dirty="0">
                <a:solidFill>
                  <a:srgbClr val="00A6A6"/>
                </a:solidFill>
                <a:latin typeface="Calibri" pitchFamily="34" charset="0"/>
                <a:ea typeface="Calibri" pitchFamily="34" charset="-122"/>
                <a:cs typeface="Calibri" pitchFamily="34" charset="-120"/>
              </a:rPr>
              <a:t>Scored by</a:t>
            </a:r>
            <a:r>
              <a:rPr lang="en-US" sz="1200" dirty="0">
                <a:solidFill>
                  <a:srgbClr val="101034"/>
                </a:solidFill>
                <a:latin typeface="Calibri" pitchFamily="34" charset="0"/>
                <a:ea typeface="Calibri" pitchFamily="34" charset="-122"/>
                <a:cs typeface="Calibri" pitchFamily="34" charset="-120"/>
              </a:rPr>
              <a:t> RMSE, MAE, R²</a:t>
            </a:r>
            <a:endParaRPr lang="en-US" sz="1200" dirty="0"/>
          </a:p>
        </p:txBody>
      </p:sp>
      <p:sp>
        <p:nvSpPr>
          <p:cNvPr id="30" name="Shape 28"/>
          <p:cNvSpPr/>
          <p:nvPr/>
        </p:nvSpPr>
        <p:spPr>
          <a:xfrm>
            <a:off x="822960" y="5715000"/>
            <a:ext cx="4846320" cy="0"/>
          </a:xfrm>
          <a:prstGeom prst="line">
            <a:avLst/>
          </a:prstGeom>
          <a:noFill/>
          <a:ln w="9525">
            <a:solidFill>
              <a:srgbClr val="7FD3D3"/>
            </a:solidFill>
            <a:prstDash val="solid"/>
          </a:ln>
        </p:spPr>
        <p:txBody>
          <a:bodyPr/>
          <a:lstStyle/>
          <a:p>
            <a:endParaRPr lang="en-US"/>
          </a:p>
        </p:txBody>
      </p:sp>
      <p:sp>
        <p:nvSpPr>
          <p:cNvPr id="31" name="Text 29"/>
          <p:cNvSpPr/>
          <p:nvPr/>
        </p:nvSpPr>
        <p:spPr>
          <a:xfrm>
            <a:off x="822960" y="5769864"/>
            <a:ext cx="4846320" cy="411480"/>
          </a:xfrm>
          <a:prstGeom prst="rect">
            <a:avLst/>
          </a:prstGeom>
          <a:noFill/>
          <a:ln/>
        </p:spPr>
        <p:txBody>
          <a:bodyPr wrap="square" lIns="0" tIns="0" rIns="0" bIns="0" rtlCol="0" anchor="ctr"/>
          <a:lstStyle/>
          <a:p>
            <a:pPr marL="0" indent="0">
              <a:buNone/>
            </a:pPr>
            <a:r>
              <a:rPr lang="en-US" sz="1200" b="1" dirty="0">
                <a:solidFill>
                  <a:srgbClr val="00A6A6"/>
                </a:solidFill>
                <a:latin typeface="Calibri" pitchFamily="34" charset="0"/>
                <a:ea typeface="Calibri" pitchFamily="34" charset="-122"/>
                <a:cs typeface="Calibri" pitchFamily="34" charset="-120"/>
              </a:rPr>
              <a:t>Examples</a:t>
            </a:r>
            <a:r>
              <a:rPr lang="en-US" sz="1200" dirty="0">
                <a:solidFill>
                  <a:srgbClr val="101034"/>
                </a:solidFill>
                <a:latin typeface="Calibri" pitchFamily="34" charset="0"/>
                <a:ea typeface="Calibri" pitchFamily="34" charset="-122"/>
                <a:cs typeface="Calibri" pitchFamily="34" charset="-120"/>
              </a:rPr>
              <a:t> House price, demand, expected credit loss</a:t>
            </a:r>
            <a:endParaRPr lang="en-US" sz="1200" dirty="0"/>
          </a:p>
        </p:txBody>
      </p:sp>
      <p:sp>
        <p:nvSpPr>
          <p:cNvPr id="32" name="Shape 30"/>
          <p:cNvSpPr/>
          <p:nvPr/>
        </p:nvSpPr>
        <p:spPr>
          <a:xfrm>
            <a:off x="6245352" y="1572768"/>
            <a:ext cx="5394960" cy="4709160"/>
          </a:xfrm>
          <a:prstGeom prst="roundRect">
            <a:avLst>
              <a:gd name="adj" fmla="val 1748"/>
            </a:avLst>
          </a:prstGeom>
          <a:solidFill>
            <a:srgbClr val="F0F1F9"/>
          </a:solidFill>
          <a:ln w="12700">
            <a:solidFill>
              <a:srgbClr val="9DA0DD"/>
            </a:solidFill>
            <a:prstDash val="solid"/>
          </a:ln>
          <a:effectLst>
            <a:outerShdw blurRad="127000" dist="25400" dir="5400000" algn="bl" rotWithShape="0">
              <a:srgbClr val="9AA0BE">
                <a:alpha val="30000"/>
              </a:srgbClr>
            </a:outerShdw>
          </a:effectLst>
        </p:spPr>
        <p:txBody>
          <a:bodyPr/>
          <a:lstStyle/>
          <a:p>
            <a:endParaRPr lang="en-US"/>
          </a:p>
        </p:txBody>
      </p:sp>
      <p:sp>
        <p:nvSpPr>
          <p:cNvPr id="33" name="Text 31"/>
          <p:cNvSpPr/>
          <p:nvPr/>
        </p:nvSpPr>
        <p:spPr>
          <a:xfrm>
            <a:off x="6519672" y="1719072"/>
            <a:ext cx="4846320" cy="256032"/>
          </a:xfrm>
          <a:prstGeom prst="rect">
            <a:avLst/>
          </a:prstGeom>
          <a:noFill/>
          <a:ln/>
        </p:spPr>
        <p:txBody>
          <a:bodyPr wrap="square" lIns="0" tIns="0" rIns="0" bIns="0" rtlCol="0" anchor="ctr"/>
          <a:lstStyle/>
          <a:p>
            <a:pPr marL="0" indent="0">
              <a:buNone/>
            </a:pPr>
            <a:r>
              <a:rPr lang="en-US" sz="1050" b="1" kern="0" spc="250" dirty="0">
                <a:solidFill>
                  <a:srgbClr val="2A2D7C"/>
                </a:solidFill>
                <a:latin typeface="Arial" pitchFamily="34" charset="0"/>
                <a:ea typeface="Arial" pitchFamily="34" charset="-122"/>
                <a:cs typeface="Arial" pitchFamily="34" charset="-120"/>
              </a:rPr>
              <a:t>CLASSIFICATION</a:t>
            </a:r>
            <a:endParaRPr lang="en-US" sz="1050" dirty="0"/>
          </a:p>
        </p:txBody>
      </p:sp>
      <p:sp>
        <p:nvSpPr>
          <p:cNvPr id="34" name="Text 32"/>
          <p:cNvSpPr/>
          <p:nvPr/>
        </p:nvSpPr>
        <p:spPr>
          <a:xfrm>
            <a:off x="6519672" y="1975104"/>
            <a:ext cx="4846320" cy="384048"/>
          </a:xfrm>
          <a:prstGeom prst="rect">
            <a:avLst/>
          </a:prstGeom>
          <a:noFill/>
          <a:ln/>
        </p:spPr>
        <p:txBody>
          <a:bodyPr wrap="square" lIns="0" tIns="0" rIns="0" bIns="0" rtlCol="0" anchor="ctr"/>
          <a:lstStyle/>
          <a:p>
            <a:pPr marL="0" indent="0">
              <a:buNone/>
            </a:pPr>
            <a:r>
              <a:rPr lang="en-US" sz="2000" b="1" dirty="0">
                <a:solidFill>
                  <a:srgbClr val="101034"/>
                </a:solidFill>
                <a:latin typeface="Arial" pitchFamily="34" charset="0"/>
                <a:ea typeface="Arial" pitchFamily="34" charset="-122"/>
                <a:cs typeface="Arial" pitchFamily="34" charset="-120"/>
              </a:rPr>
              <a:t>Predict a category</a:t>
            </a:r>
            <a:endParaRPr lang="en-US" sz="2000" dirty="0"/>
          </a:p>
        </p:txBody>
      </p:sp>
      <p:sp>
        <p:nvSpPr>
          <p:cNvPr id="35" name="Shape 33"/>
          <p:cNvSpPr/>
          <p:nvPr/>
        </p:nvSpPr>
        <p:spPr>
          <a:xfrm>
            <a:off x="7114032" y="3886200"/>
            <a:ext cx="3794760" cy="0"/>
          </a:xfrm>
          <a:prstGeom prst="line">
            <a:avLst/>
          </a:prstGeom>
          <a:noFill/>
          <a:ln w="15875">
            <a:solidFill>
              <a:srgbClr val="B8BCD4"/>
            </a:solidFill>
            <a:prstDash val="solid"/>
          </a:ln>
        </p:spPr>
        <p:txBody>
          <a:bodyPr/>
          <a:lstStyle/>
          <a:p>
            <a:endParaRPr lang="en-US"/>
          </a:p>
        </p:txBody>
      </p:sp>
      <p:sp>
        <p:nvSpPr>
          <p:cNvPr id="36" name="Shape 34"/>
          <p:cNvSpPr/>
          <p:nvPr/>
        </p:nvSpPr>
        <p:spPr>
          <a:xfrm>
            <a:off x="7114032" y="2651760"/>
            <a:ext cx="0" cy="1234440"/>
          </a:xfrm>
          <a:prstGeom prst="line">
            <a:avLst/>
          </a:prstGeom>
          <a:noFill/>
          <a:ln w="15875">
            <a:solidFill>
              <a:srgbClr val="B8BCD4"/>
            </a:solidFill>
            <a:prstDash val="solid"/>
          </a:ln>
        </p:spPr>
        <p:txBody>
          <a:bodyPr/>
          <a:lstStyle/>
          <a:p>
            <a:endParaRPr lang="en-US"/>
          </a:p>
        </p:txBody>
      </p:sp>
      <p:sp>
        <p:nvSpPr>
          <p:cNvPr id="37" name="Text 35"/>
          <p:cNvSpPr/>
          <p:nvPr/>
        </p:nvSpPr>
        <p:spPr>
          <a:xfrm>
            <a:off x="6519672" y="2606040"/>
            <a:ext cx="685800" cy="237744"/>
          </a:xfrm>
          <a:prstGeom prst="rect">
            <a:avLst/>
          </a:prstGeom>
          <a:noFill/>
          <a:ln/>
        </p:spPr>
        <p:txBody>
          <a:bodyPr wrap="square" lIns="0" tIns="0" rIns="0" bIns="0" rtlCol="0" anchor="ctr"/>
          <a:lstStyle/>
          <a:p>
            <a:pPr marL="0" indent="0">
              <a:buNone/>
            </a:pPr>
            <a:r>
              <a:rPr lang="en-US" sz="900" dirty="0">
                <a:solidFill>
                  <a:srgbClr val="5A5F73"/>
                </a:solidFill>
                <a:latin typeface="Calibri" pitchFamily="34" charset="0"/>
                <a:ea typeface="Calibri" pitchFamily="34" charset="-122"/>
                <a:cs typeface="Calibri" pitchFamily="34" charset="-120"/>
              </a:rPr>
              <a:t>Income</a:t>
            </a:r>
            <a:endParaRPr lang="en-US" sz="900" dirty="0"/>
          </a:p>
        </p:txBody>
      </p:sp>
      <p:sp>
        <p:nvSpPr>
          <p:cNvPr id="38" name="Text 36"/>
          <p:cNvSpPr/>
          <p:nvPr/>
        </p:nvSpPr>
        <p:spPr>
          <a:xfrm>
            <a:off x="7114032" y="3922776"/>
            <a:ext cx="3794760" cy="237744"/>
          </a:xfrm>
          <a:prstGeom prst="rect">
            <a:avLst/>
          </a:prstGeom>
          <a:noFill/>
          <a:ln/>
        </p:spPr>
        <p:txBody>
          <a:bodyPr wrap="square" lIns="0" tIns="0" rIns="0" bIns="0" rtlCol="0" anchor="ctr"/>
          <a:lstStyle/>
          <a:p>
            <a:pPr marL="0" indent="0" algn="r">
              <a:buNone/>
            </a:pPr>
            <a:r>
              <a:rPr lang="en-US" sz="900" dirty="0">
                <a:solidFill>
                  <a:srgbClr val="5A5F73"/>
                </a:solidFill>
                <a:latin typeface="Calibri" pitchFamily="34" charset="0"/>
                <a:ea typeface="Calibri" pitchFamily="34" charset="-122"/>
                <a:cs typeface="Calibri" pitchFamily="34" charset="-120"/>
              </a:rPr>
              <a:t>Credit history</a:t>
            </a:r>
            <a:endParaRPr lang="en-US" sz="900" dirty="0"/>
          </a:p>
        </p:txBody>
      </p:sp>
      <p:sp>
        <p:nvSpPr>
          <p:cNvPr id="39" name="Shape 37"/>
          <p:cNvSpPr/>
          <p:nvPr/>
        </p:nvSpPr>
        <p:spPr>
          <a:xfrm>
            <a:off x="7417613" y="2750515"/>
            <a:ext cx="3339389" cy="1110996"/>
          </a:xfrm>
          <a:prstGeom prst="line">
            <a:avLst/>
          </a:prstGeom>
          <a:noFill/>
          <a:ln w="22225">
            <a:solidFill>
              <a:srgbClr val="101034"/>
            </a:solidFill>
            <a:prstDash val="dash"/>
          </a:ln>
        </p:spPr>
        <p:txBody>
          <a:bodyPr/>
          <a:lstStyle/>
          <a:p>
            <a:endParaRPr lang="en-US"/>
          </a:p>
        </p:txBody>
      </p:sp>
      <p:sp>
        <p:nvSpPr>
          <p:cNvPr id="40" name="Shape 38"/>
          <p:cNvSpPr/>
          <p:nvPr/>
        </p:nvSpPr>
        <p:spPr>
          <a:xfrm>
            <a:off x="7434072" y="3604565"/>
            <a:ext cx="118872" cy="118872"/>
          </a:xfrm>
          <a:prstGeom prst="ellipse">
            <a:avLst/>
          </a:prstGeom>
          <a:solidFill>
            <a:srgbClr val="2A2D7C"/>
          </a:solidFill>
          <a:ln w="9525">
            <a:solidFill>
              <a:srgbClr val="FFFFFF"/>
            </a:solidFill>
            <a:prstDash val="solid"/>
          </a:ln>
        </p:spPr>
        <p:txBody>
          <a:bodyPr/>
          <a:lstStyle/>
          <a:p>
            <a:endParaRPr lang="en-US"/>
          </a:p>
        </p:txBody>
      </p:sp>
      <p:sp>
        <p:nvSpPr>
          <p:cNvPr id="41" name="Shape 39"/>
          <p:cNvSpPr/>
          <p:nvPr/>
        </p:nvSpPr>
        <p:spPr>
          <a:xfrm>
            <a:off x="7737653" y="3407054"/>
            <a:ext cx="118872" cy="118872"/>
          </a:xfrm>
          <a:prstGeom prst="ellipse">
            <a:avLst/>
          </a:prstGeom>
          <a:solidFill>
            <a:srgbClr val="2A2D7C"/>
          </a:solidFill>
          <a:ln w="9525">
            <a:solidFill>
              <a:srgbClr val="FFFFFF"/>
            </a:solidFill>
            <a:prstDash val="solid"/>
          </a:ln>
        </p:spPr>
        <p:txBody>
          <a:bodyPr/>
          <a:lstStyle/>
          <a:p>
            <a:endParaRPr lang="en-US"/>
          </a:p>
        </p:txBody>
      </p:sp>
      <p:sp>
        <p:nvSpPr>
          <p:cNvPr id="42" name="Shape 40"/>
          <p:cNvSpPr/>
          <p:nvPr/>
        </p:nvSpPr>
        <p:spPr>
          <a:xfrm>
            <a:off x="8003286" y="3641598"/>
            <a:ext cx="118872" cy="118872"/>
          </a:xfrm>
          <a:prstGeom prst="ellipse">
            <a:avLst/>
          </a:prstGeom>
          <a:solidFill>
            <a:srgbClr val="2A2D7C"/>
          </a:solidFill>
          <a:ln w="9525">
            <a:solidFill>
              <a:srgbClr val="FFFFFF"/>
            </a:solidFill>
            <a:prstDash val="solid"/>
          </a:ln>
        </p:spPr>
        <p:txBody>
          <a:bodyPr/>
          <a:lstStyle/>
          <a:p>
            <a:endParaRPr lang="en-US"/>
          </a:p>
        </p:txBody>
      </p:sp>
      <p:sp>
        <p:nvSpPr>
          <p:cNvPr id="43" name="Shape 41"/>
          <p:cNvSpPr/>
          <p:nvPr/>
        </p:nvSpPr>
        <p:spPr>
          <a:xfrm>
            <a:off x="8193024" y="3332988"/>
            <a:ext cx="118872" cy="118872"/>
          </a:xfrm>
          <a:prstGeom prst="ellipse">
            <a:avLst/>
          </a:prstGeom>
          <a:solidFill>
            <a:srgbClr val="2A2D7C"/>
          </a:solidFill>
          <a:ln w="9525">
            <a:solidFill>
              <a:srgbClr val="FFFFFF"/>
            </a:solidFill>
            <a:prstDash val="solid"/>
          </a:ln>
        </p:spPr>
        <p:txBody>
          <a:bodyPr/>
          <a:lstStyle/>
          <a:p>
            <a:endParaRPr lang="en-US"/>
          </a:p>
        </p:txBody>
      </p:sp>
      <p:sp>
        <p:nvSpPr>
          <p:cNvPr id="44" name="Shape 42"/>
          <p:cNvSpPr/>
          <p:nvPr/>
        </p:nvSpPr>
        <p:spPr>
          <a:xfrm>
            <a:off x="7585862" y="3234233"/>
            <a:ext cx="118872" cy="118872"/>
          </a:xfrm>
          <a:prstGeom prst="ellipse">
            <a:avLst/>
          </a:prstGeom>
          <a:solidFill>
            <a:srgbClr val="2A2D7C"/>
          </a:solidFill>
          <a:ln w="9525">
            <a:solidFill>
              <a:srgbClr val="FFFFFF"/>
            </a:solidFill>
            <a:prstDash val="solid"/>
          </a:ln>
        </p:spPr>
        <p:txBody>
          <a:bodyPr/>
          <a:lstStyle/>
          <a:p>
            <a:endParaRPr lang="en-US"/>
          </a:p>
        </p:txBody>
      </p:sp>
      <p:sp>
        <p:nvSpPr>
          <p:cNvPr id="45" name="Shape 43"/>
          <p:cNvSpPr/>
          <p:nvPr/>
        </p:nvSpPr>
        <p:spPr>
          <a:xfrm>
            <a:off x="8420710" y="3505810"/>
            <a:ext cx="118872" cy="118872"/>
          </a:xfrm>
          <a:prstGeom prst="ellipse">
            <a:avLst/>
          </a:prstGeom>
          <a:solidFill>
            <a:srgbClr val="2A2D7C"/>
          </a:solidFill>
          <a:ln w="9525">
            <a:solidFill>
              <a:srgbClr val="FFFFFF"/>
            </a:solidFill>
            <a:prstDash val="solid"/>
          </a:ln>
        </p:spPr>
        <p:txBody>
          <a:bodyPr/>
          <a:lstStyle/>
          <a:p>
            <a:endParaRPr lang="en-US"/>
          </a:p>
        </p:txBody>
      </p:sp>
      <p:sp>
        <p:nvSpPr>
          <p:cNvPr id="46" name="Shape 44"/>
          <p:cNvSpPr/>
          <p:nvPr/>
        </p:nvSpPr>
        <p:spPr>
          <a:xfrm>
            <a:off x="7889443" y="3086100"/>
            <a:ext cx="118872" cy="118872"/>
          </a:xfrm>
          <a:prstGeom prst="ellipse">
            <a:avLst/>
          </a:prstGeom>
          <a:solidFill>
            <a:srgbClr val="2A2D7C"/>
          </a:solidFill>
          <a:ln w="9525">
            <a:solidFill>
              <a:srgbClr val="FFFFFF"/>
            </a:solidFill>
            <a:prstDash val="solid"/>
          </a:ln>
        </p:spPr>
        <p:txBody>
          <a:bodyPr/>
          <a:lstStyle/>
          <a:p>
            <a:endParaRPr lang="en-US"/>
          </a:p>
        </p:txBody>
      </p:sp>
      <p:sp>
        <p:nvSpPr>
          <p:cNvPr id="47" name="Shape 45"/>
          <p:cNvSpPr/>
          <p:nvPr/>
        </p:nvSpPr>
        <p:spPr>
          <a:xfrm>
            <a:off x="8686343" y="3666287"/>
            <a:ext cx="118872" cy="118872"/>
          </a:xfrm>
          <a:prstGeom prst="ellipse">
            <a:avLst/>
          </a:prstGeom>
          <a:solidFill>
            <a:srgbClr val="2A2D7C"/>
          </a:solidFill>
          <a:ln w="9525">
            <a:solidFill>
              <a:srgbClr val="FFFFFF"/>
            </a:solidFill>
            <a:prstDash val="solid"/>
          </a:ln>
        </p:spPr>
        <p:txBody>
          <a:bodyPr/>
          <a:lstStyle/>
          <a:p>
            <a:endParaRPr lang="en-US"/>
          </a:p>
        </p:txBody>
      </p:sp>
      <p:sp>
        <p:nvSpPr>
          <p:cNvPr id="48" name="Shape 46"/>
          <p:cNvSpPr/>
          <p:nvPr/>
        </p:nvSpPr>
        <p:spPr>
          <a:xfrm>
            <a:off x="9407347" y="2789834"/>
            <a:ext cx="118872" cy="118872"/>
          </a:xfrm>
          <a:prstGeom prst="ellipse">
            <a:avLst/>
          </a:prstGeom>
          <a:solidFill>
            <a:srgbClr val="E09400"/>
          </a:solidFill>
          <a:ln w="9525">
            <a:solidFill>
              <a:srgbClr val="FFFFFF"/>
            </a:solidFill>
            <a:prstDash val="solid"/>
          </a:ln>
        </p:spPr>
        <p:txBody>
          <a:bodyPr/>
          <a:lstStyle/>
          <a:p>
            <a:endParaRPr lang="en-US"/>
          </a:p>
        </p:txBody>
      </p:sp>
      <p:sp>
        <p:nvSpPr>
          <p:cNvPr id="49" name="Shape 47"/>
          <p:cNvSpPr/>
          <p:nvPr/>
        </p:nvSpPr>
        <p:spPr>
          <a:xfrm>
            <a:off x="9710928" y="3086100"/>
            <a:ext cx="118872" cy="118872"/>
          </a:xfrm>
          <a:prstGeom prst="ellipse">
            <a:avLst/>
          </a:prstGeom>
          <a:solidFill>
            <a:srgbClr val="E09400"/>
          </a:solidFill>
          <a:ln w="9525">
            <a:solidFill>
              <a:srgbClr val="FFFFFF"/>
            </a:solidFill>
            <a:prstDash val="solid"/>
          </a:ln>
        </p:spPr>
        <p:txBody>
          <a:bodyPr/>
          <a:lstStyle/>
          <a:p>
            <a:endParaRPr lang="en-US"/>
          </a:p>
        </p:txBody>
      </p:sp>
      <p:sp>
        <p:nvSpPr>
          <p:cNvPr id="50" name="Shape 48"/>
          <p:cNvSpPr/>
          <p:nvPr/>
        </p:nvSpPr>
        <p:spPr>
          <a:xfrm>
            <a:off x="10014509" y="2863901"/>
            <a:ext cx="118872" cy="118872"/>
          </a:xfrm>
          <a:prstGeom prst="ellipse">
            <a:avLst/>
          </a:prstGeom>
          <a:solidFill>
            <a:srgbClr val="E09400"/>
          </a:solidFill>
          <a:ln w="9525">
            <a:solidFill>
              <a:srgbClr val="FFFFFF"/>
            </a:solidFill>
            <a:prstDash val="solid"/>
          </a:ln>
        </p:spPr>
        <p:txBody>
          <a:bodyPr/>
          <a:lstStyle/>
          <a:p>
            <a:endParaRPr lang="en-US"/>
          </a:p>
        </p:txBody>
      </p:sp>
      <p:sp>
        <p:nvSpPr>
          <p:cNvPr id="51" name="Shape 49"/>
          <p:cNvSpPr/>
          <p:nvPr/>
        </p:nvSpPr>
        <p:spPr>
          <a:xfrm>
            <a:off x="10318090" y="3160166"/>
            <a:ext cx="118872" cy="118872"/>
          </a:xfrm>
          <a:prstGeom prst="ellipse">
            <a:avLst/>
          </a:prstGeom>
          <a:solidFill>
            <a:srgbClr val="E09400"/>
          </a:solidFill>
          <a:ln w="9525">
            <a:solidFill>
              <a:srgbClr val="FFFFFF"/>
            </a:solidFill>
            <a:prstDash val="solid"/>
          </a:ln>
        </p:spPr>
        <p:txBody>
          <a:bodyPr/>
          <a:lstStyle/>
          <a:p>
            <a:endParaRPr lang="en-US"/>
          </a:p>
        </p:txBody>
      </p:sp>
      <p:sp>
        <p:nvSpPr>
          <p:cNvPr id="52" name="Shape 50"/>
          <p:cNvSpPr/>
          <p:nvPr/>
        </p:nvSpPr>
        <p:spPr>
          <a:xfrm>
            <a:off x="9635033" y="3308299"/>
            <a:ext cx="118872" cy="118872"/>
          </a:xfrm>
          <a:prstGeom prst="ellipse">
            <a:avLst/>
          </a:prstGeom>
          <a:solidFill>
            <a:srgbClr val="E09400"/>
          </a:solidFill>
          <a:ln w="9525">
            <a:solidFill>
              <a:srgbClr val="FFFFFF"/>
            </a:solidFill>
            <a:prstDash val="solid"/>
          </a:ln>
        </p:spPr>
        <p:txBody>
          <a:bodyPr/>
          <a:lstStyle/>
          <a:p>
            <a:endParaRPr lang="en-US"/>
          </a:p>
        </p:txBody>
      </p:sp>
      <p:sp>
        <p:nvSpPr>
          <p:cNvPr id="53" name="Shape 51"/>
          <p:cNvSpPr/>
          <p:nvPr/>
        </p:nvSpPr>
        <p:spPr>
          <a:xfrm>
            <a:off x="10469880" y="2962656"/>
            <a:ext cx="118872" cy="118872"/>
          </a:xfrm>
          <a:prstGeom prst="ellipse">
            <a:avLst/>
          </a:prstGeom>
          <a:solidFill>
            <a:srgbClr val="E09400"/>
          </a:solidFill>
          <a:ln w="9525">
            <a:solidFill>
              <a:srgbClr val="FFFFFF"/>
            </a:solidFill>
            <a:prstDash val="solid"/>
          </a:ln>
        </p:spPr>
        <p:txBody>
          <a:bodyPr/>
          <a:lstStyle/>
          <a:p>
            <a:endParaRPr lang="en-US"/>
          </a:p>
        </p:txBody>
      </p:sp>
      <p:sp>
        <p:nvSpPr>
          <p:cNvPr id="54" name="Shape 52"/>
          <p:cNvSpPr/>
          <p:nvPr/>
        </p:nvSpPr>
        <p:spPr>
          <a:xfrm>
            <a:off x="9141714" y="3012034"/>
            <a:ext cx="118872" cy="118872"/>
          </a:xfrm>
          <a:prstGeom prst="ellipse">
            <a:avLst/>
          </a:prstGeom>
          <a:solidFill>
            <a:srgbClr val="E09400"/>
          </a:solidFill>
          <a:ln w="9525">
            <a:solidFill>
              <a:srgbClr val="FFFFFF"/>
            </a:solidFill>
            <a:prstDash val="solid"/>
          </a:ln>
        </p:spPr>
        <p:txBody>
          <a:bodyPr/>
          <a:lstStyle/>
          <a:p>
            <a:endParaRPr lang="en-US"/>
          </a:p>
        </p:txBody>
      </p:sp>
      <p:sp>
        <p:nvSpPr>
          <p:cNvPr id="55" name="Shape 53"/>
          <p:cNvSpPr/>
          <p:nvPr/>
        </p:nvSpPr>
        <p:spPr>
          <a:xfrm>
            <a:off x="10090404" y="2740457"/>
            <a:ext cx="118872" cy="118872"/>
          </a:xfrm>
          <a:prstGeom prst="ellipse">
            <a:avLst/>
          </a:prstGeom>
          <a:solidFill>
            <a:srgbClr val="E09400"/>
          </a:solidFill>
          <a:ln w="9525">
            <a:solidFill>
              <a:srgbClr val="FFFFFF"/>
            </a:solidFill>
            <a:prstDash val="solid"/>
          </a:ln>
        </p:spPr>
        <p:txBody>
          <a:bodyPr/>
          <a:lstStyle/>
          <a:p>
            <a:endParaRPr lang="en-US"/>
          </a:p>
        </p:txBody>
      </p:sp>
      <p:sp>
        <p:nvSpPr>
          <p:cNvPr id="56" name="Text 54"/>
          <p:cNvSpPr/>
          <p:nvPr/>
        </p:nvSpPr>
        <p:spPr>
          <a:xfrm>
            <a:off x="7114032" y="4142232"/>
            <a:ext cx="3794760" cy="237744"/>
          </a:xfrm>
          <a:prstGeom prst="rect">
            <a:avLst/>
          </a:prstGeom>
          <a:noFill/>
          <a:ln/>
        </p:spPr>
        <p:txBody>
          <a:bodyPr wrap="square" lIns="0" tIns="0" rIns="0" bIns="0" rtlCol="0" anchor="ctr"/>
          <a:lstStyle/>
          <a:p>
            <a:pPr marL="0" indent="0">
              <a:buNone/>
            </a:pPr>
            <a:r>
              <a:rPr lang="en-US" sz="950" i="1" dirty="0">
                <a:solidFill>
                  <a:srgbClr val="2A2D7C"/>
                </a:solidFill>
                <a:latin typeface="Calibri" pitchFamily="34" charset="0"/>
                <a:ea typeface="Calibri" pitchFamily="34" charset="-122"/>
                <a:cs typeface="Calibri" pitchFamily="34" charset="-120"/>
              </a:rPr>
              <a:t>a boundary between groups → which side is it on?</a:t>
            </a:r>
            <a:endParaRPr lang="en-US" sz="950" dirty="0"/>
          </a:p>
        </p:txBody>
      </p:sp>
      <p:sp>
        <p:nvSpPr>
          <p:cNvPr id="57" name="Text 55"/>
          <p:cNvSpPr/>
          <p:nvPr/>
        </p:nvSpPr>
        <p:spPr>
          <a:xfrm>
            <a:off x="6519672" y="4315968"/>
            <a:ext cx="4846320" cy="411480"/>
          </a:xfrm>
          <a:prstGeom prst="rect">
            <a:avLst/>
          </a:prstGeom>
          <a:noFill/>
          <a:ln/>
        </p:spPr>
        <p:txBody>
          <a:bodyPr wrap="square" lIns="0" tIns="0" rIns="0" bIns="0" rtlCol="0" anchor="ctr"/>
          <a:lstStyle/>
          <a:p>
            <a:pPr marL="0" indent="0">
              <a:buNone/>
            </a:pPr>
            <a:r>
              <a:rPr lang="en-US" sz="1200" b="1" dirty="0">
                <a:solidFill>
                  <a:srgbClr val="2A2D7C"/>
                </a:solidFill>
                <a:latin typeface="Calibri" pitchFamily="34" charset="0"/>
                <a:ea typeface="Calibri" pitchFamily="34" charset="-122"/>
                <a:cs typeface="Calibri" pitchFamily="34" charset="-120"/>
              </a:rPr>
              <a:t>Asks</a:t>
            </a:r>
            <a:r>
              <a:rPr lang="en-US" sz="1200" dirty="0">
                <a:solidFill>
                  <a:srgbClr val="101034"/>
                </a:solidFill>
                <a:latin typeface="Calibri" pitchFamily="34" charset="0"/>
                <a:ea typeface="Calibri" pitchFamily="34" charset="-122"/>
                <a:cs typeface="Calibri" pitchFamily="34" charset="-120"/>
              </a:rPr>
              <a:t> Which one? Yes or no?</a:t>
            </a:r>
            <a:endParaRPr lang="en-US" sz="1200" dirty="0"/>
          </a:p>
        </p:txBody>
      </p:sp>
      <p:sp>
        <p:nvSpPr>
          <p:cNvPr id="58" name="Shape 56"/>
          <p:cNvSpPr/>
          <p:nvPr/>
        </p:nvSpPr>
        <p:spPr>
          <a:xfrm>
            <a:off x="6519672" y="4745736"/>
            <a:ext cx="4846320" cy="0"/>
          </a:xfrm>
          <a:prstGeom prst="line">
            <a:avLst/>
          </a:prstGeom>
          <a:noFill/>
          <a:ln w="9525">
            <a:solidFill>
              <a:srgbClr val="9DA0DD"/>
            </a:solidFill>
            <a:prstDash val="solid"/>
          </a:ln>
        </p:spPr>
        <p:txBody>
          <a:bodyPr/>
          <a:lstStyle/>
          <a:p>
            <a:endParaRPr lang="en-US"/>
          </a:p>
        </p:txBody>
      </p:sp>
      <p:sp>
        <p:nvSpPr>
          <p:cNvPr id="59" name="Text 57"/>
          <p:cNvSpPr/>
          <p:nvPr/>
        </p:nvSpPr>
        <p:spPr>
          <a:xfrm>
            <a:off x="6519672" y="4800600"/>
            <a:ext cx="4846320" cy="411480"/>
          </a:xfrm>
          <a:prstGeom prst="rect">
            <a:avLst/>
          </a:prstGeom>
          <a:noFill/>
          <a:ln/>
        </p:spPr>
        <p:txBody>
          <a:bodyPr wrap="square" lIns="0" tIns="0" rIns="0" bIns="0" rtlCol="0" anchor="ctr"/>
          <a:lstStyle/>
          <a:p>
            <a:pPr marL="0" indent="0">
              <a:buNone/>
            </a:pPr>
            <a:r>
              <a:rPr lang="en-US" sz="1200" b="1" dirty="0">
                <a:solidFill>
                  <a:srgbClr val="2A2D7C"/>
                </a:solidFill>
                <a:latin typeface="Calibri" pitchFamily="34" charset="0"/>
                <a:ea typeface="Calibri" pitchFamily="34" charset="-122"/>
                <a:cs typeface="Calibri" pitchFamily="34" charset="-120"/>
              </a:rPr>
              <a:t>Output</a:t>
            </a:r>
            <a:r>
              <a:rPr lang="en-US" sz="1200" dirty="0">
                <a:solidFill>
                  <a:srgbClr val="101034"/>
                </a:solidFill>
                <a:latin typeface="Calibri" pitchFamily="34" charset="0"/>
                <a:ea typeface="Calibri" pitchFamily="34" charset="-122"/>
                <a:cs typeface="Calibri" pitchFamily="34" charset="-120"/>
              </a:rPr>
              <a:t> A label plus a confidence score</a:t>
            </a:r>
            <a:endParaRPr lang="en-US" sz="1200" dirty="0"/>
          </a:p>
        </p:txBody>
      </p:sp>
      <p:sp>
        <p:nvSpPr>
          <p:cNvPr id="60" name="Shape 58"/>
          <p:cNvSpPr/>
          <p:nvPr/>
        </p:nvSpPr>
        <p:spPr>
          <a:xfrm>
            <a:off x="6519672" y="5230368"/>
            <a:ext cx="4846320" cy="0"/>
          </a:xfrm>
          <a:prstGeom prst="line">
            <a:avLst/>
          </a:prstGeom>
          <a:noFill/>
          <a:ln w="9525">
            <a:solidFill>
              <a:srgbClr val="9DA0DD"/>
            </a:solidFill>
            <a:prstDash val="solid"/>
          </a:ln>
        </p:spPr>
        <p:txBody>
          <a:bodyPr/>
          <a:lstStyle/>
          <a:p>
            <a:endParaRPr lang="en-US"/>
          </a:p>
        </p:txBody>
      </p:sp>
      <p:sp>
        <p:nvSpPr>
          <p:cNvPr id="61" name="Text 59"/>
          <p:cNvSpPr/>
          <p:nvPr/>
        </p:nvSpPr>
        <p:spPr>
          <a:xfrm>
            <a:off x="6519672" y="5285232"/>
            <a:ext cx="4846320" cy="411480"/>
          </a:xfrm>
          <a:prstGeom prst="rect">
            <a:avLst/>
          </a:prstGeom>
          <a:noFill/>
          <a:ln/>
        </p:spPr>
        <p:txBody>
          <a:bodyPr wrap="square" lIns="0" tIns="0" rIns="0" bIns="0" rtlCol="0" anchor="ctr"/>
          <a:lstStyle/>
          <a:p>
            <a:pPr marL="0" indent="0">
              <a:buNone/>
            </a:pPr>
            <a:r>
              <a:rPr lang="en-US" sz="1200" b="1" dirty="0">
                <a:solidFill>
                  <a:srgbClr val="2A2D7C"/>
                </a:solidFill>
                <a:latin typeface="Calibri" pitchFamily="34" charset="0"/>
                <a:ea typeface="Calibri" pitchFamily="34" charset="-122"/>
                <a:cs typeface="Calibri" pitchFamily="34" charset="-120"/>
              </a:rPr>
              <a:t>Scored by</a:t>
            </a:r>
            <a:r>
              <a:rPr lang="en-US" sz="1200" dirty="0">
                <a:solidFill>
                  <a:srgbClr val="101034"/>
                </a:solidFill>
                <a:latin typeface="Calibri" pitchFamily="34" charset="0"/>
                <a:ea typeface="Calibri" pitchFamily="34" charset="-122"/>
                <a:cs typeface="Calibri" pitchFamily="34" charset="-120"/>
              </a:rPr>
              <a:t> Accuracy, precision, recall, AUC</a:t>
            </a:r>
            <a:endParaRPr lang="en-US" sz="1200" dirty="0"/>
          </a:p>
        </p:txBody>
      </p:sp>
      <p:sp>
        <p:nvSpPr>
          <p:cNvPr id="62" name="Shape 60"/>
          <p:cNvSpPr/>
          <p:nvPr/>
        </p:nvSpPr>
        <p:spPr>
          <a:xfrm>
            <a:off x="6519672" y="5715000"/>
            <a:ext cx="4846320" cy="0"/>
          </a:xfrm>
          <a:prstGeom prst="line">
            <a:avLst/>
          </a:prstGeom>
          <a:noFill/>
          <a:ln w="9525">
            <a:solidFill>
              <a:srgbClr val="9DA0DD"/>
            </a:solidFill>
            <a:prstDash val="solid"/>
          </a:ln>
        </p:spPr>
        <p:txBody>
          <a:bodyPr/>
          <a:lstStyle/>
          <a:p>
            <a:endParaRPr lang="en-US"/>
          </a:p>
        </p:txBody>
      </p:sp>
      <p:sp>
        <p:nvSpPr>
          <p:cNvPr id="63" name="Text 61"/>
          <p:cNvSpPr/>
          <p:nvPr/>
        </p:nvSpPr>
        <p:spPr>
          <a:xfrm>
            <a:off x="6519672" y="5769864"/>
            <a:ext cx="4846320" cy="411480"/>
          </a:xfrm>
          <a:prstGeom prst="rect">
            <a:avLst/>
          </a:prstGeom>
          <a:noFill/>
          <a:ln/>
        </p:spPr>
        <p:txBody>
          <a:bodyPr wrap="square" lIns="0" tIns="0" rIns="0" bIns="0" rtlCol="0" anchor="ctr"/>
          <a:lstStyle/>
          <a:p>
            <a:pPr marL="0" indent="0">
              <a:buNone/>
            </a:pPr>
            <a:r>
              <a:rPr lang="en-US" sz="1200" b="1" dirty="0">
                <a:solidFill>
                  <a:srgbClr val="2A2D7C"/>
                </a:solidFill>
                <a:latin typeface="Calibri" pitchFamily="34" charset="0"/>
                <a:ea typeface="Calibri" pitchFamily="34" charset="-122"/>
                <a:cs typeface="Calibri" pitchFamily="34" charset="-120"/>
              </a:rPr>
              <a:t>Examples</a:t>
            </a:r>
            <a:r>
              <a:rPr lang="en-US" sz="1200" dirty="0">
                <a:solidFill>
                  <a:srgbClr val="101034"/>
                </a:solidFill>
                <a:latin typeface="Calibri" pitchFamily="34" charset="0"/>
                <a:ea typeface="Calibri" pitchFamily="34" charset="-122"/>
                <a:cs typeface="Calibri" pitchFamily="34" charset="-120"/>
              </a:rPr>
              <a:t> Fraud or not, churn risk, ticket routing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Regression up close</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Fit a line, minimise the gaps, then read predictions off the line</a:t>
            </a:r>
            <a:endParaRPr lang="en-US" sz="1400" dirty="0"/>
          </a:p>
        </p:txBody>
      </p:sp>
      <p:sp>
        <p:nvSpPr>
          <p:cNvPr id="4" name="Shape 2"/>
          <p:cNvSpPr/>
          <p:nvPr/>
        </p:nvSpPr>
        <p:spPr>
          <a:xfrm>
            <a:off x="1234440" y="5120640"/>
            <a:ext cx="4754880" cy="0"/>
          </a:xfrm>
          <a:prstGeom prst="line">
            <a:avLst/>
          </a:prstGeom>
          <a:noFill/>
          <a:ln w="15875">
            <a:solidFill>
              <a:srgbClr val="B8BCD4"/>
            </a:solidFill>
            <a:prstDash val="solid"/>
          </a:ln>
        </p:spPr>
        <p:txBody>
          <a:bodyPr/>
          <a:lstStyle/>
          <a:p>
            <a:endParaRPr lang="en-US"/>
          </a:p>
        </p:txBody>
      </p:sp>
      <p:sp>
        <p:nvSpPr>
          <p:cNvPr id="5" name="Shape 3"/>
          <p:cNvSpPr/>
          <p:nvPr/>
        </p:nvSpPr>
        <p:spPr>
          <a:xfrm>
            <a:off x="1234440" y="2057400"/>
            <a:ext cx="0" cy="3063240"/>
          </a:xfrm>
          <a:prstGeom prst="line">
            <a:avLst/>
          </a:prstGeom>
          <a:noFill/>
          <a:ln w="15875">
            <a:solidFill>
              <a:srgbClr val="B8BCD4"/>
            </a:solidFill>
            <a:prstDash val="solid"/>
          </a:ln>
        </p:spPr>
        <p:txBody>
          <a:bodyPr/>
          <a:lstStyle/>
          <a:p>
            <a:endParaRPr lang="en-US"/>
          </a:p>
        </p:txBody>
      </p:sp>
      <p:sp>
        <p:nvSpPr>
          <p:cNvPr id="6" name="Text 4"/>
          <p:cNvSpPr/>
          <p:nvPr/>
        </p:nvSpPr>
        <p:spPr>
          <a:xfrm>
            <a:off x="548640" y="2011680"/>
            <a:ext cx="731520" cy="237744"/>
          </a:xfrm>
          <a:prstGeom prst="rect">
            <a:avLst/>
          </a:prstGeom>
          <a:noFill/>
          <a:ln/>
        </p:spPr>
        <p:txBody>
          <a:bodyPr wrap="square" lIns="0" tIns="0" rIns="0" bIns="0" rtlCol="0" anchor="ctr"/>
          <a:lstStyle/>
          <a:p>
            <a:pPr marL="0" indent="0">
              <a:buNone/>
            </a:pPr>
            <a:r>
              <a:rPr lang="en-US" sz="1000" b="1" dirty="0">
                <a:solidFill>
                  <a:srgbClr val="5A5F73"/>
                </a:solidFill>
                <a:latin typeface="Calibri" pitchFamily="34" charset="0"/>
                <a:ea typeface="Calibri" pitchFamily="34" charset="-122"/>
                <a:cs typeface="Calibri" pitchFamily="34" charset="-120"/>
              </a:rPr>
              <a:t>Price</a:t>
            </a:r>
            <a:endParaRPr lang="en-US" sz="1000" dirty="0"/>
          </a:p>
        </p:txBody>
      </p:sp>
      <p:sp>
        <p:nvSpPr>
          <p:cNvPr id="7" name="Text 5"/>
          <p:cNvSpPr/>
          <p:nvPr/>
        </p:nvSpPr>
        <p:spPr>
          <a:xfrm>
            <a:off x="1234440" y="5193792"/>
            <a:ext cx="4754880" cy="256032"/>
          </a:xfrm>
          <a:prstGeom prst="rect">
            <a:avLst/>
          </a:prstGeom>
          <a:noFill/>
          <a:ln/>
        </p:spPr>
        <p:txBody>
          <a:bodyPr wrap="square" lIns="0" tIns="0" rIns="0" bIns="0" rtlCol="0" anchor="ctr"/>
          <a:lstStyle/>
          <a:p>
            <a:pPr marL="0" indent="0" algn="r">
              <a:buNone/>
            </a:pPr>
            <a:r>
              <a:rPr lang="en-US" sz="1000" b="1" dirty="0">
                <a:solidFill>
                  <a:srgbClr val="5A5F73"/>
                </a:solidFill>
                <a:latin typeface="Calibri" pitchFamily="34" charset="0"/>
                <a:ea typeface="Calibri" pitchFamily="34" charset="-122"/>
                <a:cs typeface="Calibri" pitchFamily="34" charset="-120"/>
              </a:rPr>
              <a:t>Floor area →</a:t>
            </a:r>
            <a:endParaRPr lang="en-US" sz="1000" dirty="0"/>
          </a:p>
        </p:txBody>
      </p:sp>
      <p:sp>
        <p:nvSpPr>
          <p:cNvPr id="8" name="Shape 6"/>
          <p:cNvSpPr/>
          <p:nvPr/>
        </p:nvSpPr>
        <p:spPr>
          <a:xfrm>
            <a:off x="1614830" y="4507992"/>
            <a:ext cx="0" cy="181650"/>
          </a:xfrm>
          <a:prstGeom prst="line">
            <a:avLst/>
          </a:prstGeom>
          <a:noFill/>
          <a:ln w="12700">
            <a:solidFill>
              <a:srgbClr val="B8BCD4"/>
            </a:solidFill>
            <a:prstDash val="sysDash"/>
          </a:ln>
        </p:spPr>
        <p:txBody>
          <a:bodyPr/>
          <a:lstStyle/>
          <a:p>
            <a:endParaRPr lang="en-US"/>
          </a:p>
        </p:txBody>
      </p:sp>
      <p:sp>
        <p:nvSpPr>
          <p:cNvPr id="9" name="Shape 7"/>
          <p:cNvSpPr/>
          <p:nvPr/>
        </p:nvSpPr>
        <p:spPr>
          <a:xfrm>
            <a:off x="1947672" y="4508451"/>
            <a:ext cx="0" cy="152703"/>
          </a:xfrm>
          <a:prstGeom prst="line">
            <a:avLst/>
          </a:prstGeom>
          <a:noFill/>
          <a:ln w="12700">
            <a:solidFill>
              <a:srgbClr val="B8BCD4"/>
            </a:solidFill>
            <a:prstDash val="sysDash"/>
          </a:ln>
        </p:spPr>
        <p:txBody>
          <a:bodyPr/>
          <a:lstStyle/>
          <a:p>
            <a:endParaRPr lang="en-US"/>
          </a:p>
        </p:txBody>
      </p:sp>
      <p:sp>
        <p:nvSpPr>
          <p:cNvPr id="10" name="Shape 8"/>
          <p:cNvSpPr/>
          <p:nvPr/>
        </p:nvSpPr>
        <p:spPr>
          <a:xfrm>
            <a:off x="2280514" y="4171036"/>
            <a:ext cx="0" cy="156225"/>
          </a:xfrm>
          <a:prstGeom prst="line">
            <a:avLst/>
          </a:prstGeom>
          <a:noFill/>
          <a:ln w="12700">
            <a:solidFill>
              <a:srgbClr val="B8BCD4"/>
            </a:solidFill>
            <a:prstDash val="sysDash"/>
          </a:ln>
        </p:spPr>
        <p:txBody>
          <a:bodyPr/>
          <a:lstStyle/>
          <a:p>
            <a:endParaRPr lang="en-US"/>
          </a:p>
        </p:txBody>
      </p:sp>
      <p:sp>
        <p:nvSpPr>
          <p:cNvPr id="11" name="Shape 9"/>
          <p:cNvSpPr/>
          <p:nvPr/>
        </p:nvSpPr>
        <p:spPr>
          <a:xfrm>
            <a:off x="2613355" y="4146070"/>
            <a:ext cx="0" cy="300657"/>
          </a:xfrm>
          <a:prstGeom prst="line">
            <a:avLst/>
          </a:prstGeom>
          <a:noFill/>
          <a:ln w="12700">
            <a:solidFill>
              <a:srgbClr val="B8BCD4"/>
            </a:solidFill>
            <a:prstDash val="sysDash"/>
          </a:ln>
        </p:spPr>
        <p:txBody>
          <a:bodyPr/>
          <a:lstStyle/>
          <a:p>
            <a:endParaRPr lang="en-US"/>
          </a:p>
        </p:txBody>
      </p:sp>
      <p:sp>
        <p:nvSpPr>
          <p:cNvPr id="12" name="Shape 10"/>
          <p:cNvSpPr/>
          <p:nvPr/>
        </p:nvSpPr>
        <p:spPr>
          <a:xfrm>
            <a:off x="2946197" y="3864712"/>
            <a:ext cx="0" cy="100168"/>
          </a:xfrm>
          <a:prstGeom prst="line">
            <a:avLst/>
          </a:prstGeom>
          <a:noFill/>
          <a:ln w="12700">
            <a:solidFill>
              <a:srgbClr val="B8BCD4"/>
            </a:solidFill>
            <a:prstDash val="sysDash"/>
          </a:ln>
        </p:spPr>
        <p:txBody>
          <a:bodyPr/>
          <a:lstStyle/>
          <a:p>
            <a:endParaRPr lang="en-US"/>
          </a:p>
        </p:txBody>
      </p:sp>
      <p:sp>
        <p:nvSpPr>
          <p:cNvPr id="13" name="Shape 11"/>
          <p:cNvSpPr/>
          <p:nvPr/>
        </p:nvSpPr>
        <p:spPr>
          <a:xfrm>
            <a:off x="3326587" y="3757805"/>
            <a:ext cx="0" cy="351966"/>
          </a:xfrm>
          <a:prstGeom prst="line">
            <a:avLst/>
          </a:prstGeom>
          <a:noFill/>
          <a:ln w="12700">
            <a:solidFill>
              <a:srgbClr val="B8BCD4"/>
            </a:solidFill>
            <a:prstDash val="sysDash"/>
          </a:ln>
        </p:spPr>
        <p:txBody>
          <a:bodyPr/>
          <a:lstStyle/>
          <a:p>
            <a:endParaRPr lang="en-US"/>
          </a:p>
        </p:txBody>
      </p:sp>
      <p:sp>
        <p:nvSpPr>
          <p:cNvPr id="14" name="Shape 12"/>
          <p:cNvSpPr/>
          <p:nvPr/>
        </p:nvSpPr>
        <p:spPr>
          <a:xfrm>
            <a:off x="3659429" y="3527755"/>
            <a:ext cx="0" cy="48859"/>
          </a:xfrm>
          <a:prstGeom prst="line">
            <a:avLst/>
          </a:prstGeom>
          <a:noFill/>
          <a:ln w="12700">
            <a:solidFill>
              <a:srgbClr val="B8BCD4"/>
            </a:solidFill>
            <a:prstDash val="sysDash"/>
          </a:ln>
        </p:spPr>
        <p:txBody>
          <a:bodyPr/>
          <a:lstStyle/>
          <a:p>
            <a:endParaRPr lang="en-US"/>
          </a:p>
        </p:txBody>
      </p:sp>
      <p:sp>
        <p:nvSpPr>
          <p:cNvPr id="15" name="Shape 13"/>
          <p:cNvSpPr/>
          <p:nvPr/>
        </p:nvSpPr>
        <p:spPr>
          <a:xfrm>
            <a:off x="3992270" y="3395423"/>
            <a:ext cx="0" cy="408024"/>
          </a:xfrm>
          <a:prstGeom prst="line">
            <a:avLst/>
          </a:prstGeom>
          <a:noFill/>
          <a:ln w="12700">
            <a:solidFill>
              <a:srgbClr val="B8BCD4"/>
            </a:solidFill>
            <a:prstDash val="sysDash"/>
          </a:ln>
        </p:spPr>
        <p:txBody>
          <a:bodyPr/>
          <a:lstStyle/>
          <a:p>
            <a:endParaRPr lang="en-US"/>
          </a:p>
        </p:txBody>
      </p:sp>
      <p:sp>
        <p:nvSpPr>
          <p:cNvPr id="16" name="Shape 14"/>
          <p:cNvSpPr/>
          <p:nvPr/>
        </p:nvSpPr>
        <p:spPr>
          <a:xfrm>
            <a:off x="4325112" y="3214233"/>
            <a:ext cx="0" cy="7199"/>
          </a:xfrm>
          <a:prstGeom prst="line">
            <a:avLst/>
          </a:prstGeom>
          <a:noFill/>
          <a:ln w="12700">
            <a:solidFill>
              <a:srgbClr val="B8BCD4"/>
            </a:solidFill>
            <a:prstDash val="sysDash"/>
          </a:ln>
        </p:spPr>
        <p:txBody>
          <a:bodyPr/>
          <a:lstStyle/>
          <a:p>
            <a:endParaRPr lang="en-US"/>
          </a:p>
        </p:txBody>
      </p:sp>
      <p:sp>
        <p:nvSpPr>
          <p:cNvPr id="17" name="Shape 15"/>
          <p:cNvSpPr/>
          <p:nvPr/>
        </p:nvSpPr>
        <p:spPr>
          <a:xfrm>
            <a:off x="4990795" y="2851851"/>
            <a:ext cx="0" cy="430845"/>
          </a:xfrm>
          <a:prstGeom prst="line">
            <a:avLst/>
          </a:prstGeom>
          <a:noFill/>
          <a:ln w="12700">
            <a:solidFill>
              <a:srgbClr val="B8BCD4"/>
            </a:solidFill>
            <a:prstDash val="sysDash"/>
          </a:ln>
        </p:spPr>
        <p:txBody>
          <a:bodyPr/>
          <a:lstStyle/>
          <a:p>
            <a:endParaRPr lang="en-US"/>
          </a:p>
        </p:txBody>
      </p:sp>
      <p:sp>
        <p:nvSpPr>
          <p:cNvPr id="18" name="Shape 16"/>
          <p:cNvSpPr/>
          <p:nvPr/>
        </p:nvSpPr>
        <p:spPr>
          <a:xfrm>
            <a:off x="5323637" y="2670661"/>
            <a:ext cx="0" cy="30020"/>
          </a:xfrm>
          <a:prstGeom prst="line">
            <a:avLst/>
          </a:prstGeom>
          <a:noFill/>
          <a:ln w="12700">
            <a:solidFill>
              <a:srgbClr val="B8BCD4"/>
            </a:solidFill>
            <a:prstDash val="sysDash"/>
          </a:ln>
        </p:spPr>
        <p:txBody>
          <a:bodyPr/>
          <a:lstStyle/>
          <a:p>
            <a:endParaRPr lang="en-US"/>
          </a:p>
        </p:txBody>
      </p:sp>
      <p:sp>
        <p:nvSpPr>
          <p:cNvPr id="19" name="Shape 17"/>
          <p:cNvSpPr/>
          <p:nvPr/>
        </p:nvSpPr>
        <p:spPr>
          <a:xfrm>
            <a:off x="5656478" y="2489470"/>
            <a:ext cx="0" cy="425637"/>
          </a:xfrm>
          <a:prstGeom prst="line">
            <a:avLst/>
          </a:prstGeom>
          <a:noFill/>
          <a:ln w="12700">
            <a:solidFill>
              <a:srgbClr val="B8BCD4"/>
            </a:solidFill>
            <a:prstDash val="sysDash"/>
          </a:ln>
        </p:spPr>
        <p:txBody>
          <a:bodyPr/>
          <a:lstStyle/>
          <a:p>
            <a:endParaRPr lang="en-US"/>
          </a:p>
        </p:txBody>
      </p:sp>
      <p:sp>
        <p:nvSpPr>
          <p:cNvPr id="20" name="Shape 18"/>
          <p:cNvSpPr/>
          <p:nvPr/>
        </p:nvSpPr>
        <p:spPr>
          <a:xfrm flipV="1">
            <a:off x="1329538" y="2360048"/>
            <a:ext cx="4564685" cy="2484900"/>
          </a:xfrm>
          <a:prstGeom prst="line">
            <a:avLst/>
          </a:prstGeom>
          <a:noFill/>
          <a:ln w="31750">
            <a:solidFill>
              <a:srgbClr val="00A6A6"/>
            </a:solidFill>
            <a:prstDash val="solid"/>
          </a:ln>
        </p:spPr>
        <p:txBody>
          <a:bodyPr/>
          <a:lstStyle/>
          <a:p>
            <a:endParaRPr lang="en-US"/>
          </a:p>
        </p:txBody>
      </p:sp>
      <p:sp>
        <p:nvSpPr>
          <p:cNvPr id="21" name="Shape 19"/>
          <p:cNvSpPr/>
          <p:nvPr/>
        </p:nvSpPr>
        <p:spPr>
          <a:xfrm>
            <a:off x="1546250" y="4439412"/>
            <a:ext cx="137160" cy="137160"/>
          </a:xfrm>
          <a:prstGeom prst="ellipse">
            <a:avLst/>
          </a:prstGeom>
          <a:solidFill>
            <a:srgbClr val="2A2D7C"/>
          </a:solidFill>
          <a:ln w="9525">
            <a:solidFill>
              <a:srgbClr val="FFFFFF"/>
            </a:solidFill>
            <a:prstDash val="solid"/>
          </a:ln>
        </p:spPr>
        <p:txBody>
          <a:bodyPr/>
          <a:lstStyle/>
          <a:p>
            <a:endParaRPr lang="en-US"/>
          </a:p>
        </p:txBody>
      </p:sp>
      <p:sp>
        <p:nvSpPr>
          <p:cNvPr id="22" name="Shape 20"/>
          <p:cNvSpPr/>
          <p:nvPr/>
        </p:nvSpPr>
        <p:spPr>
          <a:xfrm>
            <a:off x="1879092" y="4592574"/>
            <a:ext cx="137160" cy="137160"/>
          </a:xfrm>
          <a:prstGeom prst="ellipse">
            <a:avLst/>
          </a:prstGeom>
          <a:solidFill>
            <a:srgbClr val="2A2D7C"/>
          </a:solidFill>
          <a:ln w="9525">
            <a:solidFill>
              <a:srgbClr val="FFFFFF"/>
            </a:solidFill>
            <a:prstDash val="solid"/>
          </a:ln>
        </p:spPr>
        <p:txBody>
          <a:bodyPr/>
          <a:lstStyle/>
          <a:p>
            <a:endParaRPr lang="en-US"/>
          </a:p>
        </p:txBody>
      </p:sp>
      <p:sp>
        <p:nvSpPr>
          <p:cNvPr id="23" name="Shape 21"/>
          <p:cNvSpPr/>
          <p:nvPr/>
        </p:nvSpPr>
        <p:spPr>
          <a:xfrm>
            <a:off x="2211934" y="4102456"/>
            <a:ext cx="137160" cy="137160"/>
          </a:xfrm>
          <a:prstGeom prst="ellipse">
            <a:avLst/>
          </a:prstGeom>
          <a:solidFill>
            <a:srgbClr val="2A2D7C"/>
          </a:solidFill>
          <a:ln w="9525">
            <a:solidFill>
              <a:srgbClr val="FFFFFF"/>
            </a:solidFill>
            <a:prstDash val="solid"/>
          </a:ln>
        </p:spPr>
        <p:txBody>
          <a:bodyPr/>
          <a:lstStyle/>
          <a:p>
            <a:endParaRPr lang="en-US"/>
          </a:p>
        </p:txBody>
      </p:sp>
      <p:sp>
        <p:nvSpPr>
          <p:cNvPr id="24" name="Shape 22"/>
          <p:cNvSpPr/>
          <p:nvPr/>
        </p:nvSpPr>
        <p:spPr>
          <a:xfrm>
            <a:off x="2544775" y="4378147"/>
            <a:ext cx="137160" cy="137160"/>
          </a:xfrm>
          <a:prstGeom prst="ellipse">
            <a:avLst/>
          </a:prstGeom>
          <a:solidFill>
            <a:srgbClr val="2A2D7C"/>
          </a:solidFill>
          <a:ln w="9525">
            <a:solidFill>
              <a:srgbClr val="FFFFFF"/>
            </a:solidFill>
            <a:prstDash val="solid"/>
          </a:ln>
        </p:spPr>
        <p:txBody>
          <a:bodyPr/>
          <a:lstStyle/>
          <a:p>
            <a:endParaRPr lang="en-US"/>
          </a:p>
        </p:txBody>
      </p:sp>
      <p:sp>
        <p:nvSpPr>
          <p:cNvPr id="25" name="Shape 23"/>
          <p:cNvSpPr/>
          <p:nvPr/>
        </p:nvSpPr>
        <p:spPr>
          <a:xfrm>
            <a:off x="2877617" y="3796132"/>
            <a:ext cx="137160" cy="137160"/>
          </a:xfrm>
          <a:prstGeom prst="ellipse">
            <a:avLst/>
          </a:prstGeom>
          <a:solidFill>
            <a:srgbClr val="2A2D7C"/>
          </a:solidFill>
          <a:ln w="9525">
            <a:solidFill>
              <a:srgbClr val="FFFFFF"/>
            </a:solidFill>
            <a:prstDash val="solid"/>
          </a:ln>
        </p:spPr>
        <p:txBody>
          <a:bodyPr/>
          <a:lstStyle/>
          <a:p>
            <a:endParaRPr lang="en-US"/>
          </a:p>
        </p:txBody>
      </p:sp>
      <p:sp>
        <p:nvSpPr>
          <p:cNvPr id="26" name="Shape 24"/>
          <p:cNvSpPr/>
          <p:nvPr/>
        </p:nvSpPr>
        <p:spPr>
          <a:xfrm>
            <a:off x="3258007" y="4041191"/>
            <a:ext cx="137160" cy="137160"/>
          </a:xfrm>
          <a:prstGeom prst="ellipse">
            <a:avLst/>
          </a:prstGeom>
          <a:solidFill>
            <a:srgbClr val="2A2D7C"/>
          </a:solidFill>
          <a:ln w="9525">
            <a:solidFill>
              <a:srgbClr val="FFFFFF"/>
            </a:solidFill>
            <a:prstDash val="solid"/>
          </a:ln>
        </p:spPr>
        <p:txBody>
          <a:bodyPr/>
          <a:lstStyle/>
          <a:p>
            <a:endParaRPr lang="en-US"/>
          </a:p>
        </p:txBody>
      </p:sp>
      <p:sp>
        <p:nvSpPr>
          <p:cNvPr id="27" name="Shape 25"/>
          <p:cNvSpPr/>
          <p:nvPr/>
        </p:nvSpPr>
        <p:spPr>
          <a:xfrm>
            <a:off x="3590849" y="3459175"/>
            <a:ext cx="137160" cy="137160"/>
          </a:xfrm>
          <a:prstGeom prst="ellipse">
            <a:avLst/>
          </a:prstGeom>
          <a:solidFill>
            <a:srgbClr val="2A2D7C"/>
          </a:solidFill>
          <a:ln w="9525">
            <a:solidFill>
              <a:srgbClr val="FFFFFF"/>
            </a:solidFill>
            <a:prstDash val="solid"/>
          </a:ln>
        </p:spPr>
        <p:txBody>
          <a:bodyPr/>
          <a:lstStyle/>
          <a:p>
            <a:endParaRPr lang="en-US"/>
          </a:p>
        </p:txBody>
      </p:sp>
      <p:sp>
        <p:nvSpPr>
          <p:cNvPr id="28" name="Shape 26"/>
          <p:cNvSpPr/>
          <p:nvPr/>
        </p:nvSpPr>
        <p:spPr>
          <a:xfrm>
            <a:off x="3923690" y="3734867"/>
            <a:ext cx="137160" cy="137160"/>
          </a:xfrm>
          <a:prstGeom prst="ellipse">
            <a:avLst/>
          </a:prstGeom>
          <a:solidFill>
            <a:srgbClr val="2A2D7C"/>
          </a:solidFill>
          <a:ln w="9525">
            <a:solidFill>
              <a:srgbClr val="FFFFFF"/>
            </a:solidFill>
            <a:prstDash val="solid"/>
          </a:ln>
        </p:spPr>
        <p:txBody>
          <a:bodyPr/>
          <a:lstStyle/>
          <a:p>
            <a:endParaRPr lang="en-US"/>
          </a:p>
        </p:txBody>
      </p:sp>
      <p:sp>
        <p:nvSpPr>
          <p:cNvPr id="29" name="Shape 27"/>
          <p:cNvSpPr/>
          <p:nvPr/>
        </p:nvSpPr>
        <p:spPr>
          <a:xfrm>
            <a:off x="4256532" y="3152851"/>
            <a:ext cx="137160" cy="137160"/>
          </a:xfrm>
          <a:prstGeom prst="ellipse">
            <a:avLst/>
          </a:prstGeom>
          <a:solidFill>
            <a:srgbClr val="2A2D7C"/>
          </a:solidFill>
          <a:ln w="9525">
            <a:solidFill>
              <a:srgbClr val="FFFFFF"/>
            </a:solidFill>
            <a:prstDash val="solid"/>
          </a:ln>
        </p:spPr>
        <p:txBody>
          <a:bodyPr/>
          <a:lstStyle/>
          <a:p>
            <a:endParaRPr lang="en-US"/>
          </a:p>
        </p:txBody>
      </p:sp>
      <p:sp>
        <p:nvSpPr>
          <p:cNvPr id="30" name="Shape 28"/>
          <p:cNvSpPr/>
          <p:nvPr/>
        </p:nvSpPr>
        <p:spPr>
          <a:xfrm>
            <a:off x="4922215" y="3214116"/>
            <a:ext cx="137160" cy="137160"/>
          </a:xfrm>
          <a:prstGeom prst="ellipse">
            <a:avLst/>
          </a:prstGeom>
          <a:solidFill>
            <a:srgbClr val="2A2D7C"/>
          </a:solidFill>
          <a:ln w="9525">
            <a:solidFill>
              <a:srgbClr val="FFFFFF"/>
            </a:solidFill>
            <a:prstDash val="solid"/>
          </a:ln>
        </p:spPr>
        <p:txBody>
          <a:bodyPr/>
          <a:lstStyle/>
          <a:p>
            <a:endParaRPr lang="en-US"/>
          </a:p>
        </p:txBody>
      </p:sp>
      <p:sp>
        <p:nvSpPr>
          <p:cNvPr id="31" name="Shape 29"/>
          <p:cNvSpPr/>
          <p:nvPr/>
        </p:nvSpPr>
        <p:spPr>
          <a:xfrm>
            <a:off x="5255057" y="2632100"/>
            <a:ext cx="137160" cy="137160"/>
          </a:xfrm>
          <a:prstGeom prst="ellipse">
            <a:avLst/>
          </a:prstGeom>
          <a:solidFill>
            <a:srgbClr val="2A2D7C"/>
          </a:solidFill>
          <a:ln w="9525">
            <a:solidFill>
              <a:srgbClr val="FFFFFF"/>
            </a:solidFill>
            <a:prstDash val="solid"/>
          </a:ln>
        </p:spPr>
        <p:txBody>
          <a:bodyPr/>
          <a:lstStyle/>
          <a:p>
            <a:endParaRPr lang="en-US"/>
          </a:p>
        </p:txBody>
      </p:sp>
      <p:sp>
        <p:nvSpPr>
          <p:cNvPr id="32" name="Shape 30"/>
          <p:cNvSpPr/>
          <p:nvPr/>
        </p:nvSpPr>
        <p:spPr>
          <a:xfrm>
            <a:off x="5587898" y="2846527"/>
            <a:ext cx="137160" cy="137160"/>
          </a:xfrm>
          <a:prstGeom prst="ellipse">
            <a:avLst/>
          </a:prstGeom>
          <a:solidFill>
            <a:srgbClr val="2A2D7C"/>
          </a:solidFill>
          <a:ln w="9525">
            <a:solidFill>
              <a:srgbClr val="FFFFFF"/>
            </a:solidFill>
            <a:prstDash val="solid"/>
          </a:ln>
        </p:spPr>
        <p:txBody>
          <a:bodyPr/>
          <a:lstStyle/>
          <a:p>
            <a:endParaRPr lang="en-US"/>
          </a:p>
        </p:txBody>
      </p:sp>
      <p:sp>
        <p:nvSpPr>
          <p:cNvPr id="33" name="Shape 31"/>
          <p:cNvSpPr/>
          <p:nvPr/>
        </p:nvSpPr>
        <p:spPr>
          <a:xfrm>
            <a:off x="4657954" y="3033042"/>
            <a:ext cx="0" cy="2087598"/>
          </a:xfrm>
          <a:prstGeom prst="line">
            <a:avLst/>
          </a:prstGeom>
          <a:noFill/>
          <a:ln w="19050">
            <a:solidFill>
              <a:srgbClr val="E09400"/>
            </a:solidFill>
            <a:prstDash val="dash"/>
          </a:ln>
        </p:spPr>
        <p:txBody>
          <a:bodyPr/>
          <a:lstStyle/>
          <a:p>
            <a:endParaRPr lang="en-US"/>
          </a:p>
        </p:txBody>
      </p:sp>
      <p:sp>
        <p:nvSpPr>
          <p:cNvPr id="34" name="Shape 32"/>
          <p:cNvSpPr/>
          <p:nvPr/>
        </p:nvSpPr>
        <p:spPr>
          <a:xfrm>
            <a:off x="1234440" y="3033042"/>
            <a:ext cx="3423514" cy="0"/>
          </a:xfrm>
          <a:prstGeom prst="line">
            <a:avLst/>
          </a:prstGeom>
          <a:noFill/>
          <a:ln w="19050">
            <a:solidFill>
              <a:srgbClr val="E09400"/>
            </a:solidFill>
            <a:prstDash val="dash"/>
          </a:ln>
        </p:spPr>
        <p:txBody>
          <a:bodyPr/>
          <a:lstStyle/>
          <a:p>
            <a:endParaRPr lang="en-US"/>
          </a:p>
        </p:txBody>
      </p:sp>
      <p:sp>
        <p:nvSpPr>
          <p:cNvPr id="35" name="Shape 33"/>
          <p:cNvSpPr/>
          <p:nvPr/>
        </p:nvSpPr>
        <p:spPr>
          <a:xfrm>
            <a:off x="4548226" y="2923314"/>
            <a:ext cx="219456" cy="219456"/>
          </a:xfrm>
          <a:prstGeom prst="ellipse">
            <a:avLst/>
          </a:prstGeom>
          <a:solidFill>
            <a:srgbClr val="FFFFFF"/>
          </a:solidFill>
          <a:ln w="28575">
            <a:solidFill>
              <a:srgbClr val="E09400"/>
            </a:solidFill>
            <a:prstDash val="solid"/>
          </a:ln>
        </p:spPr>
        <p:txBody>
          <a:bodyPr/>
          <a:lstStyle/>
          <a:p>
            <a:endParaRPr lang="en-US"/>
          </a:p>
        </p:txBody>
      </p:sp>
      <p:sp>
        <p:nvSpPr>
          <p:cNvPr id="36" name="Text 34"/>
          <p:cNvSpPr/>
          <p:nvPr/>
        </p:nvSpPr>
        <p:spPr>
          <a:xfrm>
            <a:off x="2509114" y="2648994"/>
            <a:ext cx="2011680" cy="256032"/>
          </a:xfrm>
          <a:prstGeom prst="rect">
            <a:avLst/>
          </a:prstGeom>
          <a:noFill/>
          <a:ln/>
        </p:spPr>
        <p:txBody>
          <a:bodyPr wrap="square" lIns="0" tIns="0" rIns="0" bIns="0" rtlCol="0" anchor="ctr"/>
          <a:lstStyle/>
          <a:p>
            <a:pPr marL="0" indent="0" algn="r">
              <a:buNone/>
            </a:pPr>
            <a:r>
              <a:rPr lang="en-US" sz="1000" b="1" dirty="0">
                <a:solidFill>
                  <a:srgbClr val="E09400"/>
                </a:solidFill>
                <a:latin typeface="Calibri" pitchFamily="34" charset="0"/>
                <a:ea typeface="Calibri" pitchFamily="34" charset="-122"/>
                <a:cs typeface="Calibri" pitchFamily="34" charset="-120"/>
              </a:rPr>
              <a:t>new house → predicted price</a:t>
            </a:r>
            <a:endParaRPr lang="en-US" sz="1000" dirty="0"/>
          </a:p>
        </p:txBody>
      </p:sp>
      <p:sp>
        <p:nvSpPr>
          <p:cNvPr id="37" name="Text 35"/>
          <p:cNvSpPr/>
          <p:nvPr/>
        </p:nvSpPr>
        <p:spPr>
          <a:xfrm>
            <a:off x="1234440" y="5486400"/>
            <a:ext cx="4754880" cy="274320"/>
          </a:xfrm>
          <a:prstGeom prst="rect">
            <a:avLst/>
          </a:prstGeom>
          <a:noFill/>
          <a:ln/>
        </p:spPr>
        <p:txBody>
          <a:bodyPr wrap="square" lIns="0" tIns="0" rIns="0" bIns="0" rtlCol="0" anchor="ctr"/>
          <a:lstStyle/>
          <a:p>
            <a:pPr marL="0" indent="0">
              <a:buNone/>
            </a:pPr>
            <a:r>
              <a:rPr lang="en-US" sz="1050" b="1" dirty="0">
                <a:solidFill>
                  <a:srgbClr val="00A6A6"/>
                </a:solidFill>
                <a:latin typeface="Calibri" pitchFamily="34" charset="0"/>
                <a:ea typeface="Calibri" pitchFamily="34" charset="-122"/>
                <a:cs typeface="Calibri" pitchFamily="34" charset="-120"/>
              </a:rPr>
              <a:t>── </a:t>
            </a:r>
            <a:r>
              <a:rPr lang="en-US" sz="1050" dirty="0">
                <a:solidFill>
                  <a:srgbClr val="5A5F73"/>
                </a:solidFill>
                <a:latin typeface="Calibri" pitchFamily="34" charset="0"/>
                <a:ea typeface="Calibri" pitchFamily="34" charset="-122"/>
                <a:cs typeface="Calibri" pitchFamily="34" charset="-120"/>
              </a:rPr>
              <a:t>the fitted line     </a:t>
            </a:r>
            <a:r>
              <a:rPr lang="en-US" sz="1050" b="1" dirty="0">
                <a:solidFill>
                  <a:srgbClr val="8E93A8"/>
                </a:solidFill>
                <a:latin typeface="Calibri" pitchFamily="34" charset="0"/>
                <a:ea typeface="Calibri" pitchFamily="34" charset="-122"/>
                <a:cs typeface="Calibri" pitchFamily="34" charset="-120"/>
              </a:rPr>
              <a:t>┄┄ </a:t>
            </a:r>
            <a:r>
              <a:rPr lang="en-US" sz="1050" dirty="0">
                <a:solidFill>
                  <a:srgbClr val="5A5F73"/>
                </a:solidFill>
                <a:latin typeface="Calibri" pitchFamily="34" charset="0"/>
                <a:ea typeface="Calibri" pitchFamily="34" charset="-122"/>
                <a:cs typeface="Calibri" pitchFamily="34" charset="-120"/>
              </a:rPr>
              <a:t>the error on each point</a:t>
            </a:r>
            <a:endParaRPr lang="en-US" sz="1050" dirty="0"/>
          </a:p>
        </p:txBody>
      </p:sp>
      <p:sp>
        <p:nvSpPr>
          <p:cNvPr id="38" name="Shape 36"/>
          <p:cNvSpPr/>
          <p:nvPr/>
        </p:nvSpPr>
        <p:spPr>
          <a:xfrm>
            <a:off x="6492240" y="1947672"/>
            <a:ext cx="384048" cy="384048"/>
          </a:xfrm>
          <a:prstGeom prst="ellipse">
            <a:avLst/>
          </a:prstGeom>
          <a:solidFill>
            <a:srgbClr val="00A6A6"/>
          </a:solidFill>
          <a:ln w="12700">
            <a:solidFill>
              <a:srgbClr val="00A6A6"/>
            </a:solidFill>
            <a:prstDash val="solid"/>
          </a:ln>
        </p:spPr>
        <p:txBody>
          <a:bodyPr/>
          <a:lstStyle/>
          <a:p>
            <a:endParaRPr lang="en-US"/>
          </a:p>
        </p:txBody>
      </p:sp>
      <p:sp>
        <p:nvSpPr>
          <p:cNvPr id="39" name="Text 37"/>
          <p:cNvSpPr/>
          <p:nvPr/>
        </p:nvSpPr>
        <p:spPr>
          <a:xfrm>
            <a:off x="6492240" y="19476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0" name="Text 38"/>
          <p:cNvSpPr/>
          <p:nvPr/>
        </p:nvSpPr>
        <p:spPr>
          <a:xfrm>
            <a:off x="7040880" y="1920240"/>
            <a:ext cx="4572000" cy="292608"/>
          </a:xfrm>
          <a:prstGeom prst="rect">
            <a:avLst/>
          </a:prstGeom>
          <a:noFill/>
          <a:ln/>
        </p:spPr>
        <p:txBody>
          <a:bodyPr wrap="square" lIns="0" tIns="0" rIns="0" bIns="0" rtlCol="0" anchor="ctr"/>
          <a:lstStyle/>
          <a:p>
            <a:pPr marL="0" indent="0">
              <a:buNone/>
            </a:pPr>
            <a:r>
              <a:rPr lang="en-US" sz="1400" b="1" dirty="0">
                <a:solidFill>
                  <a:srgbClr val="101034"/>
                </a:solidFill>
                <a:latin typeface="Arial" pitchFamily="34" charset="0"/>
                <a:ea typeface="Arial" pitchFamily="34" charset="-122"/>
                <a:cs typeface="Arial" pitchFamily="34" charset="-120"/>
              </a:rPr>
              <a:t>It learns a function</a:t>
            </a:r>
            <a:endParaRPr lang="en-US" sz="1400" dirty="0"/>
          </a:p>
        </p:txBody>
      </p:sp>
      <p:sp>
        <p:nvSpPr>
          <p:cNvPr id="41" name="Text 39"/>
          <p:cNvSpPr/>
          <p:nvPr/>
        </p:nvSpPr>
        <p:spPr>
          <a:xfrm>
            <a:off x="7040880" y="2221992"/>
            <a:ext cx="457200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With one input that is a straight line. With twenty inputs it is a surface. Either way the model is just the coefficients.</a:t>
            </a:r>
            <a:endParaRPr lang="en-US" sz="1150" dirty="0"/>
          </a:p>
        </p:txBody>
      </p:sp>
      <p:sp>
        <p:nvSpPr>
          <p:cNvPr id="42" name="Shape 40"/>
          <p:cNvSpPr/>
          <p:nvPr/>
        </p:nvSpPr>
        <p:spPr>
          <a:xfrm>
            <a:off x="6492240" y="3026664"/>
            <a:ext cx="384048" cy="384048"/>
          </a:xfrm>
          <a:prstGeom prst="ellipse">
            <a:avLst/>
          </a:prstGeom>
          <a:solidFill>
            <a:srgbClr val="00A6A6"/>
          </a:solidFill>
          <a:ln w="12700">
            <a:solidFill>
              <a:srgbClr val="00A6A6"/>
            </a:solidFill>
            <a:prstDash val="solid"/>
          </a:ln>
        </p:spPr>
        <p:txBody>
          <a:bodyPr/>
          <a:lstStyle/>
          <a:p>
            <a:endParaRPr lang="en-US"/>
          </a:p>
        </p:txBody>
      </p:sp>
      <p:sp>
        <p:nvSpPr>
          <p:cNvPr id="43" name="Text 41"/>
          <p:cNvSpPr/>
          <p:nvPr/>
        </p:nvSpPr>
        <p:spPr>
          <a:xfrm>
            <a:off x="6492240" y="30266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4" name="Text 42"/>
          <p:cNvSpPr/>
          <p:nvPr/>
        </p:nvSpPr>
        <p:spPr>
          <a:xfrm>
            <a:off x="7040880" y="2999232"/>
            <a:ext cx="4572000" cy="292608"/>
          </a:xfrm>
          <a:prstGeom prst="rect">
            <a:avLst/>
          </a:prstGeom>
          <a:noFill/>
          <a:ln/>
        </p:spPr>
        <p:txBody>
          <a:bodyPr wrap="square" lIns="0" tIns="0" rIns="0" bIns="0" rtlCol="0" anchor="ctr"/>
          <a:lstStyle/>
          <a:p>
            <a:pPr marL="0" indent="0">
              <a:buNone/>
            </a:pPr>
            <a:r>
              <a:rPr lang="en-US" sz="1400" b="1" dirty="0">
                <a:solidFill>
                  <a:srgbClr val="101034"/>
                </a:solidFill>
                <a:latin typeface="Arial" pitchFamily="34" charset="0"/>
                <a:ea typeface="Arial" pitchFamily="34" charset="-122"/>
                <a:cs typeface="Arial" pitchFamily="34" charset="-120"/>
              </a:rPr>
              <a:t>Training means shrinking the gaps</a:t>
            </a:r>
            <a:endParaRPr lang="en-US" sz="1400" dirty="0"/>
          </a:p>
        </p:txBody>
      </p:sp>
      <p:sp>
        <p:nvSpPr>
          <p:cNvPr id="45" name="Text 43"/>
          <p:cNvSpPr/>
          <p:nvPr/>
        </p:nvSpPr>
        <p:spPr>
          <a:xfrm>
            <a:off x="7040880" y="3300984"/>
            <a:ext cx="457200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The dashed lines are the errors. Fitting picks the line with the smallest total squared error.</a:t>
            </a:r>
            <a:endParaRPr lang="en-US" sz="1150" dirty="0"/>
          </a:p>
        </p:txBody>
      </p:sp>
      <p:sp>
        <p:nvSpPr>
          <p:cNvPr id="46" name="Shape 44"/>
          <p:cNvSpPr/>
          <p:nvPr/>
        </p:nvSpPr>
        <p:spPr>
          <a:xfrm>
            <a:off x="6492240" y="4105656"/>
            <a:ext cx="384048" cy="384048"/>
          </a:xfrm>
          <a:prstGeom prst="ellipse">
            <a:avLst/>
          </a:prstGeom>
          <a:solidFill>
            <a:srgbClr val="00A6A6"/>
          </a:solidFill>
          <a:ln w="12700">
            <a:solidFill>
              <a:srgbClr val="00A6A6"/>
            </a:solidFill>
            <a:prstDash val="solid"/>
          </a:ln>
        </p:spPr>
        <p:txBody>
          <a:bodyPr/>
          <a:lstStyle/>
          <a:p>
            <a:endParaRPr lang="en-US"/>
          </a:p>
        </p:txBody>
      </p:sp>
      <p:sp>
        <p:nvSpPr>
          <p:cNvPr id="47" name="Text 45"/>
          <p:cNvSpPr/>
          <p:nvPr/>
        </p:nvSpPr>
        <p:spPr>
          <a:xfrm>
            <a:off x="6492240" y="410565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8" name="Text 46"/>
          <p:cNvSpPr/>
          <p:nvPr/>
        </p:nvSpPr>
        <p:spPr>
          <a:xfrm>
            <a:off x="7040880" y="4078224"/>
            <a:ext cx="4572000" cy="292608"/>
          </a:xfrm>
          <a:prstGeom prst="rect">
            <a:avLst/>
          </a:prstGeom>
          <a:noFill/>
          <a:ln/>
        </p:spPr>
        <p:txBody>
          <a:bodyPr wrap="square" lIns="0" tIns="0" rIns="0" bIns="0" rtlCol="0" anchor="ctr"/>
          <a:lstStyle/>
          <a:p>
            <a:pPr marL="0" indent="0">
              <a:buNone/>
            </a:pPr>
            <a:r>
              <a:rPr lang="en-US" sz="1400" b="1" dirty="0">
                <a:solidFill>
                  <a:srgbClr val="101034"/>
                </a:solidFill>
                <a:latin typeface="Arial" pitchFamily="34" charset="0"/>
                <a:ea typeface="Arial" pitchFamily="34" charset="-122"/>
                <a:cs typeface="Arial" pitchFamily="34" charset="-120"/>
              </a:rPr>
              <a:t>Prediction is a read-off</a:t>
            </a:r>
            <a:endParaRPr lang="en-US" sz="1400" dirty="0"/>
          </a:p>
        </p:txBody>
      </p:sp>
      <p:sp>
        <p:nvSpPr>
          <p:cNvPr id="49" name="Text 47"/>
          <p:cNvSpPr/>
          <p:nvPr/>
        </p:nvSpPr>
        <p:spPr>
          <a:xfrm>
            <a:off x="7040880" y="4379976"/>
            <a:ext cx="457200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Feed in a new floor area, follow it up to the line, read the price across.</a:t>
            </a:r>
            <a:endParaRPr lang="en-US" sz="1150" dirty="0"/>
          </a:p>
        </p:txBody>
      </p:sp>
      <p:sp>
        <p:nvSpPr>
          <p:cNvPr id="50" name="Shape 48"/>
          <p:cNvSpPr/>
          <p:nvPr/>
        </p:nvSpPr>
        <p:spPr>
          <a:xfrm>
            <a:off x="6492240" y="5184648"/>
            <a:ext cx="384048" cy="384048"/>
          </a:xfrm>
          <a:prstGeom prst="ellipse">
            <a:avLst/>
          </a:prstGeom>
          <a:solidFill>
            <a:srgbClr val="E09400"/>
          </a:solidFill>
          <a:ln w="12700">
            <a:solidFill>
              <a:srgbClr val="E09400"/>
            </a:solidFill>
            <a:prstDash val="solid"/>
          </a:ln>
        </p:spPr>
        <p:txBody>
          <a:bodyPr/>
          <a:lstStyle/>
          <a:p>
            <a:endParaRPr lang="en-US"/>
          </a:p>
        </p:txBody>
      </p:sp>
      <p:sp>
        <p:nvSpPr>
          <p:cNvPr id="51" name="Text 49"/>
          <p:cNvSpPr/>
          <p:nvPr/>
        </p:nvSpPr>
        <p:spPr>
          <a:xfrm>
            <a:off x="6492240" y="51846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52" name="Text 50"/>
          <p:cNvSpPr/>
          <p:nvPr/>
        </p:nvSpPr>
        <p:spPr>
          <a:xfrm>
            <a:off x="7040880" y="5157216"/>
            <a:ext cx="4572000" cy="292608"/>
          </a:xfrm>
          <a:prstGeom prst="rect">
            <a:avLst/>
          </a:prstGeom>
          <a:noFill/>
          <a:ln/>
        </p:spPr>
        <p:txBody>
          <a:bodyPr wrap="square" lIns="0" tIns="0" rIns="0" bIns="0" rtlCol="0" anchor="ctr"/>
          <a:lstStyle/>
          <a:p>
            <a:pPr marL="0" indent="0">
              <a:buNone/>
            </a:pPr>
            <a:r>
              <a:rPr lang="en-US" sz="1400" b="1" dirty="0">
                <a:solidFill>
                  <a:srgbClr val="101034"/>
                </a:solidFill>
                <a:latin typeface="Arial" pitchFamily="34" charset="0"/>
                <a:ea typeface="Arial" pitchFamily="34" charset="-122"/>
                <a:cs typeface="Arial" pitchFamily="34" charset="-120"/>
              </a:rPr>
              <a:t>Two traps</a:t>
            </a:r>
            <a:endParaRPr lang="en-US" sz="1400" dirty="0"/>
          </a:p>
        </p:txBody>
      </p:sp>
      <p:sp>
        <p:nvSpPr>
          <p:cNvPr id="53" name="Text 51"/>
          <p:cNvSpPr/>
          <p:nvPr/>
        </p:nvSpPr>
        <p:spPr>
          <a:xfrm>
            <a:off x="7040880" y="5458968"/>
            <a:ext cx="457200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Extrapolating far beyond the data you trained on, and a handful of outliers dragging the whole line.</a:t>
            </a:r>
            <a:endParaRPr lang="en-US" sz="1150" dirty="0"/>
          </a:p>
        </p:txBody>
      </p:sp>
      <p:sp>
        <p:nvSpPr>
          <p:cNvPr id="54" name="Shape 52"/>
          <p:cNvSpPr/>
          <p:nvPr/>
        </p:nvSpPr>
        <p:spPr>
          <a:xfrm>
            <a:off x="548640" y="6172200"/>
            <a:ext cx="11091672" cy="502920"/>
          </a:xfrm>
          <a:prstGeom prst="roundRect">
            <a:avLst>
              <a:gd name="adj" fmla="val 14545"/>
            </a:avLst>
          </a:prstGeom>
          <a:solidFill>
            <a:srgbClr val="EEF7F7"/>
          </a:solidFill>
          <a:ln w="12700">
            <a:solidFill>
              <a:srgbClr val="7FD3D3"/>
            </a:solidFill>
            <a:prstDash val="solid"/>
          </a:ln>
        </p:spPr>
        <p:txBody>
          <a:bodyPr/>
          <a:lstStyle/>
          <a:p>
            <a:endParaRPr lang="en-US"/>
          </a:p>
        </p:txBody>
      </p:sp>
      <p:sp>
        <p:nvSpPr>
          <p:cNvPr id="55" name="Text 53"/>
          <p:cNvSpPr/>
          <p:nvPr/>
        </p:nvSpPr>
        <p:spPr>
          <a:xfrm>
            <a:off x="777240" y="6172200"/>
            <a:ext cx="10634472" cy="502920"/>
          </a:xfrm>
          <a:prstGeom prst="rect">
            <a:avLst/>
          </a:prstGeom>
          <a:noFill/>
          <a:ln/>
        </p:spPr>
        <p:txBody>
          <a:bodyPr wrap="square" lIns="0" tIns="0" rIns="0" bIns="0" rtlCol="0" anchor="ctr"/>
          <a:lstStyle/>
          <a:p>
            <a:pPr marL="0" indent="0">
              <a:buNone/>
            </a:pPr>
            <a:r>
              <a:rPr lang="en-US" sz="1100" dirty="0">
                <a:solidFill>
                  <a:srgbClr val="005E5E"/>
                </a:solidFill>
                <a:latin typeface="Calibri" pitchFamily="34" charset="0"/>
                <a:ea typeface="Calibri" pitchFamily="34" charset="-122"/>
                <a:cs typeface="Calibri" pitchFamily="34" charset="-120"/>
              </a:rPr>
              <a:t>Algorithms: linear and ridge regression · decision-tree and random-forest regressors · gradient boosting (XGBoost, LightGBM) · neural networks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Classification up close</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Learn a boundary, then judge which side a new case falls on</a:t>
            </a:r>
            <a:endParaRPr lang="en-US" sz="1400" dirty="0"/>
          </a:p>
        </p:txBody>
      </p:sp>
      <p:sp>
        <p:nvSpPr>
          <p:cNvPr id="4" name="Shape 2"/>
          <p:cNvSpPr/>
          <p:nvPr/>
        </p:nvSpPr>
        <p:spPr>
          <a:xfrm>
            <a:off x="1051560" y="4937760"/>
            <a:ext cx="4206240" cy="0"/>
          </a:xfrm>
          <a:prstGeom prst="line">
            <a:avLst/>
          </a:prstGeom>
          <a:noFill/>
          <a:ln w="15875">
            <a:solidFill>
              <a:srgbClr val="B8BCD4"/>
            </a:solidFill>
            <a:prstDash val="solid"/>
          </a:ln>
        </p:spPr>
        <p:txBody>
          <a:bodyPr/>
          <a:lstStyle/>
          <a:p>
            <a:endParaRPr lang="en-US"/>
          </a:p>
        </p:txBody>
      </p:sp>
      <p:sp>
        <p:nvSpPr>
          <p:cNvPr id="5" name="Shape 3"/>
          <p:cNvSpPr/>
          <p:nvPr/>
        </p:nvSpPr>
        <p:spPr>
          <a:xfrm>
            <a:off x="1051560" y="2103120"/>
            <a:ext cx="0" cy="2834640"/>
          </a:xfrm>
          <a:prstGeom prst="line">
            <a:avLst/>
          </a:prstGeom>
          <a:noFill/>
          <a:ln w="15875">
            <a:solidFill>
              <a:srgbClr val="B8BCD4"/>
            </a:solidFill>
            <a:prstDash val="solid"/>
          </a:ln>
        </p:spPr>
        <p:txBody>
          <a:bodyPr/>
          <a:lstStyle/>
          <a:p>
            <a:endParaRPr lang="en-US"/>
          </a:p>
        </p:txBody>
      </p:sp>
      <p:sp>
        <p:nvSpPr>
          <p:cNvPr id="6" name="Text 4"/>
          <p:cNvSpPr/>
          <p:nvPr/>
        </p:nvSpPr>
        <p:spPr>
          <a:xfrm>
            <a:off x="548640" y="2057400"/>
            <a:ext cx="822960" cy="237744"/>
          </a:xfrm>
          <a:prstGeom prst="rect">
            <a:avLst/>
          </a:prstGeom>
          <a:noFill/>
          <a:ln/>
        </p:spPr>
        <p:txBody>
          <a:bodyPr wrap="square" lIns="0" tIns="0" rIns="0" bIns="0" rtlCol="0" anchor="ctr"/>
          <a:lstStyle/>
          <a:p>
            <a:pPr marL="0" indent="0">
              <a:buNone/>
            </a:pPr>
            <a:r>
              <a:rPr lang="en-US" sz="1000" b="1" dirty="0">
                <a:solidFill>
                  <a:srgbClr val="5A5F73"/>
                </a:solidFill>
                <a:latin typeface="Calibri" pitchFamily="34" charset="0"/>
                <a:ea typeface="Calibri" pitchFamily="34" charset="-122"/>
                <a:cs typeface="Calibri" pitchFamily="34" charset="-120"/>
              </a:rPr>
              <a:t>Income</a:t>
            </a:r>
            <a:endParaRPr lang="en-US" sz="1000" dirty="0"/>
          </a:p>
        </p:txBody>
      </p:sp>
      <p:sp>
        <p:nvSpPr>
          <p:cNvPr id="7" name="Text 5"/>
          <p:cNvSpPr/>
          <p:nvPr/>
        </p:nvSpPr>
        <p:spPr>
          <a:xfrm>
            <a:off x="1051560" y="5010912"/>
            <a:ext cx="4206240" cy="256032"/>
          </a:xfrm>
          <a:prstGeom prst="rect">
            <a:avLst/>
          </a:prstGeom>
          <a:noFill/>
          <a:ln/>
        </p:spPr>
        <p:txBody>
          <a:bodyPr wrap="square" lIns="0" tIns="0" rIns="0" bIns="0" rtlCol="0" anchor="ctr"/>
          <a:lstStyle/>
          <a:p>
            <a:pPr marL="0" indent="0" algn="r">
              <a:buNone/>
            </a:pPr>
            <a:r>
              <a:rPr lang="en-US" sz="1000" b="1" dirty="0">
                <a:solidFill>
                  <a:srgbClr val="5A5F73"/>
                </a:solidFill>
                <a:latin typeface="Calibri" pitchFamily="34" charset="0"/>
                <a:ea typeface="Calibri" pitchFamily="34" charset="-122"/>
                <a:cs typeface="Calibri" pitchFamily="34" charset="-120"/>
              </a:rPr>
              <a:t>Credit history →</a:t>
            </a:r>
            <a:endParaRPr lang="en-US" sz="1000" dirty="0"/>
          </a:p>
        </p:txBody>
      </p:sp>
      <p:sp>
        <p:nvSpPr>
          <p:cNvPr id="8" name="Shape 6"/>
          <p:cNvSpPr/>
          <p:nvPr/>
        </p:nvSpPr>
        <p:spPr>
          <a:xfrm>
            <a:off x="1303934" y="2273198"/>
            <a:ext cx="3701491" cy="2551176"/>
          </a:xfrm>
          <a:prstGeom prst="line">
            <a:avLst/>
          </a:prstGeom>
          <a:noFill/>
          <a:ln w="22225">
            <a:solidFill>
              <a:srgbClr val="101034"/>
            </a:solidFill>
            <a:prstDash val="dash"/>
          </a:ln>
        </p:spPr>
        <p:txBody>
          <a:bodyPr/>
          <a:lstStyle/>
          <a:p>
            <a:endParaRPr lang="en-US"/>
          </a:p>
        </p:txBody>
      </p:sp>
      <p:sp>
        <p:nvSpPr>
          <p:cNvPr id="9" name="Shape 7"/>
          <p:cNvSpPr/>
          <p:nvPr/>
        </p:nvSpPr>
        <p:spPr>
          <a:xfrm>
            <a:off x="1399032" y="4354373"/>
            <a:ext cx="146304" cy="146304"/>
          </a:xfrm>
          <a:prstGeom prst="ellipse">
            <a:avLst/>
          </a:prstGeom>
          <a:solidFill>
            <a:srgbClr val="E09400"/>
          </a:solidFill>
          <a:ln w="9525">
            <a:solidFill>
              <a:srgbClr val="FFFFFF"/>
            </a:solidFill>
            <a:prstDash val="solid"/>
          </a:ln>
        </p:spPr>
        <p:txBody>
          <a:bodyPr/>
          <a:lstStyle/>
          <a:p>
            <a:endParaRPr lang="en-US"/>
          </a:p>
        </p:txBody>
      </p:sp>
      <p:sp>
        <p:nvSpPr>
          <p:cNvPr id="10" name="Shape 8"/>
          <p:cNvSpPr/>
          <p:nvPr/>
        </p:nvSpPr>
        <p:spPr>
          <a:xfrm>
            <a:off x="1735531" y="3900830"/>
            <a:ext cx="146304" cy="146304"/>
          </a:xfrm>
          <a:prstGeom prst="ellipse">
            <a:avLst/>
          </a:prstGeom>
          <a:solidFill>
            <a:srgbClr val="E09400"/>
          </a:solidFill>
          <a:ln w="9525">
            <a:solidFill>
              <a:srgbClr val="FFFFFF"/>
            </a:solidFill>
            <a:prstDash val="solid"/>
          </a:ln>
        </p:spPr>
        <p:txBody>
          <a:bodyPr/>
          <a:lstStyle/>
          <a:p>
            <a:endParaRPr lang="en-US"/>
          </a:p>
        </p:txBody>
      </p:sp>
      <p:sp>
        <p:nvSpPr>
          <p:cNvPr id="11" name="Shape 9"/>
          <p:cNvSpPr/>
          <p:nvPr/>
        </p:nvSpPr>
        <p:spPr>
          <a:xfrm>
            <a:off x="2029968" y="4467758"/>
            <a:ext cx="146304" cy="146304"/>
          </a:xfrm>
          <a:prstGeom prst="ellipse">
            <a:avLst/>
          </a:prstGeom>
          <a:solidFill>
            <a:srgbClr val="E09400"/>
          </a:solidFill>
          <a:ln w="9525">
            <a:solidFill>
              <a:srgbClr val="FFFFFF"/>
            </a:solidFill>
            <a:prstDash val="solid"/>
          </a:ln>
        </p:spPr>
        <p:txBody>
          <a:bodyPr/>
          <a:lstStyle/>
          <a:p>
            <a:endParaRPr lang="en-US"/>
          </a:p>
        </p:txBody>
      </p:sp>
      <p:sp>
        <p:nvSpPr>
          <p:cNvPr id="12" name="Shape 10"/>
          <p:cNvSpPr/>
          <p:nvPr/>
        </p:nvSpPr>
        <p:spPr>
          <a:xfrm>
            <a:off x="2282342" y="3730752"/>
            <a:ext cx="146304" cy="146304"/>
          </a:xfrm>
          <a:prstGeom prst="ellipse">
            <a:avLst/>
          </a:prstGeom>
          <a:solidFill>
            <a:srgbClr val="E09400"/>
          </a:solidFill>
          <a:ln w="9525">
            <a:solidFill>
              <a:srgbClr val="FFFFFF"/>
            </a:solidFill>
            <a:prstDash val="solid"/>
          </a:ln>
        </p:spPr>
        <p:txBody>
          <a:bodyPr/>
          <a:lstStyle/>
          <a:p>
            <a:endParaRPr lang="en-US"/>
          </a:p>
        </p:txBody>
      </p:sp>
      <p:sp>
        <p:nvSpPr>
          <p:cNvPr id="13" name="Shape 11"/>
          <p:cNvSpPr/>
          <p:nvPr/>
        </p:nvSpPr>
        <p:spPr>
          <a:xfrm>
            <a:off x="1525219" y="3447288"/>
            <a:ext cx="146304" cy="146304"/>
          </a:xfrm>
          <a:prstGeom prst="ellipse">
            <a:avLst/>
          </a:prstGeom>
          <a:solidFill>
            <a:srgbClr val="E09400"/>
          </a:solidFill>
          <a:ln w="9525">
            <a:solidFill>
              <a:srgbClr val="FFFFFF"/>
            </a:solidFill>
            <a:prstDash val="solid"/>
          </a:ln>
        </p:spPr>
        <p:txBody>
          <a:bodyPr/>
          <a:lstStyle/>
          <a:p>
            <a:endParaRPr lang="en-US"/>
          </a:p>
        </p:txBody>
      </p:sp>
      <p:sp>
        <p:nvSpPr>
          <p:cNvPr id="14" name="Shape 12"/>
          <p:cNvSpPr/>
          <p:nvPr/>
        </p:nvSpPr>
        <p:spPr>
          <a:xfrm>
            <a:off x="2534717" y="4155948"/>
            <a:ext cx="146304" cy="146304"/>
          </a:xfrm>
          <a:prstGeom prst="ellipse">
            <a:avLst/>
          </a:prstGeom>
          <a:solidFill>
            <a:srgbClr val="E09400"/>
          </a:solidFill>
          <a:ln w="9525">
            <a:solidFill>
              <a:srgbClr val="FFFFFF"/>
            </a:solidFill>
            <a:prstDash val="solid"/>
          </a:ln>
        </p:spPr>
        <p:txBody>
          <a:bodyPr/>
          <a:lstStyle/>
          <a:p>
            <a:endParaRPr lang="en-US"/>
          </a:p>
        </p:txBody>
      </p:sp>
      <p:sp>
        <p:nvSpPr>
          <p:cNvPr id="15" name="Shape 13"/>
          <p:cNvSpPr/>
          <p:nvPr/>
        </p:nvSpPr>
        <p:spPr>
          <a:xfrm>
            <a:off x="1861718" y="3107131"/>
            <a:ext cx="146304" cy="146304"/>
          </a:xfrm>
          <a:prstGeom prst="ellipse">
            <a:avLst/>
          </a:prstGeom>
          <a:solidFill>
            <a:srgbClr val="E09400"/>
          </a:solidFill>
          <a:ln w="9525">
            <a:solidFill>
              <a:srgbClr val="FFFFFF"/>
            </a:solidFill>
            <a:prstDash val="solid"/>
          </a:ln>
        </p:spPr>
        <p:txBody>
          <a:bodyPr/>
          <a:lstStyle/>
          <a:p>
            <a:endParaRPr lang="en-US"/>
          </a:p>
        </p:txBody>
      </p:sp>
      <p:sp>
        <p:nvSpPr>
          <p:cNvPr id="16" name="Shape 14"/>
          <p:cNvSpPr/>
          <p:nvPr/>
        </p:nvSpPr>
        <p:spPr>
          <a:xfrm>
            <a:off x="2829154" y="4524451"/>
            <a:ext cx="146304" cy="146304"/>
          </a:xfrm>
          <a:prstGeom prst="ellipse">
            <a:avLst/>
          </a:prstGeom>
          <a:solidFill>
            <a:srgbClr val="E09400"/>
          </a:solidFill>
          <a:ln w="9525">
            <a:solidFill>
              <a:srgbClr val="FFFFFF"/>
            </a:solidFill>
            <a:prstDash val="solid"/>
          </a:ln>
        </p:spPr>
        <p:txBody>
          <a:bodyPr/>
          <a:lstStyle/>
          <a:p>
            <a:endParaRPr lang="en-US"/>
          </a:p>
        </p:txBody>
      </p:sp>
      <p:sp>
        <p:nvSpPr>
          <p:cNvPr id="17" name="Shape 15"/>
          <p:cNvSpPr/>
          <p:nvPr/>
        </p:nvSpPr>
        <p:spPr>
          <a:xfrm>
            <a:off x="2240280" y="4354373"/>
            <a:ext cx="146304" cy="146304"/>
          </a:xfrm>
          <a:prstGeom prst="ellipse">
            <a:avLst/>
          </a:prstGeom>
          <a:solidFill>
            <a:srgbClr val="E09400"/>
          </a:solidFill>
          <a:ln w="9525">
            <a:solidFill>
              <a:srgbClr val="FFFFFF"/>
            </a:solidFill>
            <a:prstDash val="solid"/>
          </a:ln>
        </p:spPr>
        <p:txBody>
          <a:bodyPr/>
          <a:lstStyle/>
          <a:p>
            <a:endParaRPr lang="en-US"/>
          </a:p>
        </p:txBody>
      </p:sp>
      <p:sp>
        <p:nvSpPr>
          <p:cNvPr id="18" name="Shape 16"/>
          <p:cNvSpPr/>
          <p:nvPr/>
        </p:nvSpPr>
        <p:spPr>
          <a:xfrm>
            <a:off x="1609344" y="4184294"/>
            <a:ext cx="146304" cy="146304"/>
          </a:xfrm>
          <a:prstGeom prst="ellipse">
            <a:avLst/>
          </a:prstGeom>
          <a:solidFill>
            <a:srgbClr val="E09400"/>
          </a:solidFill>
          <a:ln w="9525">
            <a:solidFill>
              <a:srgbClr val="FFFFFF"/>
            </a:solidFill>
            <a:prstDash val="solid"/>
          </a:ln>
        </p:spPr>
        <p:txBody>
          <a:bodyPr/>
          <a:lstStyle/>
          <a:p>
            <a:endParaRPr lang="en-US"/>
          </a:p>
        </p:txBody>
      </p:sp>
      <p:sp>
        <p:nvSpPr>
          <p:cNvPr id="19" name="Shape 17"/>
          <p:cNvSpPr/>
          <p:nvPr/>
        </p:nvSpPr>
        <p:spPr>
          <a:xfrm>
            <a:off x="3586277" y="2455164"/>
            <a:ext cx="146304" cy="146304"/>
          </a:xfrm>
          <a:prstGeom prst="ellipse">
            <a:avLst/>
          </a:prstGeom>
          <a:solidFill>
            <a:srgbClr val="2A2D7C"/>
          </a:solidFill>
          <a:ln w="9525">
            <a:solidFill>
              <a:srgbClr val="FFFFFF"/>
            </a:solidFill>
            <a:prstDash val="solid"/>
          </a:ln>
        </p:spPr>
        <p:txBody>
          <a:bodyPr/>
          <a:lstStyle/>
          <a:p>
            <a:endParaRPr lang="en-US"/>
          </a:p>
        </p:txBody>
      </p:sp>
      <p:sp>
        <p:nvSpPr>
          <p:cNvPr id="20" name="Shape 18"/>
          <p:cNvSpPr/>
          <p:nvPr/>
        </p:nvSpPr>
        <p:spPr>
          <a:xfrm>
            <a:off x="3922776" y="3163824"/>
            <a:ext cx="146304" cy="146304"/>
          </a:xfrm>
          <a:prstGeom prst="ellipse">
            <a:avLst/>
          </a:prstGeom>
          <a:solidFill>
            <a:srgbClr val="2A2D7C"/>
          </a:solidFill>
          <a:ln w="9525">
            <a:solidFill>
              <a:srgbClr val="FFFFFF"/>
            </a:solidFill>
            <a:prstDash val="solid"/>
          </a:ln>
        </p:spPr>
        <p:txBody>
          <a:bodyPr/>
          <a:lstStyle/>
          <a:p>
            <a:endParaRPr lang="en-US"/>
          </a:p>
        </p:txBody>
      </p:sp>
      <p:sp>
        <p:nvSpPr>
          <p:cNvPr id="21" name="Shape 19"/>
          <p:cNvSpPr/>
          <p:nvPr/>
        </p:nvSpPr>
        <p:spPr>
          <a:xfrm>
            <a:off x="4259275" y="2625242"/>
            <a:ext cx="146304" cy="146304"/>
          </a:xfrm>
          <a:prstGeom prst="ellipse">
            <a:avLst/>
          </a:prstGeom>
          <a:solidFill>
            <a:srgbClr val="2A2D7C"/>
          </a:solidFill>
          <a:ln w="9525">
            <a:solidFill>
              <a:srgbClr val="FFFFFF"/>
            </a:solidFill>
            <a:prstDash val="solid"/>
          </a:ln>
        </p:spPr>
        <p:txBody>
          <a:bodyPr/>
          <a:lstStyle/>
          <a:p>
            <a:endParaRPr lang="en-US"/>
          </a:p>
        </p:txBody>
      </p:sp>
      <p:sp>
        <p:nvSpPr>
          <p:cNvPr id="22" name="Shape 20"/>
          <p:cNvSpPr/>
          <p:nvPr/>
        </p:nvSpPr>
        <p:spPr>
          <a:xfrm>
            <a:off x="4637837" y="3305556"/>
            <a:ext cx="146304" cy="146304"/>
          </a:xfrm>
          <a:prstGeom prst="ellipse">
            <a:avLst/>
          </a:prstGeom>
          <a:solidFill>
            <a:srgbClr val="2A2D7C"/>
          </a:solidFill>
          <a:ln w="9525">
            <a:solidFill>
              <a:srgbClr val="FFFFFF"/>
            </a:solidFill>
            <a:prstDash val="solid"/>
          </a:ln>
        </p:spPr>
        <p:txBody>
          <a:bodyPr/>
          <a:lstStyle/>
          <a:p>
            <a:endParaRPr lang="en-US"/>
          </a:p>
        </p:txBody>
      </p:sp>
      <p:sp>
        <p:nvSpPr>
          <p:cNvPr id="23" name="Shape 21"/>
          <p:cNvSpPr/>
          <p:nvPr/>
        </p:nvSpPr>
        <p:spPr>
          <a:xfrm>
            <a:off x="3838651" y="3645713"/>
            <a:ext cx="146304" cy="146304"/>
          </a:xfrm>
          <a:prstGeom prst="ellipse">
            <a:avLst/>
          </a:prstGeom>
          <a:solidFill>
            <a:srgbClr val="2A2D7C"/>
          </a:solidFill>
          <a:ln w="9525">
            <a:solidFill>
              <a:srgbClr val="FFFFFF"/>
            </a:solidFill>
            <a:prstDash val="solid"/>
          </a:ln>
        </p:spPr>
        <p:txBody>
          <a:bodyPr/>
          <a:lstStyle/>
          <a:p>
            <a:endParaRPr lang="en-US"/>
          </a:p>
        </p:txBody>
      </p:sp>
      <p:sp>
        <p:nvSpPr>
          <p:cNvPr id="24" name="Shape 22"/>
          <p:cNvSpPr/>
          <p:nvPr/>
        </p:nvSpPr>
        <p:spPr>
          <a:xfrm>
            <a:off x="4764024" y="2852014"/>
            <a:ext cx="146304" cy="146304"/>
          </a:xfrm>
          <a:prstGeom prst="ellipse">
            <a:avLst/>
          </a:prstGeom>
          <a:solidFill>
            <a:srgbClr val="2A2D7C"/>
          </a:solidFill>
          <a:ln w="9525">
            <a:solidFill>
              <a:srgbClr val="FFFFFF"/>
            </a:solidFill>
            <a:prstDash val="solid"/>
          </a:ln>
        </p:spPr>
        <p:txBody>
          <a:bodyPr/>
          <a:lstStyle/>
          <a:p>
            <a:endParaRPr lang="en-US"/>
          </a:p>
        </p:txBody>
      </p:sp>
      <p:sp>
        <p:nvSpPr>
          <p:cNvPr id="25" name="Shape 23"/>
          <p:cNvSpPr/>
          <p:nvPr/>
        </p:nvSpPr>
        <p:spPr>
          <a:xfrm>
            <a:off x="3333902" y="2965399"/>
            <a:ext cx="146304" cy="146304"/>
          </a:xfrm>
          <a:prstGeom prst="ellipse">
            <a:avLst/>
          </a:prstGeom>
          <a:solidFill>
            <a:srgbClr val="2A2D7C"/>
          </a:solidFill>
          <a:ln w="9525">
            <a:solidFill>
              <a:srgbClr val="FFFFFF"/>
            </a:solidFill>
            <a:prstDash val="solid"/>
          </a:ln>
        </p:spPr>
        <p:txBody>
          <a:bodyPr/>
          <a:lstStyle/>
          <a:p>
            <a:endParaRPr lang="en-US"/>
          </a:p>
        </p:txBody>
      </p:sp>
      <p:sp>
        <p:nvSpPr>
          <p:cNvPr id="26" name="Shape 24"/>
          <p:cNvSpPr/>
          <p:nvPr/>
        </p:nvSpPr>
        <p:spPr>
          <a:xfrm>
            <a:off x="4385462" y="2313432"/>
            <a:ext cx="146304" cy="146304"/>
          </a:xfrm>
          <a:prstGeom prst="ellipse">
            <a:avLst/>
          </a:prstGeom>
          <a:solidFill>
            <a:srgbClr val="2A2D7C"/>
          </a:solidFill>
          <a:ln w="9525">
            <a:solidFill>
              <a:srgbClr val="FFFFFF"/>
            </a:solidFill>
            <a:prstDash val="solid"/>
          </a:ln>
        </p:spPr>
        <p:txBody>
          <a:bodyPr/>
          <a:lstStyle/>
          <a:p>
            <a:endParaRPr lang="en-US"/>
          </a:p>
        </p:txBody>
      </p:sp>
      <p:sp>
        <p:nvSpPr>
          <p:cNvPr id="27" name="Shape 25"/>
          <p:cNvSpPr/>
          <p:nvPr/>
        </p:nvSpPr>
        <p:spPr>
          <a:xfrm>
            <a:off x="4006901" y="2256739"/>
            <a:ext cx="146304" cy="146304"/>
          </a:xfrm>
          <a:prstGeom prst="ellipse">
            <a:avLst/>
          </a:prstGeom>
          <a:solidFill>
            <a:srgbClr val="2A2D7C"/>
          </a:solidFill>
          <a:ln w="9525">
            <a:solidFill>
              <a:srgbClr val="FFFFFF"/>
            </a:solidFill>
            <a:prstDash val="solid"/>
          </a:ln>
        </p:spPr>
        <p:txBody>
          <a:bodyPr/>
          <a:lstStyle/>
          <a:p>
            <a:endParaRPr lang="en-US"/>
          </a:p>
        </p:txBody>
      </p:sp>
      <p:sp>
        <p:nvSpPr>
          <p:cNvPr id="28" name="Shape 26"/>
          <p:cNvSpPr/>
          <p:nvPr/>
        </p:nvSpPr>
        <p:spPr>
          <a:xfrm>
            <a:off x="4679899" y="3787445"/>
            <a:ext cx="146304" cy="146304"/>
          </a:xfrm>
          <a:prstGeom prst="ellipse">
            <a:avLst/>
          </a:prstGeom>
          <a:solidFill>
            <a:srgbClr val="2A2D7C"/>
          </a:solidFill>
          <a:ln w="9525">
            <a:solidFill>
              <a:srgbClr val="FFFFFF"/>
            </a:solidFill>
            <a:prstDash val="solid"/>
          </a:ln>
        </p:spPr>
        <p:txBody>
          <a:bodyPr/>
          <a:lstStyle/>
          <a:p>
            <a:endParaRPr lang="en-US"/>
          </a:p>
        </p:txBody>
      </p:sp>
      <p:sp>
        <p:nvSpPr>
          <p:cNvPr id="29" name="Shape 27"/>
          <p:cNvSpPr/>
          <p:nvPr/>
        </p:nvSpPr>
        <p:spPr>
          <a:xfrm>
            <a:off x="3092501" y="3374136"/>
            <a:ext cx="292608" cy="292608"/>
          </a:xfrm>
          <a:prstGeom prst="ellipse">
            <a:avLst/>
          </a:prstGeom>
          <a:solidFill>
            <a:srgbClr val="FFFFFF"/>
          </a:solidFill>
          <a:ln w="28575">
            <a:solidFill>
              <a:srgbClr val="C0503C"/>
            </a:solidFill>
            <a:prstDash val="solid"/>
          </a:ln>
        </p:spPr>
        <p:txBody>
          <a:bodyPr/>
          <a:lstStyle/>
          <a:p>
            <a:endParaRPr lang="en-US"/>
          </a:p>
        </p:txBody>
      </p:sp>
      <p:sp>
        <p:nvSpPr>
          <p:cNvPr id="30" name="Text 28"/>
          <p:cNvSpPr/>
          <p:nvPr/>
        </p:nvSpPr>
        <p:spPr>
          <a:xfrm>
            <a:off x="3092501" y="3374136"/>
            <a:ext cx="292608" cy="292608"/>
          </a:xfrm>
          <a:prstGeom prst="rect">
            <a:avLst/>
          </a:prstGeom>
          <a:noFill/>
          <a:ln/>
        </p:spPr>
        <p:txBody>
          <a:bodyPr wrap="square" lIns="0" tIns="0" rIns="0" bIns="0" rtlCol="0" anchor="ctr"/>
          <a:lstStyle/>
          <a:p>
            <a:pPr marL="0" indent="0" algn="ctr">
              <a:buNone/>
            </a:pPr>
            <a:r>
              <a:rPr lang="en-US" sz="1200" b="1" dirty="0">
                <a:solidFill>
                  <a:srgbClr val="C0503C"/>
                </a:solidFill>
                <a:latin typeface="Arial" pitchFamily="34" charset="0"/>
                <a:ea typeface="Arial" pitchFamily="34" charset="-122"/>
                <a:cs typeface="Arial" pitchFamily="34" charset="-120"/>
              </a:rPr>
              <a:t>?</a:t>
            </a:r>
            <a:endParaRPr lang="en-US" sz="1200" dirty="0"/>
          </a:p>
        </p:txBody>
      </p:sp>
      <p:sp>
        <p:nvSpPr>
          <p:cNvPr id="31" name="Shape 29"/>
          <p:cNvSpPr/>
          <p:nvPr/>
        </p:nvSpPr>
        <p:spPr>
          <a:xfrm>
            <a:off x="1051560" y="5486400"/>
            <a:ext cx="146304" cy="146304"/>
          </a:xfrm>
          <a:prstGeom prst="ellipse">
            <a:avLst/>
          </a:prstGeom>
          <a:solidFill>
            <a:srgbClr val="E09400"/>
          </a:solidFill>
          <a:ln w="12700">
            <a:solidFill>
              <a:srgbClr val="E09400"/>
            </a:solidFill>
            <a:prstDash val="solid"/>
          </a:ln>
        </p:spPr>
        <p:txBody>
          <a:bodyPr/>
          <a:lstStyle/>
          <a:p>
            <a:endParaRPr lang="en-US"/>
          </a:p>
        </p:txBody>
      </p:sp>
      <p:sp>
        <p:nvSpPr>
          <p:cNvPr id="32" name="Text 30"/>
          <p:cNvSpPr/>
          <p:nvPr/>
        </p:nvSpPr>
        <p:spPr>
          <a:xfrm>
            <a:off x="1271016" y="5422392"/>
            <a:ext cx="1188720" cy="274320"/>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Defaulted</a:t>
            </a:r>
            <a:endParaRPr lang="en-US" sz="1050" dirty="0"/>
          </a:p>
        </p:txBody>
      </p:sp>
      <p:sp>
        <p:nvSpPr>
          <p:cNvPr id="33" name="Shape 31"/>
          <p:cNvSpPr/>
          <p:nvPr/>
        </p:nvSpPr>
        <p:spPr>
          <a:xfrm>
            <a:off x="2468880" y="5486400"/>
            <a:ext cx="146304" cy="146304"/>
          </a:xfrm>
          <a:prstGeom prst="ellipse">
            <a:avLst/>
          </a:prstGeom>
          <a:solidFill>
            <a:srgbClr val="2A2D7C"/>
          </a:solidFill>
          <a:ln w="12700">
            <a:solidFill>
              <a:srgbClr val="2A2D7C"/>
            </a:solidFill>
            <a:prstDash val="solid"/>
          </a:ln>
        </p:spPr>
        <p:txBody>
          <a:bodyPr/>
          <a:lstStyle/>
          <a:p>
            <a:endParaRPr lang="en-US"/>
          </a:p>
        </p:txBody>
      </p:sp>
      <p:sp>
        <p:nvSpPr>
          <p:cNvPr id="34" name="Text 32"/>
          <p:cNvSpPr/>
          <p:nvPr/>
        </p:nvSpPr>
        <p:spPr>
          <a:xfrm>
            <a:off x="2688336" y="5422392"/>
            <a:ext cx="1188720" cy="274320"/>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Repaid</a:t>
            </a:r>
            <a:endParaRPr lang="en-US" sz="1050" dirty="0"/>
          </a:p>
        </p:txBody>
      </p:sp>
      <p:sp>
        <p:nvSpPr>
          <p:cNvPr id="35" name="Shape 33"/>
          <p:cNvSpPr/>
          <p:nvPr/>
        </p:nvSpPr>
        <p:spPr>
          <a:xfrm>
            <a:off x="3886200" y="5486400"/>
            <a:ext cx="146304" cy="146304"/>
          </a:xfrm>
          <a:prstGeom prst="ellipse">
            <a:avLst/>
          </a:prstGeom>
          <a:solidFill>
            <a:srgbClr val="C0503C"/>
          </a:solidFill>
          <a:ln w="12700">
            <a:solidFill>
              <a:srgbClr val="C0503C"/>
            </a:solidFill>
            <a:prstDash val="solid"/>
          </a:ln>
        </p:spPr>
        <p:txBody>
          <a:bodyPr/>
          <a:lstStyle/>
          <a:p>
            <a:endParaRPr lang="en-US"/>
          </a:p>
        </p:txBody>
      </p:sp>
      <p:sp>
        <p:nvSpPr>
          <p:cNvPr id="36" name="Text 34"/>
          <p:cNvSpPr/>
          <p:nvPr/>
        </p:nvSpPr>
        <p:spPr>
          <a:xfrm>
            <a:off x="4105656" y="5422392"/>
            <a:ext cx="1188720" cy="274320"/>
          </a:xfrm>
          <a:prstGeom prst="rect">
            <a:avLst/>
          </a:prstGeom>
          <a:noFill/>
          <a:ln/>
        </p:spPr>
        <p:txBody>
          <a:bodyPr wrap="square" lIns="0" tIns="0" rIns="0" bIns="0" rtlCol="0" anchor="ctr"/>
          <a:lstStyle/>
          <a:p>
            <a:pPr marL="0" indent="0">
              <a:buNone/>
            </a:pPr>
            <a:r>
              <a:rPr lang="en-US" sz="1050" dirty="0">
                <a:solidFill>
                  <a:srgbClr val="5A5F73"/>
                </a:solidFill>
                <a:latin typeface="Calibri" pitchFamily="34" charset="0"/>
                <a:ea typeface="Calibri" pitchFamily="34" charset="-122"/>
                <a:cs typeface="Calibri" pitchFamily="34" charset="-120"/>
              </a:rPr>
              <a:t>New case</a:t>
            </a:r>
            <a:endParaRPr lang="en-US" sz="1050" dirty="0"/>
          </a:p>
        </p:txBody>
      </p:sp>
      <p:sp>
        <p:nvSpPr>
          <p:cNvPr id="37" name="Text 35"/>
          <p:cNvSpPr/>
          <p:nvPr/>
        </p:nvSpPr>
        <p:spPr>
          <a:xfrm>
            <a:off x="548640" y="5788152"/>
            <a:ext cx="4937760" cy="502920"/>
          </a:xfrm>
          <a:prstGeom prst="rect">
            <a:avLst/>
          </a:prstGeom>
          <a:noFill/>
          <a:ln/>
        </p:spPr>
        <p:txBody>
          <a:bodyPr wrap="square" lIns="0" tIns="0" rIns="0" bIns="0" rtlCol="0" anchor="ctr"/>
          <a:lstStyle/>
          <a:p>
            <a:pPr marL="0" indent="0">
              <a:buNone/>
            </a:pPr>
            <a:r>
              <a:rPr lang="en-US" sz="1100" i="1" dirty="0">
                <a:solidFill>
                  <a:srgbClr val="5A5F73"/>
                </a:solidFill>
                <a:latin typeface="Calibri" pitchFamily="34" charset="0"/>
                <a:ea typeface="Calibri" pitchFamily="34" charset="-122"/>
                <a:cs typeface="Calibri" pitchFamily="34" charset="-120"/>
              </a:rPr>
              <a:t>The dashed line is the decision boundary the model learned. A case near it is a low-confidence call.</a:t>
            </a:r>
            <a:endParaRPr lang="en-US" sz="1100" dirty="0"/>
          </a:p>
        </p:txBody>
      </p:sp>
      <p:sp>
        <p:nvSpPr>
          <p:cNvPr id="38" name="Text 36"/>
          <p:cNvSpPr/>
          <p:nvPr/>
        </p:nvSpPr>
        <p:spPr>
          <a:xfrm>
            <a:off x="6309360" y="1691640"/>
            <a:ext cx="5303520" cy="292608"/>
          </a:xfrm>
          <a:prstGeom prst="rect">
            <a:avLst/>
          </a:prstGeom>
          <a:noFill/>
          <a:ln/>
        </p:spPr>
        <p:txBody>
          <a:bodyPr wrap="square" lIns="0" tIns="0" rIns="0" bIns="0" rtlCol="0" anchor="ctr"/>
          <a:lstStyle/>
          <a:p>
            <a:pPr marL="0" indent="0">
              <a:buNone/>
            </a:pPr>
            <a:r>
              <a:rPr lang="en-US" sz="1500" b="1" dirty="0">
                <a:solidFill>
                  <a:srgbClr val="2A2D7C"/>
                </a:solidFill>
                <a:latin typeface="Arial" pitchFamily="34" charset="0"/>
                <a:ea typeface="Arial" pitchFamily="34" charset="-122"/>
                <a:cs typeface="Arial" pitchFamily="34" charset="-120"/>
              </a:rPr>
              <a:t>Reading the results</a:t>
            </a:r>
            <a:endParaRPr lang="en-US" sz="1500" dirty="0"/>
          </a:p>
        </p:txBody>
      </p:sp>
      <p:sp>
        <p:nvSpPr>
          <p:cNvPr id="39" name="Text 37"/>
          <p:cNvSpPr/>
          <p:nvPr/>
        </p:nvSpPr>
        <p:spPr>
          <a:xfrm>
            <a:off x="8001000" y="2084832"/>
            <a:ext cx="1755648" cy="274320"/>
          </a:xfrm>
          <a:prstGeom prst="rect">
            <a:avLst/>
          </a:prstGeom>
          <a:noFill/>
          <a:ln/>
        </p:spPr>
        <p:txBody>
          <a:bodyPr wrap="square" lIns="0" tIns="0" rIns="0" bIns="0" rtlCol="0" anchor="ctr"/>
          <a:lstStyle/>
          <a:p>
            <a:pPr marL="0" indent="0" algn="ctr">
              <a:buNone/>
            </a:pPr>
            <a:r>
              <a:rPr lang="en-US" sz="1000" b="1" dirty="0">
                <a:solidFill>
                  <a:srgbClr val="5A5F73"/>
                </a:solidFill>
                <a:latin typeface="Arial" pitchFamily="34" charset="0"/>
                <a:ea typeface="Arial" pitchFamily="34" charset="-122"/>
                <a:cs typeface="Arial" pitchFamily="34" charset="-120"/>
              </a:rPr>
              <a:t>Predicted YES</a:t>
            </a:r>
            <a:endParaRPr lang="en-US" sz="1000" dirty="0"/>
          </a:p>
        </p:txBody>
      </p:sp>
      <p:sp>
        <p:nvSpPr>
          <p:cNvPr id="40" name="Text 38"/>
          <p:cNvSpPr/>
          <p:nvPr/>
        </p:nvSpPr>
        <p:spPr>
          <a:xfrm>
            <a:off x="9756648" y="2084832"/>
            <a:ext cx="1755648" cy="274320"/>
          </a:xfrm>
          <a:prstGeom prst="rect">
            <a:avLst/>
          </a:prstGeom>
          <a:noFill/>
          <a:ln/>
        </p:spPr>
        <p:txBody>
          <a:bodyPr wrap="square" lIns="0" tIns="0" rIns="0" bIns="0" rtlCol="0" anchor="ctr"/>
          <a:lstStyle/>
          <a:p>
            <a:pPr marL="0" indent="0" algn="ctr">
              <a:buNone/>
            </a:pPr>
            <a:r>
              <a:rPr lang="en-US" sz="1000" b="1" dirty="0">
                <a:solidFill>
                  <a:srgbClr val="5A5F73"/>
                </a:solidFill>
                <a:latin typeface="Arial" pitchFamily="34" charset="0"/>
                <a:ea typeface="Arial" pitchFamily="34" charset="-122"/>
                <a:cs typeface="Arial" pitchFamily="34" charset="-120"/>
              </a:rPr>
              <a:t>Predicted NO</a:t>
            </a:r>
            <a:endParaRPr lang="en-US" sz="1000" dirty="0"/>
          </a:p>
        </p:txBody>
      </p:sp>
      <p:sp>
        <p:nvSpPr>
          <p:cNvPr id="41" name="Text 39"/>
          <p:cNvSpPr/>
          <p:nvPr/>
        </p:nvSpPr>
        <p:spPr>
          <a:xfrm>
            <a:off x="6309360" y="2395728"/>
            <a:ext cx="1554480" cy="749808"/>
          </a:xfrm>
          <a:prstGeom prst="rect">
            <a:avLst/>
          </a:prstGeom>
          <a:noFill/>
          <a:ln/>
        </p:spPr>
        <p:txBody>
          <a:bodyPr wrap="square" lIns="0" tIns="0" rIns="0" bIns="0" rtlCol="0" anchor="ctr"/>
          <a:lstStyle/>
          <a:p>
            <a:pPr marL="0" indent="0" algn="r">
              <a:buNone/>
            </a:pPr>
            <a:r>
              <a:rPr lang="en-US" sz="1000" b="1" dirty="0">
                <a:solidFill>
                  <a:srgbClr val="5A5F73"/>
                </a:solidFill>
                <a:latin typeface="Arial" pitchFamily="34" charset="0"/>
                <a:ea typeface="Arial" pitchFamily="34" charset="-122"/>
                <a:cs typeface="Arial" pitchFamily="34" charset="-120"/>
              </a:rPr>
              <a:t>Actually YES</a:t>
            </a:r>
            <a:endParaRPr lang="en-US" sz="1000" dirty="0"/>
          </a:p>
        </p:txBody>
      </p:sp>
      <p:sp>
        <p:nvSpPr>
          <p:cNvPr id="42" name="Text 40"/>
          <p:cNvSpPr/>
          <p:nvPr/>
        </p:nvSpPr>
        <p:spPr>
          <a:xfrm>
            <a:off x="6309360" y="3145536"/>
            <a:ext cx="1554480" cy="749808"/>
          </a:xfrm>
          <a:prstGeom prst="rect">
            <a:avLst/>
          </a:prstGeom>
          <a:noFill/>
          <a:ln/>
        </p:spPr>
        <p:txBody>
          <a:bodyPr wrap="square" lIns="0" tIns="0" rIns="0" bIns="0" rtlCol="0" anchor="ctr"/>
          <a:lstStyle/>
          <a:p>
            <a:pPr marL="0" indent="0" algn="r">
              <a:buNone/>
            </a:pPr>
            <a:r>
              <a:rPr lang="en-US" sz="1000" b="1" dirty="0">
                <a:solidFill>
                  <a:srgbClr val="5A5F73"/>
                </a:solidFill>
                <a:latin typeface="Arial" pitchFamily="34" charset="0"/>
                <a:ea typeface="Arial" pitchFamily="34" charset="-122"/>
                <a:cs typeface="Arial" pitchFamily="34" charset="-120"/>
              </a:rPr>
              <a:t>Actually NO</a:t>
            </a:r>
            <a:endParaRPr lang="en-US" sz="1000" dirty="0"/>
          </a:p>
        </p:txBody>
      </p:sp>
      <p:sp>
        <p:nvSpPr>
          <p:cNvPr id="43" name="Shape 41"/>
          <p:cNvSpPr/>
          <p:nvPr/>
        </p:nvSpPr>
        <p:spPr>
          <a:xfrm>
            <a:off x="8001000" y="2395728"/>
            <a:ext cx="1755648" cy="749808"/>
          </a:xfrm>
          <a:prstGeom prst="rect">
            <a:avLst/>
          </a:prstGeom>
          <a:solidFill>
            <a:srgbClr val="EEF7F7"/>
          </a:solidFill>
          <a:ln w="12700">
            <a:solidFill>
              <a:srgbClr val="DCDFEE"/>
            </a:solidFill>
            <a:prstDash val="solid"/>
          </a:ln>
        </p:spPr>
        <p:txBody>
          <a:bodyPr/>
          <a:lstStyle/>
          <a:p>
            <a:endParaRPr lang="en-US"/>
          </a:p>
        </p:txBody>
      </p:sp>
      <p:sp>
        <p:nvSpPr>
          <p:cNvPr id="44" name="Text 42"/>
          <p:cNvSpPr/>
          <p:nvPr/>
        </p:nvSpPr>
        <p:spPr>
          <a:xfrm>
            <a:off x="8001000" y="2505456"/>
            <a:ext cx="1755648" cy="256032"/>
          </a:xfrm>
          <a:prstGeom prst="rect">
            <a:avLst/>
          </a:prstGeom>
          <a:noFill/>
          <a:ln/>
        </p:spPr>
        <p:txBody>
          <a:bodyPr wrap="square" lIns="0" tIns="0" rIns="0" bIns="0" rtlCol="0" anchor="ctr"/>
          <a:lstStyle/>
          <a:p>
            <a:pPr marL="0" indent="0" algn="ctr">
              <a:buNone/>
            </a:pPr>
            <a:r>
              <a:rPr lang="en-US" sz="1100" b="1" dirty="0">
                <a:solidFill>
                  <a:srgbClr val="00A6A6"/>
                </a:solidFill>
                <a:latin typeface="Arial" pitchFamily="34" charset="0"/>
                <a:ea typeface="Arial" pitchFamily="34" charset="-122"/>
                <a:cs typeface="Arial" pitchFamily="34" charset="-120"/>
              </a:rPr>
              <a:t>True positive</a:t>
            </a:r>
            <a:endParaRPr lang="en-US" sz="1100" dirty="0"/>
          </a:p>
        </p:txBody>
      </p:sp>
      <p:sp>
        <p:nvSpPr>
          <p:cNvPr id="45" name="Text 43"/>
          <p:cNvSpPr/>
          <p:nvPr/>
        </p:nvSpPr>
        <p:spPr>
          <a:xfrm>
            <a:off x="8001000" y="2761488"/>
            <a:ext cx="1755648" cy="256032"/>
          </a:xfrm>
          <a:prstGeom prst="rect">
            <a:avLst/>
          </a:prstGeom>
          <a:noFill/>
          <a:ln/>
        </p:spPr>
        <p:txBody>
          <a:bodyPr wrap="square" lIns="0" tIns="0" rIns="0" bIns="0" rtlCol="0" anchor="ctr"/>
          <a:lstStyle/>
          <a:p>
            <a:pPr marL="0" indent="0" algn="ctr">
              <a:buNone/>
            </a:pPr>
            <a:r>
              <a:rPr lang="en-US" sz="950" i="1" dirty="0">
                <a:solidFill>
                  <a:srgbClr val="5A5F73"/>
                </a:solidFill>
                <a:latin typeface="Calibri" pitchFamily="34" charset="0"/>
                <a:ea typeface="Calibri" pitchFamily="34" charset="-122"/>
                <a:cs typeface="Calibri" pitchFamily="34" charset="-120"/>
              </a:rPr>
              <a:t>caught it</a:t>
            </a:r>
            <a:endParaRPr lang="en-US" sz="950" dirty="0"/>
          </a:p>
        </p:txBody>
      </p:sp>
      <p:sp>
        <p:nvSpPr>
          <p:cNvPr id="46" name="Shape 44"/>
          <p:cNvSpPr/>
          <p:nvPr/>
        </p:nvSpPr>
        <p:spPr>
          <a:xfrm>
            <a:off x="9756648" y="2395728"/>
            <a:ext cx="1755648" cy="749808"/>
          </a:xfrm>
          <a:prstGeom prst="rect">
            <a:avLst/>
          </a:prstGeom>
          <a:solidFill>
            <a:srgbClr val="FDF0EE"/>
          </a:solidFill>
          <a:ln w="12700">
            <a:solidFill>
              <a:srgbClr val="DCDFEE"/>
            </a:solidFill>
            <a:prstDash val="solid"/>
          </a:ln>
        </p:spPr>
        <p:txBody>
          <a:bodyPr/>
          <a:lstStyle/>
          <a:p>
            <a:endParaRPr lang="en-US"/>
          </a:p>
        </p:txBody>
      </p:sp>
      <p:sp>
        <p:nvSpPr>
          <p:cNvPr id="47" name="Text 45"/>
          <p:cNvSpPr/>
          <p:nvPr/>
        </p:nvSpPr>
        <p:spPr>
          <a:xfrm>
            <a:off x="9756648" y="2505456"/>
            <a:ext cx="1755648" cy="256032"/>
          </a:xfrm>
          <a:prstGeom prst="rect">
            <a:avLst/>
          </a:prstGeom>
          <a:noFill/>
          <a:ln/>
        </p:spPr>
        <p:txBody>
          <a:bodyPr wrap="square" lIns="0" tIns="0" rIns="0" bIns="0" rtlCol="0" anchor="ctr"/>
          <a:lstStyle/>
          <a:p>
            <a:pPr marL="0" indent="0" algn="ctr">
              <a:buNone/>
            </a:pPr>
            <a:r>
              <a:rPr lang="en-US" sz="1100" b="1" dirty="0">
                <a:solidFill>
                  <a:srgbClr val="C0503C"/>
                </a:solidFill>
                <a:latin typeface="Arial" pitchFamily="34" charset="0"/>
                <a:ea typeface="Arial" pitchFamily="34" charset="-122"/>
                <a:cs typeface="Arial" pitchFamily="34" charset="-120"/>
              </a:rPr>
              <a:t>False negative</a:t>
            </a:r>
            <a:endParaRPr lang="en-US" sz="1100" dirty="0"/>
          </a:p>
        </p:txBody>
      </p:sp>
      <p:sp>
        <p:nvSpPr>
          <p:cNvPr id="48" name="Text 46"/>
          <p:cNvSpPr/>
          <p:nvPr/>
        </p:nvSpPr>
        <p:spPr>
          <a:xfrm>
            <a:off x="9756648" y="2761488"/>
            <a:ext cx="1755648" cy="256032"/>
          </a:xfrm>
          <a:prstGeom prst="rect">
            <a:avLst/>
          </a:prstGeom>
          <a:noFill/>
          <a:ln/>
        </p:spPr>
        <p:txBody>
          <a:bodyPr wrap="square" lIns="0" tIns="0" rIns="0" bIns="0" rtlCol="0" anchor="ctr"/>
          <a:lstStyle/>
          <a:p>
            <a:pPr marL="0" indent="0" algn="ctr">
              <a:buNone/>
            </a:pPr>
            <a:r>
              <a:rPr lang="en-US" sz="950" i="1" dirty="0">
                <a:solidFill>
                  <a:srgbClr val="5A5F73"/>
                </a:solidFill>
                <a:latin typeface="Calibri" pitchFamily="34" charset="0"/>
                <a:ea typeface="Calibri" pitchFamily="34" charset="-122"/>
                <a:cs typeface="Calibri" pitchFamily="34" charset="-120"/>
              </a:rPr>
              <a:t>missed case</a:t>
            </a:r>
            <a:endParaRPr lang="en-US" sz="950" dirty="0"/>
          </a:p>
        </p:txBody>
      </p:sp>
      <p:sp>
        <p:nvSpPr>
          <p:cNvPr id="49" name="Shape 47"/>
          <p:cNvSpPr/>
          <p:nvPr/>
        </p:nvSpPr>
        <p:spPr>
          <a:xfrm>
            <a:off x="8001000" y="3145536"/>
            <a:ext cx="1755648" cy="749808"/>
          </a:xfrm>
          <a:prstGeom prst="rect">
            <a:avLst/>
          </a:prstGeom>
          <a:solidFill>
            <a:srgbClr val="FDF0EE"/>
          </a:solidFill>
          <a:ln w="12700">
            <a:solidFill>
              <a:srgbClr val="DCDFEE"/>
            </a:solidFill>
            <a:prstDash val="solid"/>
          </a:ln>
        </p:spPr>
        <p:txBody>
          <a:bodyPr/>
          <a:lstStyle/>
          <a:p>
            <a:endParaRPr lang="en-US"/>
          </a:p>
        </p:txBody>
      </p:sp>
      <p:sp>
        <p:nvSpPr>
          <p:cNvPr id="50" name="Text 48"/>
          <p:cNvSpPr/>
          <p:nvPr/>
        </p:nvSpPr>
        <p:spPr>
          <a:xfrm>
            <a:off x="8001000" y="3255264"/>
            <a:ext cx="1755648" cy="256032"/>
          </a:xfrm>
          <a:prstGeom prst="rect">
            <a:avLst/>
          </a:prstGeom>
          <a:noFill/>
          <a:ln/>
        </p:spPr>
        <p:txBody>
          <a:bodyPr wrap="square" lIns="0" tIns="0" rIns="0" bIns="0" rtlCol="0" anchor="ctr"/>
          <a:lstStyle/>
          <a:p>
            <a:pPr marL="0" indent="0" algn="ctr">
              <a:buNone/>
            </a:pPr>
            <a:r>
              <a:rPr lang="en-US" sz="1100" b="1" dirty="0">
                <a:solidFill>
                  <a:srgbClr val="C0503C"/>
                </a:solidFill>
                <a:latin typeface="Arial" pitchFamily="34" charset="0"/>
                <a:ea typeface="Arial" pitchFamily="34" charset="-122"/>
                <a:cs typeface="Arial" pitchFamily="34" charset="-120"/>
              </a:rPr>
              <a:t>False positive</a:t>
            </a:r>
            <a:endParaRPr lang="en-US" sz="1100" dirty="0"/>
          </a:p>
        </p:txBody>
      </p:sp>
      <p:sp>
        <p:nvSpPr>
          <p:cNvPr id="51" name="Text 49"/>
          <p:cNvSpPr/>
          <p:nvPr/>
        </p:nvSpPr>
        <p:spPr>
          <a:xfrm>
            <a:off x="8001000" y="3511296"/>
            <a:ext cx="1755648" cy="256032"/>
          </a:xfrm>
          <a:prstGeom prst="rect">
            <a:avLst/>
          </a:prstGeom>
          <a:noFill/>
          <a:ln/>
        </p:spPr>
        <p:txBody>
          <a:bodyPr wrap="square" lIns="0" tIns="0" rIns="0" bIns="0" rtlCol="0" anchor="ctr"/>
          <a:lstStyle/>
          <a:p>
            <a:pPr marL="0" indent="0" algn="ctr">
              <a:buNone/>
            </a:pPr>
            <a:r>
              <a:rPr lang="en-US" sz="950" i="1" dirty="0">
                <a:solidFill>
                  <a:srgbClr val="5A5F73"/>
                </a:solidFill>
                <a:latin typeface="Calibri" pitchFamily="34" charset="0"/>
                <a:ea typeface="Calibri" pitchFamily="34" charset="-122"/>
                <a:cs typeface="Calibri" pitchFamily="34" charset="-120"/>
              </a:rPr>
              <a:t>false alarm</a:t>
            </a:r>
            <a:endParaRPr lang="en-US" sz="950" dirty="0"/>
          </a:p>
        </p:txBody>
      </p:sp>
      <p:sp>
        <p:nvSpPr>
          <p:cNvPr id="52" name="Shape 50"/>
          <p:cNvSpPr/>
          <p:nvPr/>
        </p:nvSpPr>
        <p:spPr>
          <a:xfrm>
            <a:off x="9756648" y="3145536"/>
            <a:ext cx="1755648" cy="749808"/>
          </a:xfrm>
          <a:prstGeom prst="rect">
            <a:avLst/>
          </a:prstGeom>
          <a:solidFill>
            <a:srgbClr val="EEF7F7"/>
          </a:solidFill>
          <a:ln w="12700">
            <a:solidFill>
              <a:srgbClr val="DCDFEE"/>
            </a:solidFill>
            <a:prstDash val="solid"/>
          </a:ln>
        </p:spPr>
        <p:txBody>
          <a:bodyPr/>
          <a:lstStyle/>
          <a:p>
            <a:endParaRPr lang="en-US"/>
          </a:p>
        </p:txBody>
      </p:sp>
      <p:sp>
        <p:nvSpPr>
          <p:cNvPr id="53" name="Text 51"/>
          <p:cNvSpPr/>
          <p:nvPr/>
        </p:nvSpPr>
        <p:spPr>
          <a:xfrm>
            <a:off x="9756648" y="3255264"/>
            <a:ext cx="1755648" cy="256032"/>
          </a:xfrm>
          <a:prstGeom prst="rect">
            <a:avLst/>
          </a:prstGeom>
          <a:noFill/>
          <a:ln/>
        </p:spPr>
        <p:txBody>
          <a:bodyPr wrap="square" lIns="0" tIns="0" rIns="0" bIns="0" rtlCol="0" anchor="ctr"/>
          <a:lstStyle/>
          <a:p>
            <a:pPr marL="0" indent="0" algn="ctr">
              <a:buNone/>
            </a:pPr>
            <a:r>
              <a:rPr lang="en-US" sz="1100" b="1" dirty="0">
                <a:solidFill>
                  <a:srgbClr val="00A6A6"/>
                </a:solidFill>
                <a:latin typeface="Arial" pitchFamily="34" charset="0"/>
                <a:ea typeface="Arial" pitchFamily="34" charset="-122"/>
                <a:cs typeface="Arial" pitchFamily="34" charset="-120"/>
              </a:rPr>
              <a:t>True negative</a:t>
            </a:r>
            <a:endParaRPr lang="en-US" sz="1100" dirty="0"/>
          </a:p>
        </p:txBody>
      </p:sp>
      <p:sp>
        <p:nvSpPr>
          <p:cNvPr id="54" name="Text 52"/>
          <p:cNvSpPr/>
          <p:nvPr/>
        </p:nvSpPr>
        <p:spPr>
          <a:xfrm>
            <a:off x="9756648" y="3511296"/>
            <a:ext cx="1755648" cy="256032"/>
          </a:xfrm>
          <a:prstGeom prst="rect">
            <a:avLst/>
          </a:prstGeom>
          <a:noFill/>
          <a:ln/>
        </p:spPr>
        <p:txBody>
          <a:bodyPr wrap="square" lIns="0" tIns="0" rIns="0" bIns="0" rtlCol="0" anchor="ctr"/>
          <a:lstStyle/>
          <a:p>
            <a:pPr marL="0" indent="0" algn="ctr">
              <a:buNone/>
            </a:pPr>
            <a:r>
              <a:rPr lang="en-US" sz="950" i="1" dirty="0">
                <a:solidFill>
                  <a:srgbClr val="5A5F73"/>
                </a:solidFill>
                <a:latin typeface="Calibri" pitchFamily="34" charset="0"/>
                <a:ea typeface="Calibri" pitchFamily="34" charset="-122"/>
                <a:cs typeface="Calibri" pitchFamily="34" charset="-120"/>
              </a:rPr>
              <a:t>correctly cleared</a:t>
            </a:r>
            <a:endParaRPr lang="en-US" sz="950" dirty="0"/>
          </a:p>
        </p:txBody>
      </p:sp>
      <p:sp>
        <p:nvSpPr>
          <p:cNvPr id="55" name="Shape 53"/>
          <p:cNvSpPr/>
          <p:nvPr/>
        </p:nvSpPr>
        <p:spPr>
          <a:xfrm>
            <a:off x="6309360" y="4114800"/>
            <a:ext cx="5330952" cy="914400"/>
          </a:xfrm>
          <a:prstGeom prst="roundRect">
            <a:avLst>
              <a:gd name="adj" fmla="val 9000"/>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56" name="Text 54"/>
          <p:cNvSpPr/>
          <p:nvPr/>
        </p:nvSpPr>
        <p:spPr>
          <a:xfrm>
            <a:off x="6537960" y="4206240"/>
            <a:ext cx="4892040" cy="274320"/>
          </a:xfrm>
          <a:prstGeom prst="rect">
            <a:avLst/>
          </a:prstGeom>
          <a:noFill/>
          <a:ln/>
        </p:spPr>
        <p:txBody>
          <a:bodyPr wrap="square" lIns="0" tIns="0" rIns="0" bIns="0" rtlCol="0" anchor="ctr"/>
          <a:lstStyle/>
          <a:p>
            <a:pPr marL="0" indent="0">
              <a:buNone/>
            </a:pPr>
            <a:r>
              <a:rPr lang="en-US" sz="1250" b="1" dirty="0">
                <a:solidFill>
                  <a:srgbClr val="8A5B00"/>
                </a:solidFill>
                <a:latin typeface="Arial" pitchFamily="34" charset="0"/>
                <a:ea typeface="Arial" pitchFamily="34" charset="-122"/>
                <a:cs typeface="Arial" pitchFamily="34" charset="-120"/>
              </a:rPr>
              <a:t>The threshold is a business decision</a:t>
            </a:r>
            <a:endParaRPr lang="en-US" sz="1250" dirty="0"/>
          </a:p>
        </p:txBody>
      </p:sp>
      <p:sp>
        <p:nvSpPr>
          <p:cNvPr id="57" name="Text 55"/>
          <p:cNvSpPr/>
          <p:nvPr/>
        </p:nvSpPr>
        <p:spPr>
          <a:xfrm>
            <a:off x="6537960" y="4480560"/>
            <a:ext cx="4892040" cy="502920"/>
          </a:xfrm>
          <a:prstGeom prst="rect">
            <a:avLst/>
          </a:prstGeom>
          <a:noFill/>
          <a:ln/>
        </p:spPr>
        <p:txBody>
          <a:bodyPr wrap="square" lIns="0" tIns="0" rIns="0" bIns="0" rtlCol="0" anchor="ctr"/>
          <a:lstStyle/>
          <a:p>
            <a:pPr marL="0" indent="0">
              <a:buNone/>
            </a:pPr>
            <a:r>
              <a:rPr lang="en-US" sz="1100" dirty="0">
                <a:solidFill>
                  <a:srgbClr val="8A5B00"/>
                </a:solidFill>
                <a:latin typeface="Calibri" pitchFamily="34" charset="0"/>
                <a:ea typeface="Calibri" pitchFamily="34" charset="-122"/>
                <a:cs typeface="Calibri" pitchFamily="34" charset="-120"/>
              </a:rPr>
              <a:t>The model returns a probability. Where you cut it decides whether you live with more false alarms or more missed cases.</a:t>
            </a:r>
            <a:endParaRPr lang="en-US" sz="1100" dirty="0"/>
          </a:p>
        </p:txBody>
      </p:sp>
      <p:sp>
        <p:nvSpPr>
          <p:cNvPr id="58" name="Shape 56"/>
          <p:cNvSpPr/>
          <p:nvPr/>
        </p:nvSpPr>
        <p:spPr>
          <a:xfrm>
            <a:off x="6309360" y="5212080"/>
            <a:ext cx="1673352" cy="960120"/>
          </a:xfrm>
          <a:prstGeom prst="roundRect">
            <a:avLst>
              <a:gd name="adj" fmla="val 8571"/>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9" name="Text 57"/>
          <p:cNvSpPr/>
          <p:nvPr/>
        </p:nvSpPr>
        <p:spPr>
          <a:xfrm>
            <a:off x="6437376" y="5303520"/>
            <a:ext cx="1417320" cy="256032"/>
          </a:xfrm>
          <a:prstGeom prst="rect">
            <a:avLst/>
          </a:prstGeom>
          <a:noFill/>
          <a:ln/>
        </p:spPr>
        <p:txBody>
          <a:bodyPr wrap="square" lIns="0" tIns="0" rIns="0" bIns="0" rtlCol="0" anchor="ctr"/>
          <a:lstStyle/>
          <a:p>
            <a:pPr marL="0" indent="0">
              <a:buNone/>
            </a:pPr>
            <a:r>
              <a:rPr lang="en-US" sz="1150" b="1" dirty="0">
                <a:solidFill>
                  <a:srgbClr val="2A2D7C"/>
                </a:solidFill>
                <a:latin typeface="Arial" pitchFamily="34" charset="0"/>
                <a:ea typeface="Arial" pitchFamily="34" charset="-122"/>
                <a:cs typeface="Arial" pitchFamily="34" charset="-120"/>
              </a:rPr>
              <a:t>Binary</a:t>
            </a:r>
            <a:endParaRPr lang="en-US" sz="1150" dirty="0"/>
          </a:p>
        </p:txBody>
      </p:sp>
      <p:sp>
        <p:nvSpPr>
          <p:cNvPr id="60" name="Text 58"/>
          <p:cNvSpPr/>
          <p:nvPr/>
        </p:nvSpPr>
        <p:spPr>
          <a:xfrm>
            <a:off x="6437376" y="5559552"/>
            <a:ext cx="1417320" cy="548640"/>
          </a:xfrm>
          <a:prstGeom prst="rect">
            <a:avLst/>
          </a:prstGeom>
          <a:noFill/>
          <a:ln/>
        </p:spPr>
        <p:txBody>
          <a:bodyPr wrap="square" lIns="0" tIns="0" rIns="0" bIns="0" rtlCol="0" anchor="ctr"/>
          <a:lstStyle/>
          <a:p>
            <a:pPr marL="0" indent="0">
              <a:buNone/>
            </a:pPr>
            <a:r>
              <a:rPr lang="en-US" sz="950" dirty="0">
                <a:solidFill>
                  <a:srgbClr val="5A5F73"/>
                </a:solidFill>
                <a:latin typeface="Calibri" pitchFamily="34" charset="0"/>
                <a:ea typeface="Calibri" pitchFamily="34" charset="-122"/>
                <a:cs typeface="Calibri" pitchFamily="34" charset="-120"/>
              </a:rPr>
              <a:t>Two classes: fraud / not fraud</a:t>
            </a:r>
            <a:endParaRPr lang="en-US" sz="950" dirty="0"/>
          </a:p>
        </p:txBody>
      </p:sp>
      <p:sp>
        <p:nvSpPr>
          <p:cNvPr id="61" name="Shape 59"/>
          <p:cNvSpPr/>
          <p:nvPr/>
        </p:nvSpPr>
        <p:spPr>
          <a:xfrm>
            <a:off x="8119872" y="5212080"/>
            <a:ext cx="1673352" cy="960120"/>
          </a:xfrm>
          <a:prstGeom prst="roundRect">
            <a:avLst>
              <a:gd name="adj" fmla="val 8571"/>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62" name="Text 60"/>
          <p:cNvSpPr/>
          <p:nvPr/>
        </p:nvSpPr>
        <p:spPr>
          <a:xfrm>
            <a:off x="8247888" y="5303520"/>
            <a:ext cx="1417320" cy="256032"/>
          </a:xfrm>
          <a:prstGeom prst="rect">
            <a:avLst/>
          </a:prstGeom>
          <a:noFill/>
          <a:ln/>
        </p:spPr>
        <p:txBody>
          <a:bodyPr wrap="square" lIns="0" tIns="0" rIns="0" bIns="0" rtlCol="0" anchor="ctr"/>
          <a:lstStyle/>
          <a:p>
            <a:pPr marL="0" indent="0">
              <a:buNone/>
            </a:pPr>
            <a:r>
              <a:rPr lang="en-US" sz="1150" b="1" dirty="0">
                <a:solidFill>
                  <a:srgbClr val="2A2D7C"/>
                </a:solidFill>
                <a:latin typeface="Arial" pitchFamily="34" charset="0"/>
                <a:ea typeface="Arial" pitchFamily="34" charset="-122"/>
                <a:cs typeface="Arial" pitchFamily="34" charset="-120"/>
              </a:rPr>
              <a:t>Multi-class</a:t>
            </a:r>
            <a:endParaRPr lang="en-US" sz="1150" dirty="0"/>
          </a:p>
        </p:txBody>
      </p:sp>
      <p:sp>
        <p:nvSpPr>
          <p:cNvPr id="63" name="Text 61"/>
          <p:cNvSpPr/>
          <p:nvPr/>
        </p:nvSpPr>
        <p:spPr>
          <a:xfrm>
            <a:off x="8247888" y="5559552"/>
            <a:ext cx="1417320" cy="548640"/>
          </a:xfrm>
          <a:prstGeom prst="rect">
            <a:avLst/>
          </a:prstGeom>
          <a:noFill/>
          <a:ln/>
        </p:spPr>
        <p:txBody>
          <a:bodyPr wrap="square" lIns="0" tIns="0" rIns="0" bIns="0" rtlCol="0" anchor="ctr"/>
          <a:lstStyle/>
          <a:p>
            <a:pPr marL="0" indent="0">
              <a:buNone/>
            </a:pPr>
            <a:r>
              <a:rPr lang="en-US" sz="950" dirty="0">
                <a:solidFill>
                  <a:srgbClr val="5A5F73"/>
                </a:solidFill>
                <a:latin typeface="Calibri" pitchFamily="34" charset="0"/>
                <a:ea typeface="Calibri" pitchFamily="34" charset="-122"/>
                <a:cs typeface="Calibri" pitchFamily="34" charset="-120"/>
              </a:rPr>
              <a:t>One of many: which of 12 complaint types</a:t>
            </a:r>
            <a:endParaRPr lang="en-US" sz="950" dirty="0"/>
          </a:p>
        </p:txBody>
      </p:sp>
      <p:sp>
        <p:nvSpPr>
          <p:cNvPr id="64" name="Shape 62"/>
          <p:cNvSpPr/>
          <p:nvPr/>
        </p:nvSpPr>
        <p:spPr>
          <a:xfrm>
            <a:off x="9930384" y="5212080"/>
            <a:ext cx="1673352" cy="960120"/>
          </a:xfrm>
          <a:prstGeom prst="roundRect">
            <a:avLst>
              <a:gd name="adj" fmla="val 8571"/>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65" name="Text 63"/>
          <p:cNvSpPr/>
          <p:nvPr/>
        </p:nvSpPr>
        <p:spPr>
          <a:xfrm>
            <a:off x="10058400" y="5303520"/>
            <a:ext cx="1417320" cy="256032"/>
          </a:xfrm>
          <a:prstGeom prst="rect">
            <a:avLst/>
          </a:prstGeom>
          <a:noFill/>
          <a:ln/>
        </p:spPr>
        <p:txBody>
          <a:bodyPr wrap="square" lIns="0" tIns="0" rIns="0" bIns="0" rtlCol="0" anchor="ctr"/>
          <a:lstStyle/>
          <a:p>
            <a:pPr marL="0" indent="0">
              <a:buNone/>
            </a:pPr>
            <a:r>
              <a:rPr lang="en-US" sz="1150" b="1" dirty="0">
                <a:solidFill>
                  <a:srgbClr val="2A2D7C"/>
                </a:solidFill>
                <a:latin typeface="Arial" pitchFamily="34" charset="0"/>
                <a:ea typeface="Arial" pitchFamily="34" charset="-122"/>
                <a:cs typeface="Arial" pitchFamily="34" charset="-120"/>
              </a:rPr>
              <a:t>Multi-label</a:t>
            </a:r>
            <a:endParaRPr lang="en-US" sz="1150" dirty="0"/>
          </a:p>
        </p:txBody>
      </p:sp>
      <p:sp>
        <p:nvSpPr>
          <p:cNvPr id="66" name="Text 64"/>
          <p:cNvSpPr/>
          <p:nvPr/>
        </p:nvSpPr>
        <p:spPr>
          <a:xfrm>
            <a:off x="10058400" y="5559552"/>
            <a:ext cx="1417320" cy="548640"/>
          </a:xfrm>
          <a:prstGeom prst="rect">
            <a:avLst/>
          </a:prstGeom>
          <a:noFill/>
          <a:ln/>
        </p:spPr>
        <p:txBody>
          <a:bodyPr wrap="square" lIns="0" tIns="0" rIns="0" bIns="0" rtlCol="0" anchor="ctr"/>
          <a:lstStyle/>
          <a:p>
            <a:pPr marL="0" indent="0">
              <a:buNone/>
            </a:pPr>
            <a:r>
              <a:rPr lang="en-US" sz="950" dirty="0">
                <a:solidFill>
                  <a:srgbClr val="5A5F73"/>
                </a:solidFill>
                <a:latin typeface="Calibri" pitchFamily="34" charset="0"/>
                <a:ea typeface="Calibri" pitchFamily="34" charset="-122"/>
                <a:cs typeface="Calibri" pitchFamily="34" charset="-120"/>
              </a:rPr>
              <a:t>Several at once: tags on a document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Unsupervised learning: no answers to learn from</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Nobody labelled this data — the model looks for structure that is already there</a:t>
            </a:r>
            <a:endParaRPr lang="en-US" sz="1400" dirty="0"/>
          </a:p>
        </p:txBody>
      </p:sp>
      <p:sp>
        <p:nvSpPr>
          <p:cNvPr id="4" name="Shape 2"/>
          <p:cNvSpPr/>
          <p:nvPr/>
        </p:nvSpPr>
        <p:spPr>
          <a:xfrm>
            <a:off x="548640" y="1572768"/>
            <a:ext cx="3520440" cy="470916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Text 3"/>
          <p:cNvSpPr/>
          <p:nvPr/>
        </p:nvSpPr>
        <p:spPr>
          <a:xfrm>
            <a:off x="777240" y="1719072"/>
            <a:ext cx="3063240" cy="256032"/>
          </a:xfrm>
          <a:prstGeom prst="rect">
            <a:avLst/>
          </a:prstGeom>
          <a:noFill/>
          <a:ln/>
        </p:spPr>
        <p:txBody>
          <a:bodyPr wrap="square" lIns="0" tIns="0" rIns="0" bIns="0" rtlCol="0" anchor="ctr"/>
          <a:lstStyle/>
          <a:p>
            <a:pPr marL="0" indent="0">
              <a:buNone/>
            </a:pPr>
            <a:r>
              <a:rPr lang="en-US" sz="1000" b="1" kern="0" spc="180" dirty="0">
                <a:solidFill>
                  <a:srgbClr val="2A2D7C"/>
                </a:solidFill>
                <a:latin typeface="Arial" pitchFamily="34" charset="0"/>
                <a:ea typeface="Arial" pitchFamily="34" charset="-122"/>
                <a:cs typeface="Arial" pitchFamily="34" charset="-120"/>
              </a:rPr>
              <a:t>CLUSTERING</a:t>
            </a:r>
            <a:endParaRPr lang="en-US" sz="1000" dirty="0"/>
          </a:p>
        </p:txBody>
      </p:sp>
      <p:sp>
        <p:nvSpPr>
          <p:cNvPr id="6" name="Text 4"/>
          <p:cNvSpPr/>
          <p:nvPr/>
        </p:nvSpPr>
        <p:spPr>
          <a:xfrm>
            <a:off x="777240" y="1975104"/>
            <a:ext cx="3063240" cy="566928"/>
          </a:xfrm>
          <a:prstGeom prst="rect">
            <a:avLst/>
          </a:prstGeom>
          <a:noFill/>
          <a:ln/>
        </p:spPr>
        <p:txBody>
          <a:bodyPr wrap="square" lIns="0" tIns="0" rIns="0" bIns="0" rtlCol="0" anchor="ctr"/>
          <a:lstStyle/>
          <a:p>
            <a:pPr marL="0" indent="0">
              <a:buNone/>
            </a:pPr>
            <a:r>
              <a:rPr lang="en-US" sz="1600" b="1" dirty="0">
                <a:solidFill>
                  <a:srgbClr val="101034"/>
                </a:solidFill>
                <a:latin typeface="Arial" pitchFamily="34" charset="0"/>
                <a:ea typeface="Arial" pitchFamily="34" charset="-122"/>
                <a:cs typeface="Arial" pitchFamily="34" charset="-120"/>
              </a:rPr>
              <a:t>Group similar things</a:t>
            </a:r>
            <a:endParaRPr lang="en-US" sz="1600" dirty="0"/>
          </a:p>
        </p:txBody>
      </p:sp>
      <p:sp>
        <p:nvSpPr>
          <p:cNvPr id="7" name="Shape 5"/>
          <p:cNvSpPr/>
          <p:nvPr/>
        </p:nvSpPr>
        <p:spPr>
          <a:xfrm>
            <a:off x="1051560" y="3931920"/>
            <a:ext cx="2514600" cy="0"/>
          </a:xfrm>
          <a:prstGeom prst="line">
            <a:avLst/>
          </a:prstGeom>
          <a:noFill/>
          <a:ln w="15875">
            <a:solidFill>
              <a:srgbClr val="B8BCD4"/>
            </a:solidFill>
            <a:prstDash val="solid"/>
          </a:ln>
        </p:spPr>
        <p:txBody>
          <a:bodyPr/>
          <a:lstStyle/>
          <a:p>
            <a:endParaRPr lang="en-US"/>
          </a:p>
        </p:txBody>
      </p:sp>
      <p:sp>
        <p:nvSpPr>
          <p:cNvPr id="8" name="Shape 6"/>
          <p:cNvSpPr/>
          <p:nvPr/>
        </p:nvSpPr>
        <p:spPr>
          <a:xfrm>
            <a:off x="1051560" y="2697480"/>
            <a:ext cx="0" cy="1234440"/>
          </a:xfrm>
          <a:prstGeom prst="line">
            <a:avLst/>
          </a:prstGeom>
          <a:noFill/>
          <a:ln w="15875">
            <a:solidFill>
              <a:srgbClr val="B8BCD4"/>
            </a:solidFill>
            <a:prstDash val="solid"/>
          </a:ln>
        </p:spPr>
        <p:txBody>
          <a:bodyPr/>
          <a:lstStyle/>
          <a:p>
            <a:endParaRPr lang="en-US"/>
          </a:p>
        </p:txBody>
      </p:sp>
      <p:sp>
        <p:nvSpPr>
          <p:cNvPr id="9" name="Shape 7"/>
          <p:cNvSpPr/>
          <p:nvPr/>
        </p:nvSpPr>
        <p:spPr>
          <a:xfrm>
            <a:off x="1284732" y="2974543"/>
            <a:ext cx="137160" cy="137160"/>
          </a:xfrm>
          <a:prstGeom prst="ellipse">
            <a:avLst/>
          </a:prstGeom>
          <a:solidFill>
            <a:srgbClr val="2A2D7C"/>
          </a:solidFill>
          <a:ln w="9525">
            <a:solidFill>
              <a:srgbClr val="FFFFFF"/>
            </a:solidFill>
            <a:prstDash val="solid"/>
          </a:ln>
        </p:spPr>
        <p:txBody>
          <a:bodyPr/>
          <a:lstStyle/>
          <a:p>
            <a:endParaRPr lang="en-US"/>
          </a:p>
        </p:txBody>
      </p:sp>
      <p:sp>
        <p:nvSpPr>
          <p:cNvPr id="10" name="Shape 8"/>
          <p:cNvSpPr/>
          <p:nvPr/>
        </p:nvSpPr>
        <p:spPr>
          <a:xfrm>
            <a:off x="1485900" y="2814066"/>
            <a:ext cx="137160" cy="137160"/>
          </a:xfrm>
          <a:prstGeom prst="ellipse">
            <a:avLst/>
          </a:prstGeom>
          <a:solidFill>
            <a:srgbClr val="2A2D7C"/>
          </a:solidFill>
          <a:ln w="9525">
            <a:solidFill>
              <a:srgbClr val="FFFFFF"/>
            </a:solidFill>
            <a:prstDash val="solid"/>
          </a:ln>
        </p:spPr>
        <p:txBody>
          <a:bodyPr/>
          <a:lstStyle/>
          <a:p>
            <a:endParaRPr lang="en-US"/>
          </a:p>
        </p:txBody>
      </p:sp>
      <p:sp>
        <p:nvSpPr>
          <p:cNvPr id="11" name="Shape 9"/>
          <p:cNvSpPr/>
          <p:nvPr/>
        </p:nvSpPr>
        <p:spPr>
          <a:xfrm>
            <a:off x="1636776" y="3023921"/>
            <a:ext cx="137160" cy="137160"/>
          </a:xfrm>
          <a:prstGeom prst="ellipse">
            <a:avLst/>
          </a:prstGeom>
          <a:solidFill>
            <a:srgbClr val="2A2D7C"/>
          </a:solidFill>
          <a:ln w="9525">
            <a:solidFill>
              <a:srgbClr val="FFFFFF"/>
            </a:solidFill>
            <a:prstDash val="solid"/>
          </a:ln>
        </p:spPr>
        <p:txBody>
          <a:bodyPr/>
          <a:lstStyle/>
          <a:p>
            <a:endParaRPr lang="en-US"/>
          </a:p>
        </p:txBody>
      </p:sp>
      <p:sp>
        <p:nvSpPr>
          <p:cNvPr id="12" name="Shape 10"/>
          <p:cNvSpPr/>
          <p:nvPr/>
        </p:nvSpPr>
        <p:spPr>
          <a:xfrm>
            <a:off x="1385316" y="3147365"/>
            <a:ext cx="137160" cy="137160"/>
          </a:xfrm>
          <a:prstGeom prst="ellipse">
            <a:avLst/>
          </a:prstGeom>
          <a:solidFill>
            <a:srgbClr val="2A2D7C"/>
          </a:solidFill>
          <a:ln w="9525">
            <a:solidFill>
              <a:srgbClr val="FFFFFF"/>
            </a:solidFill>
            <a:prstDash val="solid"/>
          </a:ln>
        </p:spPr>
        <p:txBody>
          <a:bodyPr/>
          <a:lstStyle/>
          <a:p>
            <a:endParaRPr lang="en-US"/>
          </a:p>
        </p:txBody>
      </p:sp>
      <p:sp>
        <p:nvSpPr>
          <p:cNvPr id="13" name="Shape 11"/>
          <p:cNvSpPr/>
          <p:nvPr/>
        </p:nvSpPr>
        <p:spPr>
          <a:xfrm>
            <a:off x="1737360" y="2875788"/>
            <a:ext cx="137160" cy="137160"/>
          </a:xfrm>
          <a:prstGeom prst="ellipse">
            <a:avLst/>
          </a:prstGeom>
          <a:solidFill>
            <a:srgbClr val="2A2D7C"/>
          </a:solidFill>
          <a:ln w="9525">
            <a:solidFill>
              <a:srgbClr val="FFFFFF"/>
            </a:solidFill>
            <a:prstDash val="solid"/>
          </a:ln>
        </p:spPr>
        <p:txBody>
          <a:bodyPr/>
          <a:lstStyle/>
          <a:p>
            <a:endParaRPr lang="en-US"/>
          </a:p>
        </p:txBody>
      </p:sp>
      <p:sp>
        <p:nvSpPr>
          <p:cNvPr id="14" name="Shape 12"/>
          <p:cNvSpPr/>
          <p:nvPr/>
        </p:nvSpPr>
        <p:spPr>
          <a:xfrm>
            <a:off x="2089404" y="3591763"/>
            <a:ext cx="137160" cy="137160"/>
          </a:xfrm>
          <a:prstGeom prst="ellipse">
            <a:avLst/>
          </a:prstGeom>
          <a:solidFill>
            <a:srgbClr val="00A6A6"/>
          </a:solidFill>
          <a:ln w="9525">
            <a:solidFill>
              <a:srgbClr val="FFFFFF"/>
            </a:solidFill>
            <a:prstDash val="solid"/>
          </a:ln>
        </p:spPr>
        <p:txBody>
          <a:bodyPr/>
          <a:lstStyle/>
          <a:p>
            <a:endParaRPr lang="en-US"/>
          </a:p>
        </p:txBody>
      </p:sp>
      <p:sp>
        <p:nvSpPr>
          <p:cNvPr id="15" name="Shape 13"/>
          <p:cNvSpPr/>
          <p:nvPr/>
        </p:nvSpPr>
        <p:spPr>
          <a:xfrm>
            <a:off x="2315718" y="3468319"/>
            <a:ext cx="137160" cy="137160"/>
          </a:xfrm>
          <a:prstGeom prst="ellipse">
            <a:avLst/>
          </a:prstGeom>
          <a:solidFill>
            <a:srgbClr val="00A6A6"/>
          </a:solidFill>
          <a:ln w="9525">
            <a:solidFill>
              <a:srgbClr val="FFFFFF"/>
            </a:solidFill>
            <a:prstDash val="solid"/>
          </a:ln>
        </p:spPr>
        <p:txBody>
          <a:bodyPr/>
          <a:lstStyle/>
          <a:p>
            <a:endParaRPr lang="en-US"/>
          </a:p>
        </p:txBody>
      </p:sp>
      <p:sp>
        <p:nvSpPr>
          <p:cNvPr id="16" name="Shape 14"/>
          <p:cNvSpPr/>
          <p:nvPr/>
        </p:nvSpPr>
        <p:spPr>
          <a:xfrm>
            <a:off x="2491740" y="3665830"/>
            <a:ext cx="137160" cy="137160"/>
          </a:xfrm>
          <a:prstGeom prst="ellipse">
            <a:avLst/>
          </a:prstGeom>
          <a:solidFill>
            <a:srgbClr val="00A6A6"/>
          </a:solidFill>
          <a:ln w="9525">
            <a:solidFill>
              <a:srgbClr val="FFFFFF"/>
            </a:solidFill>
            <a:prstDash val="solid"/>
          </a:ln>
        </p:spPr>
        <p:txBody>
          <a:bodyPr/>
          <a:lstStyle/>
          <a:p>
            <a:endParaRPr lang="en-US"/>
          </a:p>
        </p:txBody>
      </p:sp>
      <p:sp>
        <p:nvSpPr>
          <p:cNvPr id="17" name="Shape 15"/>
          <p:cNvSpPr/>
          <p:nvPr/>
        </p:nvSpPr>
        <p:spPr>
          <a:xfrm>
            <a:off x="2189988" y="3369564"/>
            <a:ext cx="137160" cy="137160"/>
          </a:xfrm>
          <a:prstGeom prst="ellipse">
            <a:avLst/>
          </a:prstGeom>
          <a:solidFill>
            <a:srgbClr val="00A6A6"/>
          </a:solidFill>
          <a:ln w="9525">
            <a:solidFill>
              <a:srgbClr val="FFFFFF"/>
            </a:solidFill>
            <a:prstDash val="solid"/>
          </a:ln>
        </p:spPr>
        <p:txBody>
          <a:bodyPr/>
          <a:lstStyle/>
          <a:p>
            <a:endParaRPr lang="en-US"/>
          </a:p>
        </p:txBody>
      </p:sp>
      <p:sp>
        <p:nvSpPr>
          <p:cNvPr id="18" name="Shape 16"/>
          <p:cNvSpPr/>
          <p:nvPr/>
        </p:nvSpPr>
        <p:spPr>
          <a:xfrm>
            <a:off x="2441448" y="3517697"/>
            <a:ext cx="137160" cy="137160"/>
          </a:xfrm>
          <a:prstGeom prst="ellipse">
            <a:avLst/>
          </a:prstGeom>
          <a:solidFill>
            <a:srgbClr val="00A6A6"/>
          </a:solidFill>
          <a:ln w="9525">
            <a:solidFill>
              <a:srgbClr val="FFFFFF"/>
            </a:solidFill>
            <a:prstDash val="solid"/>
          </a:ln>
        </p:spPr>
        <p:txBody>
          <a:bodyPr/>
          <a:lstStyle/>
          <a:p>
            <a:endParaRPr lang="en-US"/>
          </a:p>
        </p:txBody>
      </p:sp>
      <p:sp>
        <p:nvSpPr>
          <p:cNvPr id="19" name="Shape 17"/>
          <p:cNvSpPr/>
          <p:nvPr/>
        </p:nvSpPr>
        <p:spPr>
          <a:xfrm>
            <a:off x="2894076" y="3097987"/>
            <a:ext cx="137160" cy="137160"/>
          </a:xfrm>
          <a:prstGeom prst="ellipse">
            <a:avLst/>
          </a:prstGeom>
          <a:solidFill>
            <a:srgbClr val="E09400"/>
          </a:solidFill>
          <a:ln w="9525">
            <a:solidFill>
              <a:srgbClr val="FFFFFF"/>
            </a:solidFill>
            <a:prstDash val="solid"/>
          </a:ln>
        </p:spPr>
        <p:txBody>
          <a:bodyPr/>
          <a:lstStyle/>
          <a:p>
            <a:endParaRPr lang="en-US"/>
          </a:p>
        </p:txBody>
      </p:sp>
      <p:sp>
        <p:nvSpPr>
          <p:cNvPr id="20" name="Shape 18"/>
          <p:cNvSpPr/>
          <p:nvPr/>
        </p:nvSpPr>
        <p:spPr>
          <a:xfrm>
            <a:off x="3095244" y="2925166"/>
            <a:ext cx="137160" cy="137160"/>
          </a:xfrm>
          <a:prstGeom prst="ellipse">
            <a:avLst/>
          </a:prstGeom>
          <a:solidFill>
            <a:srgbClr val="E09400"/>
          </a:solidFill>
          <a:ln w="9525">
            <a:solidFill>
              <a:srgbClr val="FFFFFF"/>
            </a:solidFill>
            <a:prstDash val="solid"/>
          </a:ln>
        </p:spPr>
        <p:txBody>
          <a:bodyPr/>
          <a:lstStyle/>
          <a:p>
            <a:endParaRPr lang="en-US"/>
          </a:p>
        </p:txBody>
      </p:sp>
      <p:sp>
        <p:nvSpPr>
          <p:cNvPr id="21" name="Shape 19"/>
          <p:cNvSpPr/>
          <p:nvPr/>
        </p:nvSpPr>
        <p:spPr>
          <a:xfrm>
            <a:off x="3246120" y="3172054"/>
            <a:ext cx="137160" cy="137160"/>
          </a:xfrm>
          <a:prstGeom prst="ellipse">
            <a:avLst/>
          </a:prstGeom>
          <a:solidFill>
            <a:srgbClr val="E09400"/>
          </a:solidFill>
          <a:ln w="9525">
            <a:solidFill>
              <a:srgbClr val="FFFFFF"/>
            </a:solidFill>
            <a:prstDash val="solid"/>
          </a:ln>
        </p:spPr>
        <p:txBody>
          <a:bodyPr/>
          <a:lstStyle/>
          <a:p>
            <a:endParaRPr lang="en-US"/>
          </a:p>
        </p:txBody>
      </p:sp>
      <p:sp>
        <p:nvSpPr>
          <p:cNvPr id="22" name="Shape 20"/>
          <p:cNvSpPr/>
          <p:nvPr/>
        </p:nvSpPr>
        <p:spPr>
          <a:xfrm>
            <a:off x="2969514" y="2801722"/>
            <a:ext cx="137160" cy="137160"/>
          </a:xfrm>
          <a:prstGeom prst="ellipse">
            <a:avLst/>
          </a:prstGeom>
          <a:solidFill>
            <a:srgbClr val="E09400"/>
          </a:solidFill>
          <a:ln w="9525">
            <a:solidFill>
              <a:srgbClr val="FFFFFF"/>
            </a:solidFill>
            <a:prstDash val="solid"/>
          </a:ln>
        </p:spPr>
        <p:txBody>
          <a:bodyPr/>
          <a:lstStyle/>
          <a:p>
            <a:endParaRPr lang="en-US"/>
          </a:p>
        </p:txBody>
      </p:sp>
      <p:sp>
        <p:nvSpPr>
          <p:cNvPr id="23" name="Shape 21"/>
          <p:cNvSpPr/>
          <p:nvPr/>
        </p:nvSpPr>
        <p:spPr>
          <a:xfrm>
            <a:off x="3195828" y="2999232"/>
            <a:ext cx="137160" cy="137160"/>
          </a:xfrm>
          <a:prstGeom prst="ellipse">
            <a:avLst/>
          </a:prstGeom>
          <a:solidFill>
            <a:srgbClr val="E09400"/>
          </a:solidFill>
          <a:ln w="9525">
            <a:solidFill>
              <a:srgbClr val="FFFFFF"/>
            </a:solidFill>
            <a:prstDash val="solid"/>
          </a:ln>
        </p:spPr>
        <p:txBody>
          <a:bodyPr/>
          <a:lstStyle/>
          <a:p>
            <a:endParaRPr lang="en-US"/>
          </a:p>
        </p:txBody>
      </p:sp>
      <p:sp>
        <p:nvSpPr>
          <p:cNvPr id="24" name="Text 22"/>
          <p:cNvSpPr/>
          <p:nvPr/>
        </p:nvSpPr>
        <p:spPr>
          <a:xfrm>
            <a:off x="777240" y="4114800"/>
            <a:ext cx="30632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Sort records into groups that resemble each other, without being told what the groups are.</a:t>
            </a:r>
            <a:endParaRPr lang="en-US" sz="1150" dirty="0"/>
          </a:p>
        </p:txBody>
      </p:sp>
      <p:sp>
        <p:nvSpPr>
          <p:cNvPr id="25" name="Shape 23"/>
          <p:cNvSpPr/>
          <p:nvPr/>
        </p:nvSpPr>
        <p:spPr>
          <a:xfrm>
            <a:off x="777240" y="5120640"/>
            <a:ext cx="3063240" cy="960120"/>
          </a:xfrm>
          <a:prstGeom prst="roundRect">
            <a:avLst>
              <a:gd name="adj" fmla="val 7619"/>
            </a:avLst>
          </a:prstGeom>
          <a:solidFill>
            <a:srgbClr val="FFFFFF"/>
          </a:solidFill>
          <a:ln w="12700">
            <a:solidFill>
              <a:srgbClr val="DCDFEE"/>
            </a:solidFill>
            <a:prstDash val="solid"/>
          </a:ln>
        </p:spPr>
        <p:txBody>
          <a:bodyPr/>
          <a:lstStyle/>
          <a:p>
            <a:endParaRPr lang="en-US"/>
          </a:p>
        </p:txBody>
      </p:sp>
      <p:sp>
        <p:nvSpPr>
          <p:cNvPr id="26" name="Text 24"/>
          <p:cNvSpPr/>
          <p:nvPr/>
        </p:nvSpPr>
        <p:spPr>
          <a:xfrm>
            <a:off x="914400" y="5120640"/>
            <a:ext cx="2788920" cy="960120"/>
          </a:xfrm>
          <a:prstGeom prst="rect">
            <a:avLst/>
          </a:prstGeom>
          <a:noFill/>
          <a:ln/>
        </p:spPr>
        <p:txBody>
          <a:bodyPr wrap="square" lIns="0" tIns="0" rIns="0" bIns="0" rtlCol="0" anchor="ctr"/>
          <a:lstStyle/>
          <a:p>
            <a:pPr marL="0" indent="0">
              <a:buNone/>
            </a:pPr>
            <a:r>
              <a:rPr lang="en-US" sz="1000" b="1" dirty="0">
                <a:solidFill>
                  <a:srgbClr val="2A2D7C"/>
                </a:solidFill>
                <a:latin typeface="Calibri" pitchFamily="34" charset="0"/>
                <a:ea typeface="Calibri" pitchFamily="34" charset="-122"/>
                <a:cs typeface="Calibri" pitchFamily="34" charset="-120"/>
              </a:rPr>
              <a:t>Used for
</a:t>
            </a:r>
            <a:r>
              <a:rPr lang="en-US" sz="1050" dirty="0">
                <a:solidFill>
                  <a:srgbClr val="5A5F73"/>
                </a:solidFill>
                <a:latin typeface="Calibri" pitchFamily="34" charset="0"/>
                <a:ea typeface="Calibri" pitchFamily="34" charset="-122"/>
                <a:cs typeface="Calibri" pitchFamily="34" charset="-120"/>
              </a:rPr>
              <a:t>Customer segmentation, branch profiling, document grouping</a:t>
            </a:r>
            <a:endParaRPr lang="en-US" sz="1000" dirty="0"/>
          </a:p>
        </p:txBody>
      </p:sp>
      <p:sp>
        <p:nvSpPr>
          <p:cNvPr id="27" name="Shape 25"/>
          <p:cNvSpPr/>
          <p:nvPr/>
        </p:nvSpPr>
        <p:spPr>
          <a:xfrm>
            <a:off x="4315968" y="1572768"/>
            <a:ext cx="3520440" cy="470916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8" name="Text 26"/>
          <p:cNvSpPr/>
          <p:nvPr/>
        </p:nvSpPr>
        <p:spPr>
          <a:xfrm>
            <a:off x="4544568" y="1719072"/>
            <a:ext cx="3063240" cy="256032"/>
          </a:xfrm>
          <a:prstGeom prst="rect">
            <a:avLst/>
          </a:prstGeom>
          <a:noFill/>
          <a:ln/>
        </p:spPr>
        <p:txBody>
          <a:bodyPr wrap="square" lIns="0" tIns="0" rIns="0" bIns="0" rtlCol="0" anchor="ctr"/>
          <a:lstStyle/>
          <a:p>
            <a:pPr marL="0" indent="0">
              <a:buNone/>
            </a:pPr>
            <a:r>
              <a:rPr lang="en-US" sz="1000" b="1" kern="0" spc="180" dirty="0">
                <a:solidFill>
                  <a:srgbClr val="C0503C"/>
                </a:solidFill>
                <a:latin typeface="Arial" pitchFamily="34" charset="0"/>
                <a:ea typeface="Arial" pitchFamily="34" charset="-122"/>
                <a:cs typeface="Arial" pitchFamily="34" charset="-120"/>
              </a:rPr>
              <a:t>ANOMALY DETECTION</a:t>
            </a:r>
            <a:endParaRPr lang="en-US" sz="1000" dirty="0"/>
          </a:p>
        </p:txBody>
      </p:sp>
      <p:sp>
        <p:nvSpPr>
          <p:cNvPr id="29" name="Text 27"/>
          <p:cNvSpPr/>
          <p:nvPr/>
        </p:nvSpPr>
        <p:spPr>
          <a:xfrm>
            <a:off x="4544568" y="1975104"/>
            <a:ext cx="3063240" cy="566928"/>
          </a:xfrm>
          <a:prstGeom prst="rect">
            <a:avLst/>
          </a:prstGeom>
          <a:noFill/>
          <a:ln/>
        </p:spPr>
        <p:txBody>
          <a:bodyPr wrap="square" lIns="0" tIns="0" rIns="0" bIns="0" rtlCol="0" anchor="ctr"/>
          <a:lstStyle/>
          <a:p>
            <a:pPr marL="0" indent="0">
              <a:buNone/>
            </a:pPr>
            <a:r>
              <a:rPr lang="en-US" sz="1600" b="1" dirty="0">
                <a:solidFill>
                  <a:srgbClr val="101034"/>
                </a:solidFill>
                <a:latin typeface="Arial" pitchFamily="34" charset="0"/>
                <a:ea typeface="Arial" pitchFamily="34" charset="-122"/>
                <a:cs typeface="Arial" pitchFamily="34" charset="-120"/>
              </a:rPr>
              <a:t>Spot the odd one out</a:t>
            </a:r>
            <a:endParaRPr lang="en-US" sz="1600" dirty="0"/>
          </a:p>
        </p:txBody>
      </p:sp>
      <p:sp>
        <p:nvSpPr>
          <p:cNvPr id="30" name="Shape 28"/>
          <p:cNvSpPr/>
          <p:nvPr/>
        </p:nvSpPr>
        <p:spPr>
          <a:xfrm>
            <a:off x="4818888" y="3931920"/>
            <a:ext cx="2514600" cy="0"/>
          </a:xfrm>
          <a:prstGeom prst="line">
            <a:avLst/>
          </a:prstGeom>
          <a:noFill/>
          <a:ln w="15875">
            <a:solidFill>
              <a:srgbClr val="B8BCD4"/>
            </a:solidFill>
            <a:prstDash val="solid"/>
          </a:ln>
        </p:spPr>
        <p:txBody>
          <a:bodyPr/>
          <a:lstStyle/>
          <a:p>
            <a:endParaRPr lang="en-US"/>
          </a:p>
        </p:txBody>
      </p:sp>
      <p:sp>
        <p:nvSpPr>
          <p:cNvPr id="31" name="Shape 29"/>
          <p:cNvSpPr/>
          <p:nvPr/>
        </p:nvSpPr>
        <p:spPr>
          <a:xfrm>
            <a:off x="4818888" y="2697480"/>
            <a:ext cx="0" cy="1234440"/>
          </a:xfrm>
          <a:prstGeom prst="line">
            <a:avLst/>
          </a:prstGeom>
          <a:noFill/>
          <a:ln w="15875">
            <a:solidFill>
              <a:srgbClr val="B8BCD4"/>
            </a:solidFill>
            <a:prstDash val="solid"/>
          </a:ln>
        </p:spPr>
        <p:txBody>
          <a:bodyPr/>
          <a:lstStyle/>
          <a:p>
            <a:endParaRPr lang="en-US"/>
          </a:p>
        </p:txBody>
      </p:sp>
      <p:sp>
        <p:nvSpPr>
          <p:cNvPr id="32" name="Shape 30"/>
          <p:cNvSpPr/>
          <p:nvPr/>
        </p:nvSpPr>
        <p:spPr>
          <a:xfrm>
            <a:off x="5504688" y="3443630"/>
            <a:ext cx="137160" cy="137160"/>
          </a:xfrm>
          <a:prstGeom prst="ellipse">
            <a:avLst/>
          </a:prstGeom>
          <a:solidFill>
            <a:srgbClr val="9DA0DD"/>
          </a:solidFill>
          <a:ln w="9525">
            <a:solidFill>
              <a:srgbClr val="FFFFFF"/>
            </a:solidFill>
            <a:prstDash val="solid"/>
          </a:ln>
        </p:spPr>
        <p:txBody>
          <a:bodyPr/>
          <a:lstStyle/>
          <a:p>
            <a:endParaRPr lang="en-US"/>
          </a:p>
        </p:txBody>
      </p:sp>
      <p:sp>
        <p:nvSpPr>
          <p:cNvPr id="33" name="Shape 31"/>
          <p:cNvSpPr/>
          <p:nvPr/>
        </p:nvSpPr>
        <p:spPr>
          <a:xfrm>
            <a:off x="5705856" y="3320186"/>
            <a:ext cx="137160" cy="137160"/>
          </a:xfrm>
          <a:prstGeom prst="ellipse">
            <a:avLst/>
          </a:prstGeom>
          <a:solidFill>
            <a:srgbClr val="9DA0DD"/>
          </a:solidFill>
          <a:ln w="9525">
            <a:solidFill>
              <a:srgbClr val="FFFFFF"/>
            </a:solidFill>
            <a:prstDash val="solid"/>
          </a:ln>
        </p:spPr>
        <p:txBody>
          <a:bodyPr/>
          <a:lstStyle/>
          <a:p>
            <a:endParaRPr lang="en-US"/>
          </a:p>
        </p:txBody>
      </p:sp>
      <p:sp>
        <p:nvSpPr>
          <p:cNvPr id="34" name="Shape 32"/>
          <p:cNvSpPr/>
          <p:nvPr/>
        </p:nvSpPr>
        <p:spPr>
          <a:xfrm>
            <a:off x="5881878" y="3493008"/>
            <a:ext cx="137160" cy="137160"/>
          </a:xfrm>
          <a:prstGeom prst="ellipse">
            <a:avLst/>
          </a:prstGeom>
          <a:solidFill>
            <a:srgbClr val="9DA0DD"/>
          </a:solidFill>
          <a:ln w="9525">
            <a:solidFill>
              <a:srgbClr val="FFFFFF"/>
            </a:solidFill>
            <a:prstDash val="solid"/>
          </a:ln>
        </p:spPr>
        <p:txBody>
          <a:bodyPr/>
          <a:lstStyle/>
          <a:p>
            <a:endParaRPr lang="en-US"/>
          </a:p>
        </p:txBody>
      </p:sp>
      <p:sp>
        <p:nvSpPr>
          <p:cNvPr id="35" name="Shape 33"/>
          <p:cNvSpPr/>
          <p:nvPr/>
        </p:nvSpPr>
        <p:spPr>
          <a:xfrm>
            <a:off x="5630418" y="3567074"/>
            <a:ext cx="137160" cy="137160"/>
          </a:xfrm>
          <a:prstGeom prst="ellipse">
            <a:avLst/>
          </a:prstGeom>
          <a:solidFill>
            <a:srgbClr val="9DA0DD"/>
          </a:solidFill>
          <a:ln w="9525">
            <a:solidFill>
              <a:srgbClr val="FFFFFF"/>
            </a:solidFill>
            <a:prstDash val="solid"/>
          </a:ln>
        </p:spPr>
        <p:txBody>
          <a:bodyPr/>
          <a:lstStyle/>
          <a:p>
            <a:endParaRPr lang="en-US"/>
          </a:p>
        </p:txBody>
      </p:sp>
      <p:sp>
        <p:nvSpPr>
          <p:cNvPr id="36" name="Shape 34"/>
          <p:cNvSpPr/>
          <p:nvPr/>
        </p:nvSpPr>
        <p:spPr>
          <a:xfrm>
            <a:off x="6007608" y="3344875"/>
            <a:ext cx="137160" cy="137160"/>
          </a:xfrm>
          <a:prstGeom prst="ellipse">
            <a:avLst/>
          </a:prstGeom>
          <a:solidFill>
            <a:srgbClr val="9DA0DD"/>
          </a:solidFill>
          <a:ln w="9525">
            <a:solidFill>
              <a:srgbClr val="FFFFFF"/>
            </a:solidFill>
            <a:prstDash val="solid"/>
          </a:ln>
        </p:spPr>
        <p:txBody>
          <a:bodyPr/>
          <a:lstStyle/>
          <a:p>
            <a:endParaRPr lang="en-US"/>
          </a:p>
        </p:txBody>
      </p:sp>
      <p:sp>
        <p:nvSpPr>
          <p:cNvPr id="37" name="Shape 35"/>
          <p:cNvSpPr/>
          <p:nvPr/>
        </p:nvSpPr>
        <p:spPr>
          <a:xfrm>
            <a:off x="5806440" y="3184398"/>
            <a:ext cx="137160" cy="137160"/>
          </a:xfrm>
          <a:prstGeom prst="ellipse">
            <a:avLst/>
          </a:prstGeom>
          <a:solidFill>
            <a:srgbClr val="9DA0DD"/>
          </a:solidFill>
          <a:ln w="9525">
            <a:solidFill>
              <a:srgbClr val="FFFFFF"/>
            </a:solidFill>
            <a:prstDash val="solid"/>
          </a:ln>
        </p:spPr>
        <p:txBody>
          <a:bodyPr/>
          <a:lstStyle/>
          <a:p>
            <a:endParaRPr lang="en-US"/>
          </a:p>
        </p:txBody>
      </p:sp>
      <p:sp>
        <p:nvSpPr>
          <p:cNvPr id="38" name="Shape 36"/>
          <p:cNvSpPr/>
          <p:nvPr/>
        </p:nvSpPr>
        <p:spPr>
          <a:xfrm>
            <a:off x="5454396" y="3270809"/>
            <a:ext cx="137160" cy="137160"/>
          </a:xfrm>
          <a:prstGeom prst="ellipse">
            <a:avLst/>
          </a:prstGeom>
          <a:solidFill>
            <a:srgbClr val="9DA0DD"/>
          </a:solidFill>
          <a:ln w="9525">
            <a:solidFill>
              <a:srgbClr val="FFFFFF"/>
            </a:solidFill>
            <a:prstDash val="solid"/>
          </a:ln>
        </p:spPr>
        <p:txBody>
          <a:bodyPr/>
          <a:lstStyle/>
          <a:p>
            <a:endParaRPr lang="en-US"/>
          </a:p>
        </p:txBody>
      </p:sp>
      <p:sp>
        <p:nvSpPr>
          <p:cNvPr id="39" name="Shape 37"/>
          <p:cNvSpPr/>
          <p:nvPr/>
        </p:nvSpPr>
        <p:spPr>
          <a:xfrm>
            <a:off x="6057900" y="3542386"/>
            <a:ext cx="137160" cy="137160"/>
          </a:xfrm>
          <a:prstGeom prst="ellipse">
            <a:avLst/>
          </a:prstGeom>
          <a:solidFill>
            <a:srgbClr val="9DA0DD"/>
          </a:solidFill>
          <a:ln w="9525">
            <a:solidFill>
              <a:srgbClr val="FFFFFF"/>
            </a:solidFill>
            <a:prstDash val="solid"/>
          </a:ln>
        </p:spPr>
        <p:txBody>
          <a:bodyPr/>
          <a:lstStyle/>
          <a:p>
            <a:endParaRPr lang="en-US"/>
          </a:p>
        </p:txBody>
      </p:sp>
      <p:sp>
        <p:nvSpPr>
          <p:cNvPr id="40" name="Shape 38"/>
          <p:cNvSpPr/>
          <p:nvPr/>
        </p:nvSpPr>
        <p:spPr>
          <a:xfrm>
            <a:off x="5907024" y="3246120"/>
            <a:ext cx="137160" cy="137160"/>
          </a:xfrm>
          <a:prstGeom prst="ellipse">
            <a:avLst/>
          </a:prstGeom>
          <a:solidFill>
            <a:srgbClr val="9DA0DD"/>
          </a:solidFill>
          <a:ln w="9525">
            <a:solidFill>
              <a:srgbClr val="FFFFFF"/>
            </a:solidFill>
            <a:prstDash val="solid"/>
          </a:ln>
        </p:spPr>
        <p:txBody>
          <a:bodyPr/>
          <a:lstStyle/>
          <a:p>
            <a:endParaRPr lang="en-US"/>
          </a:p>
        </p:txBody>
      </p:sp>
      <p:sp>
        <p:nvSpPr>
          <p:cNvPr id="41" name="Shape 39"/>
          <p:cNvSpPr/>
          <p:nvPr/>
        </p:nvSpPr>
        <p:spPr>
          <a:xfrm>
            <a:off x="5655564" y="3418942"/>
            <a:ext cx="137160" cy="137160"/>
          </a:xfrm>
          <a:prstGeom prst="ellipse">
            <a:avLst/>
          </a:prstGeom>
          <a:solidFill>
            <a:srgbClr val="9DA0DD"/>
          </a:solidFill>
          <a:ln w="9525">
            <a:solidFill>
              <a:srgbClr val="FFFFFF"/>
            </a:solidFill>
            <a:prstDash val="solid"/>
          </a:ln>
        </p:spPr>
        <p:txBody>
          <a:bodyPr/>
          <a:lstStyle/>
          <a:p>
            <a:endParaRPr lang="en-US"/>
          </a:p>
        </p:txBody>
      </p:sp>
      <p:sp>
        <p:nvSpPr>
          <p:cNvPr id="42" name="Shape 40"/>
          <p:cNvSpPr/>
          <p:nvPr/>
        </p:nvSpPr>
        <p:spPr>
          <a:xfrm>
            <a:off x="6908292" y="2647188"/>
            <a:ext cx="347472" cy="347472"/>
          </a:xfrm>
          <a:prstGeom prst="ellipse">
            <a:avLst/>
          </a:prstGeom>
          <a:solidFill>
            <a:srgbClr val="FFFFFF"/>
          </a:solidFill>
          <a:ln w="25400">
            <a:solidFill>
              <a:srgbClr val="C0503C"/>
            </a:solidFill>
            <a:prstDash val="solid"/>
          </a:ln>
        </p:spPr>
        <p:txBody>
          <a:bodyPr/>
          <a:lstStyle/>
          <a:p>
            <a:endParaRPr lang="en-US"/>
          </a:p>
        </p:txBody>
      </p:sp>
      <p:sp>
        <p:nvSpPr>
          <p:cNvPr id="43" name="Shape 41"/>
          <p:cNvSpPr/>
          <p:nvPr/>
        </p:nvSpPr>
        <p:spPr>
          <a:xfrm>
            <a:off x="7004304" y="2743200"/>
            <a:ext cx="155448" cy="155448"/>
          </a:xfrm>
          <a:prstGeom prst="ellipse">
            <a:avLst/>
          </a:prstGeom>
          <a:solidFill>
            <a:srgbClr val="C0503C"/>
          </a:solidFill>
          <a:ln w="9525">
            <a:solidFill>
              <a:srgbClr val="FFFFFF"/>
            </a:solidFill>
            <a:prstDash val="solid"/>
          </a:ln>
        </p:spPr>
        <p:txBody>
          <a:bodyPr/>
          <a:lstStyle/>
          <a:p>
            <a:endParaRPr lang="en-US"/>
          </a:p>
        </p:txBody>
      </p:sp>
      <p:sp>
        <p:nvSpPr>
          <p:cNvPr id="44" name="Text 42"/>
          <p:cNvSpPr/>
          <p:nvPr/>
        </p:nvSpPr>
        <p:spPr>
          <a:xfrm>
            <a:off x="4544568" y="4114800"/>
            <a:ext cx="30632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Learn what normal looks like, then flag whatever sits far away from it.</a:t>
            </a:r>
            <a:endParaRPr lang="en-US" sz="1150" dirty="0"/>
          </a:p>
        </p:txBody>
      </p:sp>
      <p:sp>
        <p:nvSpPr>
          <p:cNvPr id="45" name="Shape 43"/>
          <p:cNvSpPr/>
          <p:nvPr/>
        </p:nvSpPr>
        <p:spPr>
          <a:xfrm>
            <a:off x="4544568" y="5120640"/>
            <a:ext cx="3063240" cy="960120"/>
          </a:xfrm>
          <a:prstGeom prst="roundRect">
            <a:avLst>
              <a:gd name="adj" fmla="val 7619"/>
            </a:avLst>
          </a:prstGeom>
          <a:solidFill>
            <a:srgbClr val="FFFFFF"/>
          </a:solidFill>
          <a:ln w="12700">
            <a:solidFill>
              <a:srgbClr val="DCDFEE"/>
            </a:solidFill>
            <a:prstDash val="solid"/>
          </a:ln>
        </p:spPr>
        <p:txBody>
          <a:bodyPr/>
          <a:lstStyle/>
          <a:p>
            <a:endParaRPr lang="en-US"/>
          </a:p>
        </p:txBody>
      </p:sp>
      <p:sp>
        <p:nvSpPr>
          <p:cNvPr id="46" name="Text 44"/>
          <p:cNvSpPr/>
          <p:nvPr/>
        </p:nvSpPr>
        <p:spPr>
          <a:xfrm>
            <a:off x="4681728" y="5120640"/>
            <a:ext cx="2788920" cy="960120"/>
          </a:xfrm>
          <a:prstGeom prst="rect">
            <a:avLst/>
          </a:prstGeom>
          <a:noFill/>
          <a:ln/>
        </p:spPr>
        <p:txBody>
          <a:bodyPr wrap="square" lIns="0" tIns="0" rIns="0" bIns="0" rtlCol="0" anchor="ctr"/>
          <a:lstStyle/>
          <a:p>
            <a:pPr marL="0" indent="0">
              <a:buNone/>
            </a:pPr>
            <a:r>
              <a:rPr lang="en-US" sz="1000" b="1" dirty="0">
                <a:solidFill>
                  <a:srgbClr val="C0503C"/>
                </a:solidFill>
                <a:latin typeface="Calibri" pitchFamily="34" charset="0"/>
                <a:ea typeface="Calibri" pitchFamily="34" charset="-122"/>
                <a:cs typeface="Calibri" pitchFamily="34" charset="-120"/>
              </a:rPr>
              <a:t>Used for
</a:t>
            </a:r>
            <a:r>
              <a:rPr lang="en-US" sz="1050" dirty="0">
                <a:solidFill>
                  <a:srgbClr val="5A5F73"/>
                </a:solidFill>
                <a:latin typeface="Calibri" pitchFamily="34" charset="0"/>
                <a:ea typeface="Calibri" pitchFamily="34" charset="-122"/>
                <a:cs typeface="Calibri" pitchFamily="34" charset="-120"/>
              </a:rPr>
              <a:t>Fraud screening, equipment faults, data quality checks</a:t>
            </a:r>
            <a:endParaRPr lang="en-US" sz="1000" dirty="0"/>
          </a:p>
        </p:txBody>
      </p:sp>
      <p:sp>
        <p:nvSpPr>
          <p:cNvPr id="47" name="Shape 45"/>
          <p:cNvSpPr/>
          <p:nvPr/>
        </p:nvSpPr>
        <p:spPr>
          <a:xfrm>
            <a:off x="8083296" y="1572768"/>
            <a:ext cx="3520440" cy="470916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48" name="Text 46"/>
          <p:cNvSpPr/>
          <p:nvPr/>
        </p:nvSpPr>
        <p:spPr>
          <a:xfrm>
            <a:off x="8311896" y="1719072"/>
            <a:ext cx="3063240" cy="256032"/>
          </a:xfrm>
          <a:prstGeom prst="rect">
            <a:avLst/>
          </a:prstGeom>
          <a:noFill/>
          <a:ln/>
        </p:spPr>
        <p:txBody>
          <a:bodyPr wrap="square" lIns="0" tIns="0" rIns="0" bIns="0" rtlCol="0" anchor="ctr"/>
          <a:lstStyle/>
          <a:p>
            <a:pPr marL="0" indent="0">
              <a:buNone/>
            </a:pPr>
            <a:r>
              <a:rPr lang="en-US" sz="1000" b="1" kern="0" spc="180" dirty="0">
                <a:solidFill>
                  <a:srgbClr val="00A6A6"/>
                </a:solidFill>
                <a:latin typeface="Arial" pitchFamily="34" charset="0"/>
                <a:ea typeface="Arial" pitchFamily="34" charset="-122"/>
                <a:cs typeface="Arial" pitchFamily="34" charset="-120"/>
              </a:rPr>
              <a:t>DIMENSION REDUCTION</a:t>
            </a:r>
            <a:endParaRPr lang="en-US" sz="1000" dirty="0"/>
          </a:p>
        </p:txBody>
      </p:sp>
      <p:sp>
        <p:nvSpPr>
          <p:cNvPr id="49" name="Text 47"/>
          <p:cNvSpPr/>
          <p:nvPr/>
        </p:nvSpPr>
        <p:spPr>
          <a:xfrm>
            <a:off x="8311896" y="1975104"/>
            <a:ext cx="3063240" cy="566928"/>
          </a:xfrm>
          <a:prstGeom prst="rect">
            <a:avLst/>
          </a:prstGeom>
          <a:noFill/>
          <a:ln/>
        </p:spPr>
        <p:txBody>
          <a:bodyPr wrap="square" lIns="0" tIns="0" rIns="0" bIns="0" rtlCol="0" anchor="ctr"/>
          <a:lstStyle/>
          <a:p>
            <a:pPr marL="0" indent="0">
              <a:buNone/>
            </a:pPr>
            <a:r>
              <a:rPr lang="en-US" sz="1600" b="1" dirty="0">
                <a:solidFill>
                  <a:srgbClr val="101034"/>
                </a:solidFill>
                <a:latin typeface="Arial" pitchFamily="34" charset="0"/>
                <a:ea typeface="Arial" pitchFamily="34" charset="-122"/>
                <a:cs typeface="Arial" pitchFamily="34" charset="-120"/>
              </a:rPr>
              <a:t>Squeeze many columns into few</a:t>
            </a:r>
            <a:endParaRPr lang="en-US" sz="1600" dirty="0"/>
          </a:p>
        </p:txBody>
      </p:sp>
      <p:sp>
        <p:nvSpPr>
          <p:cNvPr id="50" name="Shape 48"/>
          <p:cNvSpPr/>
          <p:nvPr/>
        </p:nvSpPr>
        <p:spPr>
          <a:xfrm>
            <a:off x="8631936" y="2862072"/>
            <a:ext cx="128016" cy="128016"/>
          </a:xfrm>
          <a:prstGeom prst="rect">
            <a:avLst/>
          </a:prstGeom>
          <a:solidFill>
            <a:srgbClr val="9DA0DD"/>
          </a:solidFill>
          <a:ln w="9525">
            <a:solidFill>
              <a:srgbClr val="FFFFFF"/>
            </a:solidFill>
            <a:prstDash val="solid"/>
          </a:ln>
        </p:spPr>
        <p:txBody>
          <a:bodyPr/>
          <a:lstStyle/>
          <a:p>
            <a:endParaRPr lang="en-US"/>
          </a:p>
        </p:txBody>
      </p:sp>
      <p:sp>
        <p:nvSpPr>
          <p:cNvPr id="51" name="Shape 49"/>
          <p:cNvSpPr/>
          <p:nvPr/>
        </p:nvSpPr>
        <p:spPr>
          <a:xfrm>
            <a:off x="8805672" y="2862072"/>
            <a:ext cx="128016" cy="128016"/>
          </a:xfrm>
          <a:prstGeom prst="rect">
            <a:avLst/>
          </a:prstGeom>
          <a:solidFill>
            <a:srgbClr val="9DA0DD"/>
          </a:solidFill>
          <a:ln w="9525">
            <a:solidFill>
              <a:srgbClr val="FFFFFF"/>
            </a:solidFill>
            <a:prstDash val="solid"/>
          </a:ln>
        </p:spPr>
        <p:txBody>
          <a:bodyPr/>
          <a:lstStyle/>
          <a:p>
            <a:endParaRPr lang="en-US"/>
          </a:p>
        </p:txBody>
      </p:sp>
      <p:sp>
        <p:nvSpPr>
          <p:cNvPr id="52" name="Shape 50"/>
          <p:cNvSpPr/>
          <p:nvPr/>
        </p:nvSpPr>
        <p:spPr>
          <a:xfrm>
            <a:off x="8979408" y="2862072"/>
            <a:ext cx="128016" cy="128016"/>
          </a:xfrm>
          <a:prstGeom prst="rect">
            <a:avLst/>
          </a:prstGeom>
          <a:solidFill>
            <a:srgbClr val="9DA0DD"/>
          </a:solidFill>
          <a:ln w="9525">
            <a:solidFill>
              <a:srgbClr val="FFFFFF"/>
            </a:solidFill>
            <a:prstDash val="solid"/>
          </a:ln>
        </p:spPr>
        <p:txBody>
          <a:bodyPr/>
          <a:lstStyle/>
          <a:p>
            <a:endParaRPr lang="en-US"/>
          </a:p>
        </p:txBody>
      </p:sp>
      <p:sp>
        <p:nvSpPr>
          <p:cNvPr id="53" name="Shape 51"/>
          <p:cNvSpPr/>
          <p:nvPr/>
        </p:nvSpPr>
        <p:spPr>
          <a:xfrm>
            <a:off x="9153144" y="2862072"/>
            <a:ext cx="128016" cy="128016"/>
          </a:xfrm>
          <a:prstGeom prst="rect">
            <a:avLst/>
          </a:prstGeom>
          <a:solidFill>
            <a:srgbClr val="9DA0DD"/>
          </a:solidFill>
          <a:ln w="9525">
            <a:solidFill>
              <a:srgbClr val="FFFFFF"/>
            </a:solidFill>
            <a:prstDash val="solid"/>
          </a:ln>
        </p:spPr>
        <p:txBody>
          <a:bodyPr/>
          <a:lstStyle/>
          <a:p>
            <a:endParaRPr lang="en-US"/>
          </a:p>
        </p:txBody>
      </p:sp>
      <p:sp>
        <p:nvSpPr>
          <p:cNvPr id="54" name="Shape 52"/>
          <p:cNvSpPr/>
          <p:nvPr/>
        </p:nvSpPr>
        <p:spPr>
          <a:xfrm>
            <a:off x="9326880" y="2862072"/>
            <a:ext cx="128016" cy="128016"/>
          </a:xfrm>
          <a:prstGeom prst="rect">
            <a:avLst/>
          </a:prstGeom>
          <a:solidFill>
            <a:srgbClr val="9DA0DD"/>
          </a:solidFill>
          <a:ln w="9525">
            <a:solidFill>
              <a:srgbClr val="FFFFFF"/>
            </a:solidFill>
            <a:prstDash val="solid"/>
          </a:ln>
        </p:spPr>
        <p:txBody>
          <a:bodyPr/>
          <a:lstStyle/>
          <a:p>
            <a:endParaRPr lang="en-US"/>
          </a:p>
        </p:txBody>
      </p:sp>
      <p:sp>
        <p:nvSpPr>
          <p:cNvPr id="55" name="Shape 53"/>
          <p:cNvSpPr/>
          <p:nvPr/>
        </p:nvSpPr>
        <p:spPr>
          <a:xfrm>
            <a:off x="8631936" y="3035808"/>
            <a:ext cx="128016" cy="128016"/>
          </a:xfrm>
          <a:prstGeom prst="rect">
            <a:avLst/>
          </a:prstGeom>
          <a:solidFill>
            <a:srgbClr val="9DA0DD"/>
          </a:solidFill>
          <a:ln w="9525">
            <a:solidFill>
              <a:srgbClr val="FFFFFF"/>
            </a:solidFill>
            <a:prstDash val="solid"/>
          </a:ln>
        </p:spPr>
        <p:txBody>
          <a:bodyPr/>
          <a:lstStyle/>
          <a:p>
            <a:endParaRPr lang="en-US"/>
          </a:p>
        </p:txBody>
      </p:sp>
      <p:sp>
        <p:nvSpPr>
          <p:cNvPr id="56" name="Shape 54"/>
          <p:cNvSpPr/>
          <p:nvPr/>
        </p:nvSpPr>
        <p:spPr>
          <a:xfrm>
            <a:off x="8805672" y="3035808"/>
            <a:ext cx="128016" cy="128016"/>
          </a:xfrm>
          <a:prstGeom prst="rect">
            <a:avLst/>
          </a:prstGeom>
          <a:solidFill>
            <a:srgbClr val="9DA0DD"/>
          </a:solidFill>
          <a:ln w="9525">
            <a:solidFill>
              <a:srgbClr val="FFFFFF"/>
            </a:solidFill>
            <a:prstDash val="solid"/>
          </a:ln>
        </p:spPr>
        <p:txBody>
          <a:bodyPr/>
          <a:lstStyle/>
          <a:p>
            <a:endParaRPr lang="en-US"/>
          </a:p>
        </p:txBody>
      </p:sp>
      <p:sp>
        <p:nvSpPr>
          <p:cNvPr id="57" name="Shape 55"/>
          <p:cNvSpPr/>
          <p:nvPr/>
        </p:nvSpPr>
        <p:spPr>
          <a:xfrm>
            <a:off x="8979408" y="3035808"/>
            <a:ext cx="128016" cy="128016"/>
          </a:xfrm>
          <a:prstGeom prst="rect">
            <a:avLst/>
          </a:prstGeom>
          <a:solidFill>
            <a:srgbClr val="9DA0DD"/>
          </a:solidFill>
          <a:ln w="9525">
            <a:solidFill>
              <a:srgbClr val="FFFFFF"/>
            </a:solidFill>
            <a:prstDash val="solid"/>
          </a:ln>
        </p:spPr>
        <p:txBody>
          <a:bodyPr/>
          <a:lstStyle/>
          <a:p>
            <a:endParaRPr lang="en-US"/>
          </a:p>
        </p:txBody>
      </p:sp>
      <p:sp>
        <p:nvSpPr>
          <p:cNvPr id="58" name="Shape 56"/>
          <p:cNvSpPr/>
          <p:nvPr/>
        </p:nvSpPr>
        <p:spPr>
          <a:xfrm>
            <a:off x="9153144" y="3035808"/>
            <a:ext cx="128016" cy="128016"/>
          </a:xfrm>
          <a:prstGeom prst="rect">
            <a:avLst/>
          </a:prstGeom>
          <a:solidFill>
            <a:srgbClr val="9DA0DD"/>
          </a:solidFill>
          <a:ln w="9525">
            <a:solidFill>
              <a:srgbClr val="FFFFFF"/>
            </a:solidFill>
            <a:prstDash val="solid"/>
          </a:ln>
        </p:spPr>
        <p:txBody>
          <a:bodyPr/>
          <a:lstStyle/>
          <a:p>
            <a:endParaRPr lang="en-US"/>
          </a:p>
        </p:txBody>
      </p:sp>
      <p:sp>
        <p:nvSpPr>
          <p:cNvPr id="59" name="Shape 57"/>
          <p:cNvSpPr/>
          <p:nvPr/>
        </p:nvSpPr>
        <p:spPr>
          <a:xfrm>
            <a:off x="9326880" y="3035808"/>
            <a:ext cx="128016" cy="128016"/>
          </a:xfrm>
          <a:prstGeom prst="rect">
            <a:avLst/>
          </a:prstGeom>
          <a:solidFill>
            <a:srgbClr val="9DA0DD"/>
          </a:solidFill>
          <a:ln w="9525">
            <a:solidFill>
              <a:srgbClr val="FFFFFF"/>
            </a:solidFill>
            <a:prstDash val="solid"/>
          </a:ln>
        </p:spPr>
        <p:txBody>
          <a:bodyPr/>
          <a:lstStyle/>
          <a:p>
            <a:endParaRPr lang="en-US"/>
          </a:p>
        </p:txBody>
      </p:sp>
      <p:sp>
        <p:nvSpPr>
          <p:cNvPr id="60" name="Shape 58"/>
          <p:cNvSpPr/>
          <p:nvPr/>
        </p:nvSpPr>
        <p:spPr>
          <a:xfrm>
            <a:off x="8631936" y="3209544"/>
            <a:ext cx="128016" cy="128016"/>
          </a:xfrm>
          <a:prstGeom prst="rect">
            <a:avLst/>
          </a:prstGeom>
          <a:solidFill>
            <a:srgbClr val="9DA0DD"/>
          </a:solidFill>
          <a:ln w="9525">
            <a:solidFill>
              <a:srgbClr val="FFFFFF"/>
            </a:solidFill>
            <a:prstDash val="solid"/>
          </a:ln>
        </p:spPr>
        <p:txBody>
          <a:bodyPr/>
          <a:lstStyle/>
          <a:p>
            <a:endParaRPr lang="en-US"/>
          </a:p>
        </p:txBody>
      </p:sp>
      <p:sp>
        <p:nvSpPr>
          <p:cNvPr id="61" name="Shape 59"/>
          <p:cNvSpPr/>
          <p:nvPr/>
        </p:nvSpPr>
        <p:spPr>
          <a:xfrm>
            <a:off x="8805672" y="3209544"/>
            <a:ext cx="128016" cy="128016"/>
          </a:xfrm>
          <a:prstGeom prst="rect">
            <a:avLst/>
          </a:prstGeom>
          <a:solidFill>
            <a:srgbClr val="9DA0DD"/>
          </a:solidFill>
          <a:ln w="9525">
            <a:solidFill>
              <a:srgbClr val="FFFFFF"/>
            </a:solidFill>
            <a:prstDash val="solid"/>
          </a:ln>
        </p:spPr>
        <p:txBody>
          <a:bodyPr/>
          <a:lstStyle/>
          <a:p>
            <a:endParaRPr lang="en-US"/>
          </a:p>
        </p:txBody>
      </p:sp>
      <p:sp>
        <p:nvSpPr>
          <p:cNvPr id="62" name="Shape 60"/>
          <p:cNvSpPr/>
          <p:nvPr/>
        </p:nvSpPr>
        <p:spPr>
          <a:xfrm>
            <a:off x="8979408" y="3209544"/>
            <a:ext cx="128016" cy="128016"/>
          </a:xfrm>
          <a:prstGeom prst="rect">
            <a:avLst/>
          </a:prstGeom>
          <a:solidFill>
            <a:srgbClr val="9DA0DD"/>
          </a:solidFill>
          <a:ln w="9525">
            <a:solidFill>
              <a:srgbClr val="FFFFFF"/>
            </a:solidFill>
            <a:prstDash val="solid"/>
          </a:ln>
        </p:spPr>
        <p:txBody>
          <a:bodyPr/>
          <a:lstStyle/>
          <a:p>
            <a:endParaRPr lang="en-US"/>
          </a:p>
        </p:txBody>
      </p:sp>
      <p:sp>
        <p:nvSpPr>
          <p:cNvPr id="63" name="Shape 61"/>
          <p:cNvSpPr/>
          <p:nvPr/>
        </p:nvSpPr>
        <p:spPr>
          <a:xfrm>
            <a:off x="9153144" y="3209544"/>
            <a:ext cx="128016" cy="128016"/>
          </a:xfrm>
          <a:prstGeom prst="rect">
            <a:avLst/>
          </a:prstGeom>
          <a:solidFill>
            <a:srgbClr val="9DA0DD"/>
          </a:solidFill>
          <a:ln w="9525">
            <a:solidFill>
              <a:srgbClr val="FFFFFF"/>
            </a:solidFill>
            <a:prstDash val="solid"/>
          </a:ln>
        </p:spPr>
        <p:txBody>
          <a:bodyPr/>
          <a:lstStyle/>
          <a:p>
            <a:endParaRPr lang="en-US"/>
          </a:p>
        </p:txBody>
      </p:sp>
      <p:sp>
        <p:nvSpPr>
          <p:cNvPr id="64" name="Shape 62"/>
          <p:cNvSpPr/>
          <p:nvPr/>
        </p:nvSpPr>
        <p:spPr>
          <a:xfrm>
            <a:off x="9326880" y="3209544"/>
            <a:ext cx="128016" cy="128016"/>
          </a:xfrm>
          <a:prstGeom prst="rect">
            <a:avLst/>
          </a:prstGeom>
          <a:solidFill>
            <a:srgbClr val="9DA0DD"/>
          </a:solidFill>
          <a:ln w="9525">
            <a:solidFill>
              <a:srgbClr val="FFFFFF"/>
            </a:solidFill>
            <a:prstDash val="solid"/>
          </a:ln>
        </p:spPr>
        <p:txBody>
          <a:bodyPr/>
          <a:lstStyle/>
          <a:p>
            <a:endParaRPr lang="en-US"/>
          </a:p>
        </p:txBody>
      </p:sp>
      <p:sp>
        <p:nvSpPr>
          <p:cNvPr id="65" name="Shape 63"/>
          <p:cNvSpPr/>
          <p:nvPr/>
        </p:nvSpPr>
        <p:spPr>
          <a:xfrm>
            <a:off x="8631936" y="3383280"/>
            <a:ext cx="128016" cy="128016"/>
          </a:xfrm>
          <a:prstGeom prst="rect">
            <a:avLst/>
          </a:prstGeom>
          <a:solidFill>
            <a:srgbClr val="9DA0DD"/>
          </a:solidFill>
          <a:ln w="9525">
            <a:solidFill>
              <a:srgbClr val="FFFFFF"/>
            </a:solidFill>
            <a:prstDash val="solid"/>
          </a:ln>
        </p:spPr>
        <p:txBody>
          <a:bodyPr/>
          <a:lstStyle/>
          <a:p>
            <a:endParaRPr lang="en-US"/>
          </a:p>
        </p:txBody>
      </p:sp>
      <p:sp>
        <p:nvSpPr>
          <p:cNvPr id="66" name="Shape 64"/>
          <p:cNvSpPr/>
          <p:nvPr/>
        </p:nvSpPr>
        <p:spPr>
          <a:xfrm>
            <a:off x="8805672" y="3383280"/>
            <a:ext cx="128016" cy="128016"/>
          </a:xfrm>
          <a:prstGeom prst="rect">
            <a:avLst/>
          </a:prstGeom>
          <a:solidFill>
            <a:srgbClr val="9DA0DD"/>
          </a:solidFill>
          <a:ln w="9525">
            <a:solidFill>
              <a:srgbClr val="FFFFFF"/>
            </a:solidFill>
            <a:prstDash val="solid"/>
          </a:ln>
        </p:spPr>
        <p:txBody>
          <a:bodyPr/>
          <a:lstStyle/>
          <a:p>
            <a:endParaRPr lang="en-US"/>
          </a:p>
        </p:txBody>
      </p:sp>
      <p:sp>
        <p:nvSpPr>
          <p:cNvPr id="67" name="Shape 65"/>
          <p:cNvSpPr/>
          <p:nvPr/>
        </p:nvSpPr>
        <p:spPr>
          <a:xfrm>
            <a:off x="8979408" y="3383280"/>
            <a:ext cx="128016" cy="128016"/>
          </a:xfrm>
          <a:prstGeom prst="rect">
            <a:avLst/>
          </a:prstGeom>
          <a:solidFill>
            <a:srgbClr val="9DA0DD"/>
          </a:solidFill>
          <a:ln w="9525">
            <a:solidFill>
              <a:srgbClr val="FFFFFF"/>
            </a:solidFill>
            <a:prstDash val="solid"/>
          </a:ln>
        </p:spPr>
        <p:txBody>
          <a:bodyPr/>
          <a:lstStyle/>
          <a:p>
            <a:endParaRPr lang="en-US"/>
          </a:p>
        </p:txBody>
      </p:sp>
      <p:sp>
        <p:nvSpPr>
          <p:cNvPr id="68" name="Shape 66"/>
          <p:cNvSpPr/>
          <p:nvPr/>
        </p:nvSpPr>
        <p:spPr>
          <a:xfrm>
            <a:off x="9153144" y="3383280"/>
            <a:ext cx="128016" cy="128016"/>
          </a:xfrm>
          <a:prstGeom prst="rect">
            <a:avLst/>
          </a:prstGeom>
          <a:solidFill>
            <a:srgbClr val="9DA0DD"/>
          </a:solidFill>
          <a:ln w="9525">
            <a:solidFill>
              <a:srgbClr val="FFFFFF"/>
            </a:solidFill>
            <a:prstDash val="solid"/>
          </a:ln>
        </p:spPr>
        <p:txBody>
          <a:bodyPr/>
          <a:lstStyle/>
          <a:p>
            <a:endParaRPr lang="en-US"/>
          </a:p>
        </p:txBody>
      </p:sp>
      <p:sp>
        <p:nvSpPr>
          <p:cNvPr id="69" name="Shape 67"/>
          <p:cNvSpPr/>
          <p:nvPr/>
        </p:nvSpPr>
        <p:spPr>
          <a:xfrm>
            <a:off x="9326880" y="3383280"/>
            <a:ext cx="128016" cy="128016"/>
          </a:xfrm>
          <a:prstGeom prst="rect">
            <a:avLst/>
          </a:prstGeom>
          <a:solidFill>
            <a:srgbClr val="9DA0DD"/>
          </a:solidFill>
          <a:ln w="9525">
            <a:solidFill>
              <a:srgbClr val="FFFFFF"/>
            </a:solidFill>
            <a:prstDash val="solid"/>
          </a:ln>
        </p:spPr>
        <p:txBody>
          <a:bodyPr/>
          <a:lstStyle/>
          <a:p>
            <a:endParaRPr lang="en-US"/>
          </a:p>
        </p:txBody>
      </p:sp>
      <p:sp>
        <p:nvSpPr>
          <p:cNvPr id="70" name="Shape 68"/>
          <p:cNvSpPr/>
          <p:nvPr/>
        </p:nvSpPr>
        <p:spPr>
          <a:xfrm>
            <a:off x="8631936" y="3557016"/>
            <a:ext cx="128016" cy="128016"/>
          </a:xfrm>
          <a:prstGeom prst="rect">
            <a:avLst/>
          </a:prstGeom>
          <a:solidFill>
            <a:srgbClr val="9DA0DD"/>
          </a:solidFill>
          <a:ln w="9525">
            <a:solidFill>
              <a:srgbClr val="FFFFFF"/>
            </a:solidFill>
            <a:prstDash val="solid"/>
          </a:ln>
        </p:spPr>
        <p:txBody>
          <a:bodyPr/>
          <a:lstStyle/>
          <a:p>
            <a:endParaRPr lang="en-US"/>
          </a:p>
        </p:txBody>
      </p:sp>
      <p:sp>
        <p:nvSpPr>
          <p:cNvPr id="71" name="Shape 69"/>
          <p:cNvSpPr/>
          <p:nvPr/>
        </p:nvSpPr>
        <p:spPr>
          <a:xfrm>
            <a:off x="8805672" y="3557016"/>
            <a:ext cx="128016" cy="128016"/>
          </a:xfrm>
          <a:prstGeom prst="rect">
            <a:avLst/>
          </a:prstGeom>
          <a:solidFill>
            <a:srgbClr val="9DA0DD"/>
          </a:solidFill>
          <a:ln w="9525">
            <a:solidFill>
              <a:srgbClr val="FFFFFF"/>
            </a:solidFill>
            <a:prstDash val="solid"/>
          </a:ln>
        </p:spPr>
        <p:txBody>
          <a:bodyPr/>
          <a:lstStyle/>
          <a:p>
            <a:endParaRPr lang="en-US"/>
          </a:p>
        </p:txBody>
      </p:sp>
      <p:sp>
        <p:nvSpPr>
          <p:cNvPr id="72" name="Shape 70"/>
          <p:cNvSpPr/>
          <p:nvPr/>
        </p:nvSpPr>
        <p:spPr>
          <a:xfrm>
            <a:off x="8979408" y="3557016"/>
            <a:ext cx="128016" cy="128016"/>
          </a:xfrm>
          <a:prstGeom prst="rect">
            <a:avLst/>
          </a:prstGeom>
          <a:solidFill>
            <a:srgbClr val="9DA0DD"/>
          </a:solidFill>
          <a:ln w="9525">
            <a:solidFill>
              <a:srgbClr val="FFFFFF"/>
            </a:solidFill>
            <a:prstDash val="solid"/>
          </a:ln>
        </p:spPr>
        <p:txBody>
          <a:bodyPr/>
          <a:lstStyle/>
          <a:p>
            <a:endParaRPr lang="en-US"/>
          </a:p>
        </p:txBody>
      </p:sp>
      <p:sp>
        <p:nvSpPr>
          <p:cNvPr id="73" name="Shape 71"/>
          <p:cNvSpPr/>
          <p:nvPr/>
        </p:nvSpPr>
        <p:spPr>
          <a:xfrm>
            <a:off x="9153144" y="3557016"/>
            <a:ext cx="128016" cy="128016"/>
          </a:xfrm>
          <a:prstGeom prst="rect">
            <a:avLst/>
          </a:prstGeom>
          <a:solidFill>
            <a:srgbClr val="9DA0DD"/>
          </a:solidFill>
          <a:ln w="9525">
            <a:solidFill>
              <a:srgbClr val="FFFFFF"/>
            </a:solidFill>
            <a:prstDash val="solid"/>
          </a:ln>
        </p:spPr>
        <p:txBody>
          <a:bodyPr/>
          <a:lstStyle/>
          <a:p>
            <a:endParaRPr lang="en-US"/>
          </a:p>
        </p:txBody>
      </p:sp>
      <p:sp>
        <p:nvSpPr>
          <p:cNvPr id="74" name="Shape 72"/>
          <p:cNvSpPr/>
          <p:nvPr/>
        </p:nvSpPr>
        <p:spPr>
          <a:xfrm>
            <a:off x="9326880" y="3557016"/>
            <a:ext cx="128016" cy="128016"/>
          </a:xfrm>
          <a:prstGeom prst="rect">
            <a:avLst/>
          </a:prstGeom>
          <a:solidFill>
            <a:srgbClr val="9DA0DD"/>
          </a:solidFill>
          <a:ln w="9525">
            <a:solidFill>
              <a:srgbClr val="FFFFFF"/>
            </a:solidFill>
            <a:prstDash val="solid"/>
          </a:ln>
        </p:spPr>
        <p:txBody>
          <a:bodyPr/>
          <a:lstStyle/>
          <a:p>
            <a:endParaRPr lang="en-US"/>
          </a:p>
        </p:txBody>
      </p:sp>
      <p:sp>
        <p:nvSpPr>
          <p:cNvPr id="75" name="Text 73"/>
          <p:cNvSpPr/>
          <p:nvPr/>
        </p:nvSpPr>
        <p:spPr>
          <a:xfrm>
            <a:off x="8586216" y="3776472"/>
            <a:ext cx="1051560" cy="219456"/>
          </a:xfrm>
          <a:prstGeom prst="rect">
            <a:avLst/>
          </a:prstGeom>
          <a:noFill/>
          <a:ln/>
        </p:spPr>
        <p:txBody>
          <a:bodyPr wrap="square" lIns="0" tIns="0" rIns="0" bIns="0" rtlCol="0" anchor="ctr"/>
          <a:lstStyle/>
          <a:p>
            <a:pPr marL="0" indent="0" algn="ctr">
              <a:buNone/>
            </a:pPr>
            <a:r>
              <a:rPr lang="en-US" sz="850" dirty="0">
                <a:solidFill>
                  <a:srgbClr val="5A5F73"/>
                </a:solidFill>
                <a:latin typeface="Calibri" pitchFamily="34" charset="0"/>
                <a:ea typeface="Calibri" pitchFamily="34" charset="-122"/>
                <a:cs typeface="Calibri" pitchFamily="34" charset="-120"/>
              </a:rPr>
              <a:t>40 columns</a:t>
            </a:r>
            <a:endParaRPr lang="en-US" sz="850" dirty="0"/>
          </a:p>
        </p:txBody>
      </p:sp>
      <p:sp>
        <p:nvSpPr>
          <p:cNvPr id="76" name="Shape 74"/>
          <p:cNvSpPr/>
          <p:nvPr/>
        </p:nvSpPr>
        <p:spPr>
          <a:xfrm>
            <a:off x="9683496" y="3200400"/>
            <a:ext cx="320040" cy="274320"/>
          </a:xfrm>
          <a:prstGeom prst="rightArrow">
            <a:avLst/>
          </a:prstGeom>
          <a:solidFill>
            <a:srgbClr val="9DA0DD"/>
          </a:solidFill>
          <a:ln w="12700">
            <a:solidFill>
              <a:srgbClr val="9DA0DD"/>
            </a:solidFill>
            <a:prstDash val="solid"/>
          </a:ln>
        </p:spPr>
        <p:txBody>
          <a:bodyPr/>
          <a:lstStyle/>
          <a:p>
            <a:endParaRPr lang="en-US"/>
          </a:p>
        </p:txBody>
      </p:sp>
      <p:sp>
        <p:nvSpPr>
          <p:cNvPr id="77" name="Shape 75"/>
          <p:cNvSpPr/>
          <p:nvPr/>
        </p:nvSpPr>
        <p:spPr>
          <a:xfrm>
            <a:off x="10186416" y="2862072"/>
            <a:ext cx="274320" cy="822960"/>
          </a:xfrm>
          <a:prstGeom prst="rect">
            <a:avLst/>
          </a:prstGeom>
          <a:solidFill>
            <a:srgbClr val="00A6A6"/>
          </a:solidFill>
          <a:ln w="9525">
            <a:solidFill>
              <a:srgbClr val="FFFFFF"/>
            </a:solidFill>
            <a:prstDash val="solid"/>
          </a:ln>
        </p:spPr>
        <p:txBody>
          <a:bodyPr/>
          <a:lstStyle/>
          <a:p>
            <a:endParaRPr lang="en-US"/>
          </a:p>
        </p:txBody>
      </p:sp>
      <p:sp>
        <p:nvSpPr>
          <p:cNvPr id="78" name="Shape 76"/>
          <p:cNvSpPr/>
          <p:nvPr/>
        </p:nvSpPr>
        <p:spPr>
          <a:xfrm>
            <a:off x="10570464" y="2862072"/>
            <a:ext cx="274320" cy="822960"/>
          </a:xfrm>
          <a:prstGeom prst="rect">
            <a:avLst/>
          </a:prstGeom>
          <a:solidFill>
            <a:srgbClr val="00A6A6"/>
          </a:solidFill>
          <a:ln w="9525">
            <a:solidFill>
              <a:srgbClr val="FFFFFF"/>
            </a:solidFill>
            <a:prstDash val="solid"/>
          </a:ln>
        </p:spPr>
        <p:txBody>
          <a:bodyPr/>
          <a:lstStyle/>
          <a:p>
            <a:endParaRPr lang="en-US"/>
          </a:p>
        </p:txBody>
      </p:sp>
      <p:sp>
        <p:nvSpPr>
          <p:cNvPr id="79" name="Text 77"/>
          <p:cNvSpPr/>
          <p:nvPr/>
        </p:nvSpPr>
        <p:spPr>
          <a:xfrm>
            <a:off x="10049256" y="3776472"/>
            <a:ext cx="1051560" cy="219456"/>
          </a:xfrm>
          <a:prstGeom prst="rect">
            <a:avLst/>
          </a:prstGeom>
          <a:noFill/>
          <a:ln/>
        </p:spPr>
        <p:txBody>
          <a:bodyPr wrap="square" lIns="0" tIns="0" rIns="0" bIns="0" rtlCol="0" anchor="ctr"/>
          <a:lstStyle/>
          <a:p>
            <a:pPr marL="0" indent="0" algn="ctr">
              <a:buNone/>
            </a:pPr>
            <a:r>
              <a:rPr lang="en-US" sz="850" dirty="0">
                <a:solidFill>
                  <a:srgbClr val="5A5F73"/>
                </a:solidFill>
                <a:latin typeface="Calibri" pitchFamily="34" charset="0"/>
                <a:ea typeface="Calibri" pitchFamily="34" charset="-122"/>
                <a:cs typeface="Calibri" pitchFamily="34" charset="-120"/>
              </a:rPr>
              <a:t>2 components</a:t>
            </a:r>
            <a:endParaRPr lang="en-US" sz="850" dirty="0"/>
          </a:p>
        </p:txBody>
      </p:sp>
      <p:sp>
        <p:nvSpPr>
          <p:cNvPr id="80" name="Text 78"/>
          <p:cNvSpPr/>
          <p:nvPr/>
        </p:nvSpPr>
        <p:spPr>
          <a:xfrm>
            <a:off x="8311896" y="4114800"/>
            <a:ext cx="30632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Compress dozens of correlated features into a handful that keep most of the signal.</a:t>
            </a:r>
            <a:endParaRPr lang="en-US" sz="1150" dirty="0"/>
          </a:p>
        </p:txBody>
      </p:sp>
      <p:sp>
        <p:nvSpPr>
          <p:cNvPr id="81" name="Shape 79"/>
          <p:cNvSpPr/>
          <p:nvPr/>
        </p:nvSpPr>
        <p:spPr>
          <a:xfrm>
            <a:off x="8311896" y="5120640"/>
            <a:ext cx="3063240" cy="960120"/>
          </a:xfrm>
          <a:prstGeom prst="roundRect">
            <a:avLst>
              <a:gd name="adj" fmla="val 7619"/>
            </a:avLst>
          </a:prstGeom>
          <a:solidFill>
            <a:srgbClr val="FFFFFF"/>
          </a:solidFill>
          <a:ln w="12700">
            <a:solidFill>
              <a:srgbClr val="DCDFEE"/>
            </a:solidFill>
            <a:prstDash val="solid"/>
          </a:ln>
        </p:spPr>
        <p:txBody>
          <a:bodyPr/>
          <a:lstStyle/>
          <a:p>
            <a:endParaRPr lang="en-US"/>
          </a:p>
        </p:txBody>
      </p:sp>
      <p:sp>
        <p:nvSpPr>
          <p:cNvPr id="82" name="Text 80"/>
          <p:cNvSpPr/>
          <p:nvPr/>
        </p:nvSpPr>
        <p:spPr>
          <a:xfrm>
            <a:off x="8449056" y="5120640"/>
            <a:ext cx="2788920" cy="960120"/>
          </a:xfrm>
          <a:prstGeom prst="rect">
            <a:avLst/>
          </a:prstGeom>
          <a:noFill/>
          <a:ln/>
        </p:spPr>
        <p:txBody>
          <a:bodyPr wrap="square" lIns="0" tIns="0" rIns="0" bIns="0" rtlCol="0" anchor="ctr"/>
          <a:lstStyle/>
          <a:p>
            <a:pPr marL="0" indent="0">
              <a:buNone/>
            </a:pPr>
            <a:r>
              <a:rPr lang="en-US" sz="1000" b="1" dirty="0">
                <a:solidFill>
                  <a:srgbClr val="00A6A6"/>
                </a:solidFill>
                <a:latin typeface="Calibri" pitchFamily="34" charset="0"/>
                <a:ea typeface="Calibri" pitchFamily="34" charset="-122"/>
                <a:cs typeface="Calibri" pitchFamily="34" charset="-120"/>
              </a:rPr>
              <a:t>Used for
</a:t>
            </a:r>
            <a:r>
              <a:rPr lang="en-US" sz="1050" dirty="0">
                <a:solidFill>
                  <a:srgbClr val="5A5F73"/>
                </a:solidFill>
                <a:latin typeface="Calibri" pitchFamily="34" charset="0"/>
                <a:ea typeface="Calibri" pitchFamily="34" charset="-122"/>
                <a:cs typeface="Calibri" pitchFamily="34" charset="-120"/>
              </a:rPr>
              <a:t>Visualising data, speeding up models, removing noise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Clustering up close: how k-means works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Same data, twice — before the algorithm runs, and after</a:t>
            </a:r>
            <a:endParaRPr lang="en-US" sz="1400" dirty="0"/>
          </a:p>
        </p:txBody>
      </p:sp>
      <p:sp>
        <p:nvSpPr>
          <p:cNvPr id="4" name="Shape 2"/>
          <p:cNvSpPr/>
          <p:nvPr/>
        </p:nvSpPr>
        <p:spPr>
          <a:xfrm>
            <a:off x="868680" y="4480560"/>
            <a:ext cx="2468880" cy="0"/>
          </a:xfrm>
          <a:prstGeom prst="line">
            <a:avLst/>
          </a:prstGeom>
          <a:noFill/>
          <a:ln w="15875">
            <a:solidFill>
              <a:srgbClr val="B8BCD4"/>
            </a:solidFill>
            <a:prstDash val="solid"/>
          </a:ln>
        </p:spPr>
        <p:txBody>
          <a:bodyPr/>
          <a:lstStyle/>
          <a:p>
            <a:endParaRPr lang="en-US"/>
          </a:p>
        </p:txBody>
      </p:sp>
      <p:sp>
        <p:nvSpPr>
          <p:cNvPr id="5" name="Shape 3"/>
          <p:cNvSpPr/>
          <p:nvPr/>
        </p:nvSpPr>
        <p:spPr>
          <a:xfrm>
            <a:off x="868680" y="2286000"/>
            <a:ext cx="0" cy="2194560"/>
          </a:xfrm>
          <a:prstGeom prst="line">
            <a:avLst/>
          </a:prstGeom>
          <a:noFill/>
          <a:ln w="15875">
            <a:solidFill>
              <a:srgbClr val="B8BCD4"/>
            </a:solidFill>
            <a:prstDash val="solid"/>
          </a:ln>
        </p:spPr>
        <p:txBody>
          <a:bodyPr/>
          <a:lstStyle/>
          <a:p>
            <a:endParaRPr lang="en-US"/>
          </a:p>
        </p:txBody>
      </p:sp>
      <p:sp>
        <p:nvSpPr>
          <p:cNvPr id="6" name="Shape 4"/>
          <p:cNvSpPr/>
          <p:nvPr/>
        </p:nvSpPr>
        <p:spPr>
          <a:xfrm>
            <a:off x="1091794" y="2915107"/>
            <a:ext cx="146304" cy="146304"/>
          </a:xfrm>
          <a:prstGeom prst="ellipse">
            <a:avLst/>
          </a:prstGeom>
          <a:solidFill>
            <a:srgbClr val="AEB2C8"/>
          </a:solidFill>
          <a:ln w="9525">
            <a:solidFill>
              <a:srgbClr val="FFFFFF"/>
            </a:solidFill>
            <a:prstDash val="solid"/>
          </a:ln>
        </p:spPr>
        <p:txBody>
          <a:bodyPr/>
          <a:lstStyle/>
          <a:p>
            <a:endParaRPr lang="en-US"/>
          </a:p>
        </p:txBody>
      </p:sp>
      <p:sp>
        <p:nvSpPr>
          <p:cNvPr id="7" name="Shape 5"/>
          <p:cNvSpPr/>
          <p:nvPr/>
        </p:nvSpPr>
        <p:spPr>
          <a:xfrm>
            <a:off x="1338682" y="2563978"/>
            <a:ext cx="146304" cy="146304"/>
          </a:xfrm>
          <a:prstGeom prst="ellipse">
            <a:avLst/>
          </a:prstGeom>
          <a:solidFill>
            <a:srgbClr val="AEB2C8"/>
          </a:solidFill>
          <a:ln w="9525">
            <a:solidFill>
              <a:srgbClr val="FFFFFF"/>
            </a:solidFill>
            <a:prstDash val="solid"/>
          </a:ln>
        </p:spPr>
        <p:txBody>
          <a:bodyPr/>
          <a:lstStyle/>
          <a:p>
            <a:endParaRPr lang="en-US"/>
          </a:p>
        </p:txBody>
      </p:sp>
      <p:sp>
        <p:nvSpPr>
          <p:cNvPr id="8" name="Shape 6"/>
          <p:cNvSpPr/>
          <p:nvPr/>
        </p:nvSpPr>
        <p:spPr>
          <a:xfrm>
            <a:off x="1536192" y="2958998"/>
            <a:ext cx="146304" cy="146304"/>
          </a:xfrm>
          <a:prstGeom prst="ellipse">
            <a:avLst/>
          </a:prstGeom>
          <a:solidFill>
            <a:srgbClr val="AEB2C8"/>
          </a:solidFill>
          <a:ln w="9525">
            <a:solidFill>
              <a:srgbClr val="FFFFFF"/>
            </a:solidFill>
            <a:prstDash val="solid"/>
          </a:ln>
        </p:spPr>
        <p:txBody>
          <a:bodyPr/>
          <a:lstStyle/>
          <a:p>
            <a:endParaRPr lang="en-US"/>
          </a:p>
        </p:txBody>
      </p:sp>
      <p:sp>
        <p:nvSpPr>
          <p:cNvPr id="9" name="Shape 7"/>
          <p:cNvSpPr/>
          <p:nvPr/>
        </p:nvSpPr>
        <p:spPr>
          <a:xfrm>
            <a:off x="1190549" y="3200400"/>
            <a:ext cx="146304" cy="146304"/>
          </a:xfrm>
          <a:prstGeom prst="ellipse">
            <a:avLst/>
          </a:prstGeom>
          <a:solidFill>
            <a:srgbClr val="AEB2C8"/>
          </a:solidFill>
          <a:ln w="9525">
            <a:solidFill>
              <a:srgbClr val="FFFFFF"/>
            </a:solidFill>
            <a:prstDash val="solid"/>
          </a:ln>
        </p:spPr>
        <p:txBody>
          <a:bodyPr/>
          <a:lstStyle/>
          <a:p>
            <a:endParaRPr lang="en-US"/>
          </a:p>
        </p:txBody>
      </p:sp>
      <p:sp>
        <p:nvSpPr>
          <p:cNvPr id="10" name="Shape 8"/>
          <p:cNvSpPr/>
          <p:nvPr/>
        </p:nvSpPr>
        <p:spPr>
          <a:xfrm>
            <a:off x="1634947" y="2651760"/>
            <a:ext cx="146304" cy="146304"/>
          </a:xfrm>
          <a:prstGeom prst="ellipse">
            <a:avLst/>
          </a:prstGeom>
          <a:solidFill>
            <a:srgbClr val="AEB2C8"/>
          </a:solidFill>
          <a:ln w="9525">
            <a:solidFill>
              <a:srgbClr val="FFFFFF"/>
            </a:solidFill>
            <a:prstDash val="solid"/>
          </a:ln>
        </p:spPr>
        <p:txBody>
          <a:bodyPr/>
          <a:lstStyle/>
          <a:p>
            <a:endParaRPr lang="en-US"/>
          </a:p>
        </p:txBody>
      </p:sp>
      <p:sp>
        <p:nvSpPr>
          <p:cNvPr id="11" name="Shape 9"/>
          <p:cNvSpPr/>
          <p:nvPr/>
        </p:nvSpPr>
        <p:spPr>
          <a:xfrm>
            <a:off x="1388059" y="2827325"/>
            <a:ext cx="146304" cy="146304"/>
          </a:xfrm>
          <a:prstGeom prst="ellipse">
            <a:avLst/>
          </a:prstGeom>
          <a:solidFill>
            <a:srgbClr val="AEB2C8"/>
          </a:solidFill>
          <a:ln w="9525">
            <a:solidFill>
              <a:srgbClr val="FFFFFF"/>
            </a:solidFill>
            <a:prstDash val="solid"/>
          </a:ln>
        </p:spPr>
        <p:txBody>
          <a:bodyPr/>
          <a:lstStyle/>
          <a:p>
            <a:endParaRPr lang="en-US"/>
          </a:p>
        </p:txBody>
      </p:sp>
      <p:sp>
        <p:nvSpPr>
          <p:cNvPr id="12" name="Shape 10"/>
          <p:cNvSpPr/>
          <p:nvPr/>
        </p:nvSpPr>
        <p:spPr>
          <a:xfrm>
            <a:off x="1832458" y="3968496"/>
            <a:ext cx="146304" cy="146304"/>
          </a:xfrm>
          <a:prstGeom prst="ellipse">
            <a:avLst/>
          </a:prstGeom>
          <a:solidFill>
            <a:srgbClr val="AEB2C8"/>
          </a:solidFill>
          <a:ln w="9525">
            <a:solidFill>
              <a:srgbClr val="FFFFFF"/>
            </a:solidFill>
            <a:prstDash val="solid"/>
          </a:ln>
        </p:spPr>
        <p:txBody>
          <a:bodyPr/>
          <a:lstStyle/>
          <a:p>
            <a:endParaRPr lang="en-US"/>
          </a:p>
        </p:txBody>
      </p:sp>
      <p:sp>
        <p:nvSpPr>
          <p:cNvPr id="13" name="Shape 11"/>
          <p:cNvSpPr/>
          <p:nvPr/>
        </p:nvSpPr>
        <p:spPr>
          <a:xfrm>
            <a:off x="2079346" y="3749040"/>
            <a:ext cx="146304" cy="146304"/>
          </a:xfrm>
          <a:prstGeom prst="ellipse">
            <a:avLst/>
          </a:prstGeom>
          <a:solidFill>
            <a:srgbClr val="AEB2C8"/>
          </a:solidFill>
          <a:ln w="9525">
            <a:solidFill>
              <a:srgbClr val="FFFFFF"/>
            </a:solidFill>
            <a:prstDash val="solid"/>
          </a:ln>
        </p:spPr>
        <p:txBody>
          <a:bodyPr/>
          <a:lstStyle/>
          <a:p>
            <a:endParaRPr lang="en-US"/>
          </a:p>
        </p:txBody>
      </p:sp>
      <p:sp>
        <p:nvSpPr>
          <p:cNvPr id="14" name="Shape 12"/>
          <p:cNvSpPr/>
          <p:nvPr/>
        </p:nvSpPr>
        <p:spPr>
          <a:xfrm>
            <a:off x="2276856" y="4100170"/>
            <a:ext cx="146304" cy="146304"/>
          </a:xfrm>
          <a:prstGeom prst="ellipse">
            <a:avLst/>
          </a:prstGeom>
          <a:solidFill>
            <a:srgbClr val="AEB2C8"/>
          </a:solidFill>
          <a:ln w="9525">
            <a:solidFill>
              <a:srgbClr val="FFFFFF"/>
            </a:solidFill>
            <a:prstDash val="solid"/>
          </a:ln>
        </p:spPr>
        <p:txBody>
          <a:bodyPr/>
          <a:lstStyle/>
          <a:p>
            <a:endParaRPr lang="en-US"/>
          </a:p>
        </p:txBody>
      </p:sp>
      <p:sp>
        <p:nvSpPr>
          <p:cNvPr id="15" name="Shape 13"/>
          <p:cNvSpPr/>
          <p:nvPr/>
        </p:nvSpPr>
        <p:spPr>
          <a:xfrm>
            <a:off x="1931213" y="3617366"/>
            <a:ext cx="146304" cy="146304"/>
          </a:xfrm>
          <a:prstGeom prst="ellipse">
            <a:avLst/>
          </a:prstGeom>
          <a:solidFill>
            <a:srgbClr val="AEB2C8"/>
          </a:solidFill>
          <a:ln w="9525">
            <a:solidFill>
              <a:srgbClr val="FFFFFF"/>
            </a:solidFill>
            <a:prstDash val="solid"/>
          </a:ln>
        </p:spPr>
        <p:txBody>
          <a:bodyPr/>
          <a:lstStyle/>
          <a:p>
            <a:endParaRPr lang="en-US"/>
          </a:p>
        </p:txBody>
      </p:sp>
      <p:sp>
        <p:nvSpPr>
          <p:cNvPr id="16" name="Shape 14"/>
          <p:cNvSpPr/>
          <p:nvPr/>
        </p:nvSpPr>
        <p:spPr>
          <a:xfrm>
            <a:off x="2227478" y="3836822"/>
            <a:ext cx="146304" cy="146304"/>
          </a:xfrm>
          <a:prstGeom prst="ellipse">
            <a:avLst/>
          </a:prstGeom>
          <a:solidFill>
            <a:srgbClr val="AEB2C8"/>
          </a:solidFill>
          <a:ln w="9525">
            <a:solidFill>
              <a:srgbClr val="FFFFFF"/>
            </a:solidFill>
            <a:prstDash val="solid"/>
          </a:ln>
        </p:spPr>
        <p:txBody>
          <a:bodyPr/>
          <a:lstStyle/>
          <a:p>
            <a:endParaRPr lang="en-US"/>
          </a:p>
        </p:txBody>
      </p:sp>
      <p:sp>
        <p:nvSpPr>
          <p:cNvPr id="17" name="Shape 15"/>
          <p:cNvSpPr/>
          <p:nvPr/>
        </p:nvSpPr>
        <p:spPr>
          <a:xfrm>
            <a:off x="2029968" y="3924605"/>
            <a:ext cx="146304" cy="146304"/>
          </a:xfrm>
          <a:prstGeom prst="ellipse">
            <a:avLst/>
          </a:prstGeom>
          <a:solidFill>
            <a:srgbClr val="AEB2C8"/>
          </a:solidFill>
          <a:ln w="9525">
            <a:solidFill>
              <a:srgbClr val="FFFFFF"/>
            </a:solidFill>
            <a:prstDash val="solid"/>
          </a:ln>
        </p:spPr>
        <p:txBody>
          <a:bodyPr/>
          <a:lstStyle/>
          <a:p>
            <a:endParaRPr lang="en-US"/>
          </a:p>
        </p:txBody>
      </p:sp>
      <p:sp>
        <p:nvSpPr>
          <p:cNvPr id="18" name="Shape 16"/>
          <p:cNvSpPr/>
          <p:nvPr/>
        </p:nvSpPr>
        <p:spPr>
          <a:xfrm>
            <a:off x="2622499" y="3090672"/>
            <a:ext cx="146304" cy="146304"/>
          </a:xfrm>
          <a:prstGeom prst="ellipse">
            <a:avLst/>
          </a:prstGeom>
          <a:solidFill>
            <a:srgbClr val="AEB2C8"/>
          </a:solidFill>
          <a:ln w="9525">
            <a:solidFill>
              <a:srgbClr val="FFFFFF"/>
            </a:solidFill>
            <a:prstDash val="solid"/>
          </a:ln>
        </p:spPr>
        <p:txBody>
          <a:bodyPr/>
          <a:lstStyle/>
          <a:p>
            <a:endParaRPr lang="en-US"/>
          </a:p>
        </p:txBody>
      </p:sp>
      <p:sp>
        <p:nvSpPr>
          <p:cNvPr id="19" name="Shape 17"/>
          <p:cNvSpPr/>
          <p:nvPr/>
        </p:nvSpPr>
        <p:spPr>
          <a:xfrm>
            <a:off x="2869387" y="2783434"/>
            <a:ext cx="146304" cy="146304"/>
          </a:xfrm>
          <a:prstGeom prst="ellipse">
            <a:avLst/>
          </a:prstGeom>
          <a:solidFill>
            <a:srgbClr val="AEB2C8"/>
          </a:solidFill>
          <a:ln w="9525">
            <a:solidFill>
              <a:srgbClr val="FFFFFF"/>
            </a:solidFill>
            <a:prstDash val="solid"/>
          </a:ln>
        </p:spPr>
        <p:txBody>
          <a:bodyPr/>
          <a:lstStyle/>
          <a:p>
            <a:endParaRPr lang="en-US"/>
          </a:p>
        </p:txBody>
      </p:sp>
      <p:sp>
        <p:nvSpPr>
          <p:cNvPr id="20" name="Shape 18"/>
          <p:cNvSpPr/>
          <p:nvPr/>
        </p:nvSpPr>
        <p:spPr>
          <a:xfrm>
            <a:off x="3017520" y="3222346"/>
            <a:ext cx="146304" cy="146304"/>
          </a:xfrm>
          <a:prstGeom prst="ellipse">
            <a:avLst/>
          </a:prstGeom>
          <a:solidFill>
            <a:srgbClr val="AEB2C8"/>
          </a:solidFill>
          <a:ln w="9525">
            <a:solidFill>
              <a:srgbClr val="FFFFFF"/>
            </a:solidFill>
            <a:prstDash val="solid"/>
          </a:ln>
        </p:spPr>
        <p:txBody>
          <a:bodyPr/>
          <a:lstStyle/>
          <a:p>
            <a:endParaRPr lang="en-US"/>
          </a:p>
        </p:txBody>
      </p:sp>
      <p:sp>
        <p:nvSpPr>
          <p:cNvPr id="21" name="Shape 19"/>
          <p:cNvSpPr/>
          <p:nvPr/>
        </p:nvSpPr>
        <p:spPr>
          <a:xfrm>
            <a:off x="2721254" y="2563978"/>
            <a:ext cx="146304" cy="146304"/>
          </a:xfrm>
          <a:prstGeom prst="ellipse">
            <a:avLst/>
          </a:prstGeom>
          <a:solidFill>
            <a:srgbClr val="AEB2C8"/>
          </a:solidFill>
          <a:ln w="9525">
            <a:solidFill>
              <a:srgbClr val="FFFFFF"/>
            </a:solidFill>
            <a:prstDash val="solid"/>
          </a:ln>
        </p:spPr>
        <p:txBody>
          <a:bodyPr/>
          <a:lstStyle/>
          <a:p>
            <a:endParaRPr lang="en-US"/>
          </a:p>
        </p:txBody>
      </p:sp>
      <p:sp>
        <p:nvSpPr>
          <p:cNvPr id="22" name="Shape 20"/>
          <p:cNvSpPr/>
          <p:nvPr/>
        </p:nvSpPr>
        <p:spPr>
          <a:xfrm>
            <a:off x="2968142" y="2915107"/>
            <a:ext cx="146304" cy="146304"/>
          </a:xfrm>
          <a:prstGeom prst="ellipse">
            <a:avLst/>
          </a:prstGeom>
          <a:solidFill>
            <a:srgbClr val="AEB2C8"/>
          </a:solidFill>
          <a:ln w="9525">
            <a:solidFill>
              <a:srgbClr val="FFFFFF"/>
            </a:solidFill>
            <a:prstDash val="solid"/>
          </a:ln>
        </p:spPr>
        <p:txBody>
          <a:bodyPr/>
          <a:lstStyle/>
          <a:p>
            <a:endParaRPr lang="en-US"/>
          </a:p>
        </p:txBody>
      </p:sp>
      <p:sp>
        <p:nvSpPr>
          <p:cNvPr id="23" name="Shape 21"/>
          <p:cNvSpPr/>
          <p:nvPr/>
        </p:nvSpPr>
        <p:spPr>
          <a:xfrm>
            <a:off x="2770632" y="2915107"/>
            <a:ext cx="146304" cy="146304"/>
          </a:xfrm>
          <a:prstGeom prst="ellipse">
            <a:avLst/>
          </a:prstGeom>
          <a:solidFill>
            <a:srgbClr val="AEB2C8"/>
          </a:solidFill>
          <a:ln w="9525">
            <a:solidFill>
              <a:srgbClr val="FFFFFF"/>
            </a:solidFill>
            <a:prstDash val="solid"/>
          </a:ln>
        </p:spPr>
        <p:txBody>
          <a:bodyPr/>
          <a:lstStyle/>
          <a:p>
            <a:endParaRPr lang="en-US"/>
          </a:p>
        </p:txBody>
      </p:sp>
      <p:sp>
        <p:nvSpPr>
          <p:cNvPr id="24" name="Text 22"/>
          <p:cNvSpPr/>
          <p:nvPr/>
        </p:nvSpPr>
        <p:spPr>
          <a:xfrm>
            <a:off x="594360" y="4617720"/>
            <a:ext cx="3017520" cy="274320"/>
          </a:xfrm>
          <a:prstGeom prst="rect">
            <a:avLst/>
          </a:prstGeom>
          <a:noFill/>
          <a:ln/>
        </p:spPr>
        <p:txBody>
          <a:bodyPr wrap="square" lIns="0" tIns="0" rIns="0" bIns="0" rtlCol="0" anchor="ctr"/>
          <a:lstStyle/>
          <a:p>
            <a:pPr marL="0" indent="0" algn="ctr">
              <a:buNone/>
            </a:pPr>
            <a:r>
              <a:rPr lang="en-US" sz="1100" b="1" dirty="0">
                <a:solidFill>
                  <a:srgbClr val="5A5F73"/>
                </a:solidFill>
                <a:latin typeface="Arial" pitchFamily="34" charset="0"/>
                <a:ea typeface="Arial" pitchFamily="34" charset="-122"/>
                <a:cs typeface="Arial" pitchFamily="34" charset="-120"/>
              </a:rPr>
              <a:t>Before: one undifferentiated pile</a:t>
            </a:r>
            <a:endParaRPr lang="en-US" sz="1100" dirty="0"/>
          </a:p>
        </p:txBody>
      </p:sp>
      <p:sp>
        <p:nvSpPr>
          <p:cNvPr id="25" name="Shape 23"/>
          <p:cNvSpPr/>
          <p:nvPr/>
        </p:nvSpPr>
        <p:spPr>
          <a:xfrm>
            <a:off x="3593592" y="3218688"/>
            <a:ext cx="384048" cy="329184"/>
          </a:xfrm>
          <a:prstGeom prst="rightArrow">
            <a:avLst/>
          </a:prstGeom>
          <a:solidFill>
            <a:srgbClr val="9DA0DD"/>
          </a:solidFill>
          <a:ln w="12700">
            <a:solidFill>
              <a:srgbClr val="9DA0DD"/>
            </a:solidFill>
            <a:prstDash val="solid"/>
          </a:ln>
        </p:spPr>
        <p:txBody>
          <a:bodyPr/>
          <a:lstStyle/>
          <a:p>
            <a:endParaRPr lang="en-US"/>
          </a:p>
        </p:txBody>
      </p:sp>
      <p:sp>
        <p:nvSpPr>
          <p:cNvPr id="26" name="Shape 24"/>
          <p:cNvSpPr/>
          <p:nvPr/>
        </p:nvSpPr>
        <p:spPr>
          <a:xfrm>
            <a:off x="4114800" y="4480560"/>
            <a:ext cx="2468880" cy="0"/>
          </a:xfrm>
          <a:prstGeom prst="line">
            <a:avLst/>
          </a:prstGeom>
          <a:noFill/>
          <a:ln w="15875">
            <a:solidFill>
              <a:srgbClr val="B8BCD4"/>
            </a:solidFill>
            <a:prstDash val="solid"/>
          </a:ln>
        </p:spPr>
        <p:txBody>
          <a:bodyPr/>
          <a:lstStyle/>
          <a:p>
            <a:endParaRPr lang="en-US"/>
          </a:p>
        </p:txBody>
      </p:sp>
      <p:sp>
        <p:nvSpPr>
          <p:cNvPr id="27" name="Shape 25"/>
          <p:cNvSpPr/>
          <p:nvPr/>
        </p:nvSpPr>
        <p:spPr>
          <a:xfrm>
            <a:off x="4114800" y="2286000"/>
            <a:ext cx="0" cy="2194560"/>
          </a:xfrm>
          <a:prstGeom prst="line">
            <a:avLst/>
          </a:prstGeom>
          <a:noFill/>
          <a:ln w="15875">
            <a:solidFill>
              <a:srgbClr val="B8BCD4"/>
            </a:solidFill>
            <a:prstDash val="solid"/>
          </a:ln>
        </p:spPr>
        <p:txBody>
          <a:bodyPr/>
          <a:lstStyle/>
          <a:p>
            <a:endParaRPr lang="en-US"/>
          </a:p>
        </p:txBody>
      </p:sp>
      <p:sp>
        <p:nvSpPr>
          <p:cNvPr id="28" name="Shape 26"/>
          <p:cNvSpPr/>
          <p:nvPr/>
        </p:nvSpPr>
        <p:spPr>
          <a:xfrm>
            <a:off x="4337914" y="2915107"/>
            <a:ext cx="146304" cy="146304"/>
          </a:xfrm>
          <a:prstGeom prst="ellipse">
            <a:avLst/>
          </a:prstGeom>
          <a:solidFill>
            <a:srgbClr val="2A2D7C"/>
          </a:solidFill>
          <a:ln w="9525">
            <a:solidFill>
              <a:srgbClr val="FFFFFF"/>
            </a:solidFill>
            <a:prstDash val="solid"/>
          </a:ln>
        </p:spPr>
        <p:txBody>
          <a:bodyPr/>
          <a:lstStyle/>
          <a:p>
            <a:endParaRPr lang="en-US"/>
          </a:p>
        </p:txBody>
      </p:sp>
      <p:sp>
        <p:nvSpPr>
          <p:cNvPr id="29" name="Shape 27"/>
          <p:cNvSpPr/>
          <p:nvPr/>
        </p:nvSpPr>
        <p:spPr>
          <a:xfrm>
            <a:off x="4584802" y="2563978"/>
            <a:ext cx="146304" cy="146304"/>
          </a:xfrm>
          <a:prstGeom prst="ellipse">
            <a:avLst/>
          </a:prstGeom>
          <a:solidFill>
            <a:srgbClr val="2A2D7C"/>
          </a:solidFill>
          <a:ln w="9525">
            <a:solidFill>
              <a:srgbClr val="FFFFFF"/>
            </a:solidFill>
            <a:prstDash val="solid"/>
          </a:ln>
        </p:spPr>
        <p:txBody>
          <a:bodyPr/>
          <a:lstStyle/>
          <a:p>
            <a:endParaRPr lang="en-US"/>
          </a:p>
        </p:txBody>
      </p:sp>
      <p:sp>
        <p:nvSpPr>
          <p:cNvPr id="30" name="Shape 28"/>
          <p:cNvSpPr/>
          <p:nvPr/>
        </p:nvSpPr>
        <p:spPr>
          <a:xfrm>
            <a:off x="4782312" y="2958998"/>
            <a:ext cx="146304" cy="146304"/>
          </a:xfrm>
          <a:prstGeom prst="ellipse">
            <a:avLst/>
          </a:prstGeom>
          <a:solidFill>
            <a:srgbClr val="2A2D7C"/>
          </a:solidFill>
          <a:ln w="9525">
            <a:solidFill>
              <a:srgbClr val="FFFFFF"/>
            </a:solidFill>
            <a:prstDash val="solid"/>
          </a:ln>
        </p:spPr>
        <p:txBody>
          <a:bodyPr/>
          <a:lstStyle/>
          <a:p>
            <a:endParaRPr lang="en-US"/>
          </a:p>
        </p:txBody>
      </p:sp>
      <p:sp>
        <p:nvSpPr>
          <p:cNvPr id="31" name="Shape 29"/>
          <p:cNvSpPr/>
          <p:nvPr/>
        </p:nvSpPr>
        <p:spPr>
          <a:xfrm>
            <a:off x="4436669" y="3200400"/>
            <a:ext cx="146304" cy="146304"/>
          </a:xfrm>
          <a:prstGeom prst="ellipse">
            <a:avLst/>
          </a:prstGeom>
          <a:solidFill>
            <a:srgbClr val="2A2D7C"/>
          </a:solidFill>
          <a:ln w="9525">
            <a:solidFill>
              <a:srgbClr val="FFFFFF"/>
            </a:solidFill>
            <a:prstDash val="solid"/>
          </a:ln>
        </p:spPr>
        <p:txBody>
          <a:bodyPr/>
          <a:lstStyle/>
          <a:p>
            <a:endParaRPr lang="en-US"/>
          </a:p>
        </p:txBody>
      </p:sp>
      <p:sp>
        <p:nvSpPr>
          <p:cNvPr id="32" name="Shape 30"/>
          <p:cNvSpPr/>
          <p:nvPr/>
        </p:nvSpPr>
        <p:spPr>
          <a:xfrm>
            <a:off x="4881067" y="2651760"/>
            <a:ext cx="146304" cy="146304"/>
          </a:xfrm>
          <a:prstGeom prst="ellipse">
            <a:avLst/>
          </a:prstGeom>
          <a:solidFill>
            <a:srgbClr val="2A2D7C"/>
          </a:solidFill>
          <a:ln w="9525">
            <a:solidFill>
              <a:srgbClr val="FFFFFF"/>
            </a:solidFill>
            <a:prstDash val="solid"/>
          </a:ln>
        </p:spPr>
        <p:txBody>
          <a:bodyPr/>
          <a:lstStyle/>
          <a:p>
            <a:endParaRPr lang="en-US"/>
          </a:p>
        </p:txBody>
      </p:sp>
      <p:sp>
        <p:nvSpPr>
          <p:cNvPr id="33" name="Shape 31"/>
          <p:cNvSpPr/>
          <p:nvPr/>
        </p:nvSpPr>
        <p:spPr>
          <a:xfrm>
            <a:off x="4634179" y="2827325"/>
            <a:ext cx="146304" cy="146304"/>
          </a:xfrm>
          <a:prstGeom prst="ellipse">
            <a:avLst/>
          </a:prstGeom>
          <a:solidFill>
            <a:srgbClr val="2A2D7C"/>
          </a:solidFill>
          <a:ln w="9525">
            <a:solidFill>
              <a:srgbClr val="FFFFFF"/>
            </a:solidFill>
            <a:prstDash val="solid"/>
          </a:ln>
        </p:spPr>
        <p:txBody>
          <a:bodyPr/>
          <a:lstStyle/>
          <a:p>
            <a:endParaRPr lang="en-US"/>
          </a:p>
        </p:txBody>
      </p:sp>
      <p:sp>
        <p:nvSpPr>
          <p:cNvPr id="34" name="Shape 32"/>
          <p:cNvSpPr/>
          <p:nvPr/>
        </p:nvSpPr>
        <p:spPr>
          <a:xfrm>
            <a:off x="4545482" y="2785262"/>
            <a:ext cx="274320" cy="274320"/>
          </a:xfrm>
          <a:prstGeom prst="ellipse">
            <a:avLst/>
          </a:prstGeom>
          <a:solidFill>
            <a:srgbClr val="FFFFFF"/>
          </a:solidFill>
          <a:ln w="28575">
            <a:solidFill>
              <a:srgbClr val="2A2D7C"/>
            </a:solidFill>
            <a:prstDash val="solid"/>
          </a:ln>
        </p:spPr>
        <p:txBody>
          <a:bodyPr/>
          <a:lstStyle/>
          <a:p>
            <a:endParaRPr lang="en-US"/>
          </a:p>
        </p:txBody>
      </p:sp>
      <p:sp>
        <p:nvSpPr>
          <p:cNvPr id="35" name="Shape 33"/>
          <p:cNvSpPr/>
          <p:nvPr/>
        </p:nvSpPr>
        <p:spPr>
          <a:xfrm>
            <a:off x="4636922" y="2876702"/>
            <a:ext cx="91440" cy="91440"/>
          </a:xfrm>
          <a:prstGeom prst="rect">
            <a:avLst/>
          </a:prstGeom>
          <a:solidFill>
            <a:srgbClr val="2A2D7C"/>
          </a:solidFill>
          <a:ln w="12700">
            <a:solidFill>
              <a:srgbClr val="2A2D7C"/>
            </a:solidFill>
            <a:prstDash val="solid"/>
          </a:ln>
        </p:spPr>
        <p:txBody>
          <a:bodyPr/>
          <a:lstStyle/>
          <a:p>
            <a:endParaRPr lang="en-US"/>
          </a:p>
        </p:txBody>
      </p:sp>
      <p:sp>
        <p:nvSpPr>
          <p:cNvPr id="36" name="Shape 34"/>
          <p:cNvSpPr/>
          <p:nvPr/>
        </p:nvSpPr>
        <p:spPr>
          <a:xfrm>
            <a:off x="5078578" y="3968496"/>
            <a:ext cx="146304" cy="146304"/>
          </a:xfrm>
          <a:prstGeom prst="ellipse">
            <a:avLst/>
          </a:prstGeom>
          <a:solidFill>
            <a:srgbClr val="00A6A6"/>
          </a:solidFill>
          <a:ln w="9525">
            <a:solidFill>
              <a:srgbClr val="FFFFFF"/>
            </a:solidFill>
            <a:prstDash val="solid"/>
          </a:ln>
        </p:spPr>
        <p:txBody>
          <a:bodyPr/>
          <a:lstStyle/>
          <a:p>
            <a:endParaRPr lang="en-US"/>
          </a:p>
        </p:txBody>
      </p:sp>
      <p:sp>
        <p:nvSpPr>
          <p:cNvPr id="37" name="Shape 35"/>
          <p:cNvSpPr/>
          <p:nvPr/>
        </p:nvSpPr>
        <p:spPr>
          <a:xfrm>
            <a:off x="5325466" y="3749040"/>
            <a:ext cx="146304" cy="146304"/>
          </a:xfrm>
          <a:prstGeom prst="ellipse">
            <a:avLst/>
          </a:prstGeom>
          <a:solidFill>
            <a:srgbClr val="00A6A6"/>
          </a:solidFill>
          <a:ln w="9525">
            <a:solidFill>
              <a:srgbClr val="FFFFFF"/>
            </a:solidFill>
            <a:prstDash val="solid"/>
          </a:ln>
        </p:spPr>
        <p:txBody>
          <a:bodyPr/>
          <a:lstStyle/>
          <a:p>
            <a:endParaRPr lang="en-US"/>
          </a:p>
        </p:txBody>
      </p:sp>
      <p:sp>
        <p:nvSpPr>
          <p:cNvPr id="38" name="Shape 36"/>
          <p:cNvSpPr/>
          <p:nvPr/>
        </p:nvSpPr>
        <p:spPr>
          <a:xfrm>
            <a:off x="5522976" y="4100170"/>
            <a:ext cx="146304" cy="146304"/>
          </a:xfrm>
          <a:prstGeom prst="ellipse">
            <a:avLst/>
          </a:prstGeom>
          <a:solidFill>
            <a:srgbClr val="00A6A6"/>
          </a:solidFill>
          <a:ln w="9525">
            <a:solidFill>
              <a:srgbClr val="FFFFFF"/>
            </a:solidFill>
            <a:prstDash val="solid"/>
          </a:ln>
        </p:spPr>
        <p:txBody>
          <a:bodyPr/>
          <a:lstStyle/>
          <a:p>
            <a:endParaRPr lang="en-US"/>
          </a:p>
        </p:txBody>
      </p:sp>
      <p:sp>
        <p:nvSpPr>
          <p:cNvPr id="39" name="Shape 37"/>
          <p:cNvSpPr/>
          <p:nvPr/>
        </p:nvSpPr>
        <p:spPr>
          <a:xfrm>
            <a:off x="5177333" y="3617366"/>
            <a:ext cx="146304" cy="146304"/>
          </a:xfrm>
          <a:prstGeom prst="ellipse">
            <a:avLst/>
          </a:prstGeom>
          <a:solidFill>
            <a:srgbClr val="00A6A6"/>
          </a:solidFill>
          <a:ln w="9525">
            <a:solidFill>
              <a:srgbClr val="FFFFFF"/>
            </a:solidFill>
            <a:prstDash val="solid"/>
          </a:ln>
        </p:spPr>
        <p:txBody>
          <a:bodyPr/>
          <a:lstStyle/>
          <a:p>
            <a:endParaRPr lang="en-US"/>
          </a:p>
        </p:txBody>
      </p:sp>
      <p:sp>
        <p:nvSpPr>
          <p:cNvPr id="40" name="Shape 38"/>
          <p:cNvSpPr/>
          <p:nvPr/>
        </p:nvSpPr>
        <p:spPr>
          <a:xfrm>
            <a:off x="5473598" y="3836822"/>
            <a:ext cx="146304" cy="146304"/>
          </a:xfrm>
          <a:prstGeom prst="ellipse">
            <a:avLst/>
          </a:prstGeom>
          <a:solidFill>
            <a:srgbClr val="00A6A6"/>
          </a:solidFill>
          <a:ln w="9525">
            <a:solidFill>
              <a:srgbClr val="FFFFFF"/>
            </a:solidFill>
            <a:prstDash val="solid"/>
          </a:ln>
        </p:spPr>
        <p:txBody>
          <a:bodyPr/>
          <a:lstStyle/>
          <a:p>
            <a:endParaRPr lang="en-US"/>
          </a:p>
        </p:txBody>
      </p:sp>
      <p:sp>
        <p:nvSpPr>
          <p:cNvPr id="41" name="Shape 39"/>
          <p:cNvSpPr/>
          <p:nvPr/>
        </p:nvSpPr>
        <p:spPr>
          <a:xfrm>
            <a:off x="5276088" y="3924605"/>
            <a:ext cx="146304" cy="146304"/>
          </a:xfrm>
          <a:prstGeom prst="ellipse">
            <a:avLst/>
          </a:prstGeom>
          <a:solidFill>
            <a:srgbClr val="00A6A6"/>
          </a:solidFill>
          <a:ln w="9525">
            <a:solidFill>
              <a:srgbClr val="FFFFFF"/>
            </a:solidFill>
            <a:prstDash val="solid"/>
          </a:ln>
        </p:spPr>
        <p:txBody>
          <a:bodyPr/>
          <a:lstStyle/>
          <a:p>
            <a:endParaRPr lang="en-US"/>
          </a:p>
        </p:txBody>
      </p:sp>
      <p:sp>
        <p:nvSpPr>
          <p:cNvPr id="42" name="Shape 40"/>
          <p:cNvSpPr/>
          <p:nvPr/>
        </p:nvSpPr>
        <p:spPr>
          <a:xfrm>
            <a:off x="5236769" y="3794760"/>
            <a:ext cx="274320" cy="274320"/>
          </a:xfrm>
          <a:prstGeom prst="ellipse">
            <a:avLst/>
          </a:prstGeom>
          <a:solidFill>
            <a:srgbClr val="FFFFFF"/>
          </a:solidFill>
          <a:ln w="28575">
            <a:solidFill>
              <a:srgbClr val="00A6A6"/>
            </a:solidFill>
            <a:prstDash val="solid"/>
          </a:ln>
        </p:spPr>
        <p:txBody>
          <a:bodyPr/>
          <a:lstStyle/>
          <a:p>
            <a:endParaRPr lang="en-US"/>
          </a:p>
        </p:txBody>
      </p:sp>
      <p:sp>
        <p:nvSpPr>
          <p:cNvPr id="43" name="Shape 41"/>
          <p:cNvSpPr/>
          <p:nvPr/>
        </p:nvSpPr>
        <p:spPr>
          <a:xfrm>
            <a:off x="5328209" y="3886200"/>
            <a:ext cx="91440" cy="91440"/>
          </a:xfrm>
          <a:prstGeom prst="rect">
            <a:avLst/>
          </a:prstGeom>
          <a:solidFill>
            <a:srgbClr val="00A6A6"/>
          </a:solidFill>
          <a:ln w="12700">
            <a:solidFill>
              <a:srgbClr val="00A6A6"/>
            </a:solidFill>
            <a:prstDash val="solid"/>
          </a:ln>
        </p:spPr>
        <p:txBody>
          <a:bodyPr/>
          <a:lstStyle/>
          <a:p>
            <a:endParaRPr lang="en-US"/>
          </a:p>
        </p:txBody>
      </p:sp>
      <p:sp>
        <p:nvSpPr>
          <p:cNvPr id="44" name="Shape 42"/>
          <p:cNvSpPr/>
          <p:nvPr/>
        </p:nvSpPr>
        <p:spPr>
          <a:xfrm>
            <a:off x="5868619" y="3090672"/>
            <a:ext cx="146304" cy="146304"/>
          </a:xfrm>
          <a:prstGeom prst="ellipse">
            <a:avLst/>
          </a:prstGeom>
          <a:solidFill>
            <a:srgbClr val="E09400"/>
          </a:solidFill>
          <a:ln w="9525">
            <a:solidFill>
              <a:srgbClr val="FFFFFF"/>
            </a:solidFill>
            <a:prstDash val="solid"/>
          </a:ln>
        </p:spPr>
        <p:txBody>
          <a:bodyPr/>
          <a:lstStyle/>
          <a:p>
            <a:endParaRPr lang="en-US"/>
          </a:p>
        </p:txBody>
      </p:sp>
      <p:sp>
        <p:nvSpPr>
          <p:cNvPr id="45" name="Shape 43"/>
          <p:cNvSpPr/>
          <p:nvPr/>
        </p:nvSpPr>
        <p:spPr>
          <a:xfrm>
            <a:off x="6115507" y="2783434"/>
            <a:ext cx="146304" cy="146304"/>
          </a:xfrm>
          <a:prstGeom prst="ellipse">
            <a:avLst/>
          </a:prstGeom>
          <a:solidFill>
            <a:srgbClr val="E09400"/>
          </a:solidFill>
          <a:ln w="9525">
            <a:solidFill>
              <a:srgbClr val="FFFFFF"/>
            </a:solidFill>
            <a:prstDash val="solid"/>
          </a:ln>
        </p:spPr>
        <p:txBody>
          <a:bodyPr/>
          <a:lstStyle/>
          <a:p>
            <a:endParaRPr lang="en-US"/>
          </a:p>
        </p:txBody>
      </p:sp>
      <p:sp>
        <p:nvSpPr>
          <p:cNvPr id="46" name="Shape 44"/>
          <p:cNvSpPr/>
          <p:nvPr/>
        </p:nvSpPr>
        <p:spPr>
          <a:xfrm>
            <a:off x="6263640" y="3222346"/>
            <a:ext cx="146304" cy="146304"/>
          </a:xfrm>
          <a:prstGeom prst="ellipse">
            <a:avLst/>
          </a:prstGeom>
          <a:solidFill>
            <a:srgbClr val="E09400"/>
          </a:solidFill>
          <a:ln w="9525">
            <a:solidFill>
              <a:srgbClr val="FFFFFF"/>
            </a:solidFill>
            <a:prstDash val="solid"/>
          </a:ln>
        </p:spPr>
        <p:txBody>
          <a:bodyPr/>
          <a:lstStyle/>
          <a:p>
            <a:endParaRPr lang="en-US"/>
          </a:p>
        </p:txBody>
      </p:sp>
      <p:sp>
        <p:nvSpPr>
          <p:cNvPr id="47" name="Shape 45"/>
          <p:cNvSpPr/>
          <p:nvPr/>
        </p:nvSpPr>
        <p:spPr>
          <a:xfrm>
            <a:off x="5967374" y="2563978"/>
            <a:ext cx="146304" cy="146304"/>
          </a:xfrm>
          <a:prstGeom prst="ellipse">
            <a:avLst/>
          </a:prstGeom>
          <a:solidFill>
            <a:srgbClr val="E09400"/>
          </a:solidFill>
          <a:ln w="9525">
            <a:solidFill>
              <a:srgbClr val="FFFFFF"/>
            </a:solidFill>
            <a:prstDash val="solid"/>
          </a:ln>
        </p:spPr>
        <p:txBody>
          <a:bodyPr/>
          <a:lstStyle/>
          <a:p>
            <a:endParaRPr lang="en-US"/>
          </a:p>
        </p:txBody>
      </p:sp>
      <p:sp>
        <p:nvSpPr>
          <p:cNvPr id="48" name="Shape 46"/>
          <p:cNvSpPr/>
          <p:nvPr/>
        </p:nvSpPr>
        <p:spPr>
          <a:xfrm>
            <a:off x="6214262" y="2915107"/>
            <a:ext cx="146304" cy="146304"/>
          </a:xfrm>
          <a:prstGeom prst="ellipse">
            <a:avLst/>
          </a:prstGeom>
          <a:solidFill>
            <a:srgbClr val="E09400"/>
          </a:solidFill>
          <a:ln w="9525">
            <a:solidFill>
              <a:srgbClr val="FFFFFF"/>
            </a:solidFill>
            <a:prstDash val="solid"/>
          </a:ln>
        </p:spPr>
        <p:txBody>
          <a:bodyPr/>
          <a:lstStyle/>
          <a:p>
            <a:endParaRPr lang="en-US"/>
          </a:p>
        </p:txBody>
      </p:sp>
      <p:sp>
        <p:nvSpPr>
          <p:cNvPr id="49" name="Shape 47"/>
          <p:cNvSpPr/>
          <p:nvPr/>
        </p:nvSpPr>
        <p:spPr>
          <a:xfrm>
            <a:off x="6016752" y="2915107"/>
            <a:ext cx="146304" cy="146304"/>
          </a:xfrm>
          <a:prstGeom prst="ellipse">
            <a:avLst/>
          </a:prstGeom>
          <a:solidFill>
            <a:srgbClr val="E09400"/>
          </a:solidFill>
          <a:ln w="9525">
            <a:solidFill>
              <a:srgbClr val="FFFFFF"/>
            </a:solidFill>
            <a:prstDash val="solid"/>
          </a:ln>
        </p:spPr>
        <p:txBody>
          <a:bodyPr/>
          <a:lstStyle/>
          <a:p>
            <a:endParaRPr lang="en-US"/>
          </a:p>
        </p:txBody>
      </p:sp>
      <p:sp>
        <p:nvSpPr>
          <p:cNvPr id="50" name="Shape 48"/>
          <p:cNvSpPr/>
          <p:nvPr/>
        </p:nvSpPr>
        <p:spPr>
          <a:xfrm>
            <a:off x="6002122" y="2851099"/>
            <a:ext cx="274320" cy="274320"/>
          </a:xfrm>
          <a:prstGeom prst="ellipse">
            <a:avLst/>
          </a:prstGeom>
          <a:solidFill>
            <a:srgbClr val="FFFFFF"/>
          </a:solidFill>
          <a:ln w="28575">
            <a:solidFill>
              <a:srgbClr val="E09400"/>
            </a:solidFill>
            <a:prstDash val="solid"/>
          </a:ln>
        </p:spPr>
        <p:txBody>
          <a:bodyPr/>
          <a:lstStyle/>
          <a:p>
            <a:endParaRPr lang="en-US"/>
          </a:p>
        </p:txBody>
      </p:sp>
      <p:sp>
        <p:nvSpPr>
          <p:cNvPr id="51" name="Shape 49"/>
          <p:cNvSpPr/>
          <p:nvPr/>
        </p:nvSpPr>
        <p:spPr>
          <a:xfrm>
            <a:off x="6093562" y="2942539"/>
            <a:ext cx="91440" cy="91440"/>
          </a:xfrm>
          <a:prstGeom prst="rect">
            <a:avLst/>
          </a:prstGeom>
          <a:solidFill>
            <a:srgbClr val="E09400"/>
          </a:solidFill>
          <a:ln w="12700">
            <a:solidFill>
              <a:srgbClr val="E09400"/>
            </a:solidFill>
            <a:prstDash val="solid"/>
          </a:ln>
        </p:spPr>
        <p:txBody>
          <a:bodyPr/>
          <a:lstStyle/>
          <a:p>
            <a:endParaRPr lang="en-US"/>
          </a:p>
        </p:txBody>
      </p:sp>
      <p:sp>
        <p:nvSpPr>
          <p:cNvPr id="52" name="Text 50"/>
          <p:cNvSpPr/>
          <p:nvPr/>
        </p:nvSpPr>
        <p:spPr>
          <a:xfrm>
            <a:off x="3840480" y="4617720"/>
            <a:ext cx="3017520" cy="274320"/>
          </a:xfrm>
          <a:prstGeom prst="rect">
            <a:avLst/>
          </a:prstGeom>
          <a:noFill/>
          <a:ln/>
        </p:spPr>
        <p:txBody>
          <a:bodyPr wrap="square" lIns="0" tIns="0" rIns="0" bIns="0" rtlCol="0" anchor="ctr"/>
          <a:lstStyle/>
          <a:p>
            <a:pPr marL="0" indent="0" algn="ctr">
              <a:buNone/>
            </a:pPr>
            <a:r>
              <a:rPr lang="en-US" sz="1100" b="1" dirty="0">
                <a:solidFill>
                  <a:srgbClr val="2A2D7C"/>
                </a:solidFill>
                <a:latin typeface="Arial" pitchFamily="34" charset="0"/>
                <a:ea typeface="Arial" pitchFamily="34" charset="-122"/>
                <a:cs typeface="Arial" pitchFamily="34" charset="-120"/>
              </a:rPr>
              <a:t>After: three named segments</a:t>
            </a:r>
            <a:endParaRPr lang="en-US" sz="1100" dirty="0"/>
          </a:p>
        </p:txBody>
      </p:sp>
      <p:sp>
        <p:nvSpPr>
          <p:cNvPr id="53" name="Text 51"/>
          <p:cNvSpPr/>
          <p:nvPr/>
        </p:nvSpPr>
        <p:spPr>
          <a:xfrm>
            <a:off x="548640" y="4974336"/>
            <a:ext cx="6126480" cy="292608"/>
          </a:xfrm>
          <a:prstGeom prst="rect">
            <a:avLst/>
          </a:prstGeom>
          <a:noFill/>
          <a:ln/>
        </p:spPr>
        <p:txBody>
          <a:bodyPr wrap="square" lIns="0" tIns="0" rIns="0" bIns="0" rtlCol="0" anchor="ctr"/>
          <a:lstStyle/>
          <a:p>
            <a:pPr marL="0" indent="0" algn="ctr">
              <a:buNone/>
            </a:pPr>
            <a:r>
              <a:rPr lang="en-US" sz="1050" i="1" dirty="0">
                <a:solidFill>
                  <a:srgbClr val="5A5F73"/>
                </a:solidFill>
                <a:latin typeface="Calibri" pitchFamily="34" charset="0"/>
                <a:ea typeface="Calibri" pitchFamily="34" charset="-122"/>
                <a:cs typeface="Calibri" pitchFamily="34" charset="-120"/>
              </a:rPr>
              <a:t>Hollow rings mark each cluster centre — the average customer of that segment.</a:t>
            </a:r>
            <a:endParaRPr lang="en-US" sz="1050" dirty="0"/>
          </a:p>
        </p:txBody>
      </p:sp>
      <p:sp>
        <p:nvSpPr>
          <p:cNvPr id="54" name="Text 52"/>
          <p:cNvSpPr/>
          <p:nvPr/>
        </p:nvSpPr>
        <p:spPr>
          <a:xfrm>
            <a:off x="6903720" y="1691640"/>
            <a:ext cx="4754880" cy="292608"/>
          </a:xfrm>
          <a:prstGeom prst="rect">
            <a:avLst/>
          </a:prstGeom>
          <a:noFill/>
          <a:ln/>
        </p:spPr>
        <p:txBody>
          <a:bodyPr wrap="square" lIns="0" tIns="0" rIns="0" bIns="0" rtlCol="0" anchor="ctr"/>
          <a:lstStyle/>
          <a:p>
            <a:pPr marL="0" indent="0">
              <a:buNone/>
            </a:pPr>
            <a:r>
              <a:rPr lang="en-US" sz="1500" b="1" dirty="0">
                <a:solidFill>
                  <a:srgbClr val="2A2D7C"/>
                </a:solidFill>
                <a:latin typeface="Arial" pitchFamily="34" charset="0"/>
                <a:ea typeface="Arial" pitchFamily="34" charset="-122"/>
                <a:cs typeface="Arial" pitchFamily="34" charset="-120"/>
              </a:rPr>
              <a:t>The algorithm, in four steps</a:t>
            </a:r>
            <a:endParaRPr lang="en-US" sz="1500" dirty="0"/>
          </a:p>
        </p:txBody>
      </p:sp>
      <p:sp>
        <p:nvSpPr>
          <p:cNvPr id="55" name="Shape 53"/>
          <p:cNvSpPr/>
          <p:nvPr/>
        </p:nvSpPr>
        <p:spPr>
          <a:xfrm>
            <a:off x="6903720" y="2167128"/>
            <a:ext cx="365760" cy="365760"/>
          </a:xfrm>
          <a:prstGeom prst="ellipse">
            <a:avLst/>
          </a:prstGeom>
          <a:solidFill>
            <a:srgbClr val="2A2D7C"/>
          </a:solidFill>
          <a:ln w="12700">
            <a:solidFill>
              <a:srgbClr val="2A2D7C"/>
            </a:solidFill>
            <a:prstDash val="solid"/>
          </a:ln>
        </p:spPr>
        <p:txBody>
          <a:bodyPr/>
          <a:lstStyle/>
          <a:p>
            <a:endParaRPr lang="en-US"/>
          </a:p>
        </p:txBody>
      </p:sp>
      <p:sp>
        <p:nvSpPr>
          <p:cNvPr id="56" name="Text 54"/>
          <p:cNvSpPr/>
          <p:nvPr/>
        </p:nvSpPr>
        <p:spPr>
          <a:xfrm>
            <a:off x="6903720" y="216712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7" name="Text 55"/>
          <p:cNvSpPr/>
          <p:nvPr/>
        </p:nvSpPr>
        <p:spPr>
          <a:xfrm>
            <a:off x="7424928" y="2130552"/>
            <a:ext cx="42062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Choose k</a:t>
            </a:r>
            <a:endParaRPr lang="en-US" sz="1300" dirty="0"/>
          </a:p>
        </p:txBody>
      </p:sp>
      <p:sp>
        <p:nvSpPr>
          <p:cNvPr id="58" name="Text 56"/>
          <p:cNvSpPr/>
          <p:nvPr/>
        </p:nvSpPr>
        <p:spPr>
          <a:xfrm>
            <a:off x="7424928" y="2404872"/>
            <a:ext cx="4206240" cy="50292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Decide how many groups you want, then drop k centres at random.</a:t>
            </a:r>
            <a:endParaRPr lang="en-US" sz="1100" dirty="0"/>
          </a:p>
        </p:txBody>
      </p:sp>
      <p:sp>
        <p:nvSpPr>
          <p:cNvPr id="59" name="Shape 57"/>
          <p:cNvSpPr/>
          <p:nvPr/>
        </p:nvSpPr>
        <p:spPr>
          <a:xfrm>
            <a:off x="6903720" y="3008376"/>
            <a:ext cx="365760" cy="365760"/>
          </a:xfrm>
          <a:prstGeom prst="ellipse">
            <a:avLst/>
          </a:prstGeom>
          <a:solidFill>
            <a:srgbClr val="2A2D7C"/>
          </a:solidFill>
          <a:ln w="12700">
            <a:solidFill>
              <a:srgbClr val="2A2D7C"/>
            </a:solidFill>
            <a:prstDash val="solid"/>
          </a:ln>
        </p:spPr>
        <p:txBody>
          <a:bodyPr/>
          <a:lstStyle/>
          <a:p>
            <a:endParaRPr lang="en-US"/>
          </a:p>
        </p:txBody>
      </p:sp>
      <p:sp>
        <p:nvSpPr>
          <p:cNvPr id="60" name="Text 58"/>
          <p:cNvSpPr/>
          <p:nvPr/>
        </p:nvSpPr>
        <p:spPr>
          <a:xfrm>
            <a:off x="6903720" y="30083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61" name="Text 59"/>
          <p:cNvSpPr/>
          <p:nvPr/>
        </p:nvSpPr>
        <p:spPr>
          <a:xfrm>
            <a:off x="7424928" y="2971800"/>
            <a:ext cx="42062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Assign</a:t>
            </a:r>
            <a:endParaRPr lang="en-US" sz="1300" dirty="0"/>
          </a:p>
        </p:txBody>
      </p:sp>
      <p:sp>
        <p:nvSpPr>
          <p:cNvPr id="62" name="Text 60"/>
          <p:cNvSpPr/>
          <p:nvPr/>
        </p:nvSpPr>
        <p:spPr>
          <a:xfrm>
            <a:off x="7424928" y="3246120"/>
            <a:ext cx="4206240" cy="50292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Every point joins whichever centre is nearest to it.</a:t>
            </a:r>
            <a:endParaRPr lang="en-US" sz="1100" dirty="0"/>
          </a:p>
        </p:txBody>
      </p:sp>
      <p:sp>
        <p:nvSpPr>
          <p:cNvPr id="63" name="Shape 61"/>
          <p:cNvSpPr/>
          <p:nvPr/>
        </p:nvSpPr>
        <p:spPr>
          <a:xfrm>
            <a:off x="6903720" y="3849624"/>
            <a:ext cx="365760" cy="365760"/>
          </a:xfrm>
          <a:prstGeom prst="ellipse">
            <a:avLst/>
          </a:prstGeom>
          <a:solidFill>
            <a:srgbClr val="2A2D7C"/>
          </a:solidFill>
          <a:ln w="12700">
            <a:solidFill>
              <a:srgbClr val="2A2D7C"/>
            </a:solidFill>
            <a:prstDash val="solid"/>
          </a:ln>
        </p:spPr>
        <p:txBody>
          <a:bodyPr/>
          <a:lstStyle/>
          <a:p>
            <a:endParaRPr lang="en-US"/>
          </a:p>
        </p:txBody>
      </p:sp>
      <p:sp>
        <p:nvSpPr>
          <p:cNvPr id="64" name="Text 62"/>
          <p:cNvSpPr/>
          <p:nvPr/>
        </p:nvSpPr>
        <p:spPr>
          <a:xfrm>
            <a:off x="6903720" y="384962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65" name="Text 63"/>
          <p:cNvSpPr/>
          <p:nvPr/>
        </p:nvSpPr>
        <p:spPr>
          <a:xfrm>
            <a:off x="7424928" y="3813048"/>
            <a:ext cx="42062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Move</a:t>
            </a:r>
            <a:endParaRPr lang="en-US" sz="1300" dirty="0"/>
          </a:p>
        </p:txBody>
      </p:sp>
      <p:sp>
        <p:nvSpPr>
          <p:cNvPr id="66" name="Text 64"/>
          <p:cNvSpPr/>
          <p:nvPr/>
        </p:nvSpPr>
        <p:spPr>
          <a:xfrm>
            <a:off x="7424928" y="4087368"/>
            <a:ext cx="4206240" cy="50292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Each centre shifts to the average position of its own points.</a:t>
            </a:r>
            <a:endParaRPr lang="en-US" sz="1100" dirty="0"/>
          </a:p>
        </p:txBody>
      </p:sp>
      <p:sp>
        <p:nvSpPr>
          <p:cNvPr id="67" name="Shape 65"/>
          <p:cNvSpPr/>
          <p:nvPr/>
        </p:nvSpPr>
        <p:spPr>
          <a:xfrm>
            <a:off x="6903720" y="4690872"/>
            <a:ext cx="365760" cy="365760"/>
          </a:xfrm>
          <a:prstGeom prst="ellipse">
            <a:avLst/>
          </a:prstGeom>
          <a:solidFill>
            <a:srgbClr val="2A2D7C"/>
          </a:solidFill>
          <a:ln w="12700">
            <a:solidFill>
              <a:srgbClr val="2A2D7C"/>
            </a:solidFill>
            <a:prstDash val="solid"/>
          </a:ln>
        </p:spPr>
        <p:txBody>
          <a:bodyPr/>
          <a:lstStyle/>
          <a:p>
            <a:endParaRPr lang="en-US"/>
          </a:p>
        </p:txBody>
      </p:sp>
      <p:sp>
        <p:nvSpPr>
          <p:cNvPr id="68" name="Text 66"/>
          <p:cNvSpPr/>
          <p:nvPr/>
        </p:nvSpPr>
        <p:spPr>
          <a:xfrm>
            <a:off x="6903720" y="46908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9" name="Text 67"/>
          <p:cNvSpPr/>
          <p:nvPr/>
        </p:nvSpPr>
        <p:spPr>
          <a:xfrm>
            <a:off x="7424928" y="4654296"/>
            <a:ext cx="4206240" cy="274320"/>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Repeat</a:t>
            </a:r>
            <a:endParaRPr lang="en-US" sz="1300" dirty="0"/>
          </a:p>
        </p:txBody>
      </p:sp>
      <p:sp>
        <p:nvSpPr>
          <p:cNvPr id="70" name="Text 68"/>
          <p:cNvSpPr/>
          <p:nvPr/>
        </p:nvSpPr>
        <p:spPr>
          <a:xfrm>
            <a:off x="7424928" y="4928616"/>
            <a:ext cx="4206240" cy="502920"/>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Reassign and move until nothing changes. Done.</a:t>
            </a:r>
            <a:endParaRPr lang="en-US" sz="1100" dirty="0"/>
          </a:p>
        </p:txBody>
      </p:sp>
      <p:sp>
        <p:nvSpPr>
          <p:cNvPr id="71" name="Shape 69"/>
          <p:cNvSpPr/>
          <p:nvPr/>
        </p:nvSpPr>
        <p:spPr>
          <a:xfrm>
            <a:off x="548640" y="5349240"/>
            <a:ext cx="11091672" cy="914400"/>
          </a:xfrm>
          <a:prstGeom prst="roundRect">
            <a:avLst>
              <a:gd name="adj" fmla="val 9000"/>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72" name="Text 70"/>
          <p:cNvSpPr/>
          <p:nvPr/>
        </p:nvSpPr>
        <p:spPr>
          <a:xfrm>
            <a:off x="822960" y="5349240"/>
            <a:ext cx="10543032" cy="914400"/>
          </a:xfrm>
          <a:prstGeom prst="rect">
            <a:avLst/>
          </a:prstGeom>
          <a:noFill/>
          <a:ln/>
        </p:spPr>
        <p:txBody>
          <a:bodyPr wrap="square" lIns="0" tIns="0" rIns="0" bIns="0" rtlCol="0" anchor="ctr"/>
          <a:lstStyle/>
          <a:p>
            <a:pPr marL="0" indent="0">
              <a:buNone/>
            </a:pPr>
            <a:r>
              <a:rPr lang="en-US" sz="1200" b="1" dirty="0">
                <a:solidFill>
                  <a:srgbClr val="8A5B00"/>
                </a:solidFill>
                <a:latin typeface="Calibri" pitchFamily="34" charset="0"/>
                <a:ea typeface="Calibri" pitchFamily="34" charset="-122"/>
                <a:cs typeface="Calibri" pitchFamily="34" charset="-120"/>
              </a:rPr>
              <a:t>Choosing k is on you.  </a:t>
            </a:r>
            <a:r>
              <a:rPr lang="en-US" sz="1200" dirty="0">
                <a:solidFill>
                  <a:srgbClr val="8A5B00"/>
                </a:solidFill>
                <a:latin typeface="Calibri" pitchFamily="34" charset="0"/>
                <a:ea typeface="Calibri" pitchFamily="34" charset="-122"/>
                <a:cs typeface="Calibri" pitchFamily="34" charset="-120"/>
              </a:rPr>
              <a:t>The elbow method and silhouette score narrow it down, but the real test is whether the segments mean something to the business — an unnameable cluster is not a useful one.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Classical ML is still where most value sits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Structured, tabular data problems that run every day in production</a:t>
            </a:r>
            <a:endParaRPr lang="en-US" sz="1400" dirty="0"/>
          </a:p>
        </p:txBody>
      </p:sp>
      <p:sp>
        <p:nvSpPr>
          <p:cNvPr id="4" name="Shape 2"/>
          <p:cNvSpPr/>
          <p:nvPr/>
        </p:nvSpPr>
        <p:spPr>
          <a:xfrm>
            <a:off x="548640" y="1645920"/>
            <a:ext cx="1109167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548640" y="1645920"/>
            <a:ext cx="2286000" cy="914400"/>
          </a:xfrm>
          <a:prstGeom prst="roundRect">
            <a:avLst>
              <a:gd name="adj" fmla="val 9000"/>
            </a:avLst>
          </a:prstGeom>
          <a:solidFill>
            <a:srgbClr val="2A2D7C"/>
          </a:solidFill>
          <a:ln w="12700">
            <a:solidFill>
              <a:srgbClr val="2A2D7C"/>
            </a:solidFill>
            <a:prstDash val="solid"/>
          </a:ln>
        </p:spPr>
        <p:txBody>
          <a:bodyPr/>
          <a:lstStyle/>
          <a:p>
            <a:endParaRPr lang="en-US"/>
          </a:p>
        </p:txBody>
      </p:sp>
      <p:sp>
        <p:nvSpPr>
          <p:cNvPr id="6" name="Text 4"/>
          <p:cNvSpPr/>
          <p:nvPr/>
        </p:nvSpPr>
        <p:spPr>
          <a:xfrm>
            <a:off x="731520" y="1645920"/>
            <a:ext cx="196596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Banking</a:t>
            </a:r>
            <a:endParaRPr lang="en-US" sz="1500" dirty="0"/>
          </a:p>
        </p:txBody>
      </p:sp>
      <p:sp>
        <p:nvSpPr>
          <p:cNvPr id="7" name="Text 5"/>
          <p:cNvSpPr/>
          <p:nvPr/>
        </p:nvSpPr>
        <p:spPr>
          <a:xfrm>
            <a:off x="3063240" y="1645920"/>
            <a:ext cx="8412480" cy="914400"/>
          </a:xfrm>
          <a:prstGeom prst="rect">
            <a:avLst/>
          </a:prstGeom>
          <a:noFill/>
          <a:ln/>
        </p:spPr>
        <p:txBody>
          <a:bodyPr wrap="square" lIns="0" tIns="0" rIns="0" bIns="0" rtlCol="0" anchor="ctr"/>
          <a:lstStyle/>
          <a:p>
            <a:pPr marL="0" indent="0">
              <a:buNone/>
            </a:pPr>
            <a:r>
              <a:rPr lang="en-US" sz="1250" dirty="0">
                <a:solidFill>
                  <a:srgbClr val="101034"/>
                </a:solidFill>
                <a:latin typeface="Calibri" pitchFamily="34" charset="0"/>
                <a:ea typeface="Calibri" pitchFamily="34" charset="-122"/>
                <a:cs typeface="Calibri" pitchFamily="34" charset="-120"/>
              </a:rPr>
              <a:t>Credit risk scoring · fraud detection · AML alert triage · collections prioritisation</a:t>
            </a:r>
            <a:endParaRPr lang="en-US" sz="1250" dirty="0"/>
          </a:p>
        </p:txBody>
      </p:sp>
      <p:sp>
        <p:nvSpPr>
          <p:cNvPr id="8" name="Shape 6"/>
          <p:cNvSpPr/>
          <p:nvPr/>
        </p:nvSpPr>
        <p:spPr>
          <a:xfrm>
            <a:off x="548640" y="2724912"/>
            <a:ext cx="1109167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9" name="Shape 7"/>
          <p:cNvSpPr/>
          <p:nvPr/>
        </p:nvSpPr>
        <p:spPr>
          <a:xfrm>
            <a:off x="548640" y="2724912"/>
            <a:ext cx="2286000" cy="914400"/>
          </a:xfrm>
          <a:prstGeom prst="roundRect">
            <a:avLst>
              <a:gd name="adj" fmla="val 9000"/>
            </a:avLst>
          </a:prstGeom>
          <a:solidFill>
            <a:srgbClr val="00A6A6"/>
          </a:solidFill>
          <a:ln w="12700">
            <a:solidFill>
              <a:srgbClr val="00A6A6"/>
            </a:solidFill>
            <a:prstDash val="solid"/>
          </a:ln>
        </p:spPr>
        <p:txBody>
          <a:bodyPr/>
          <a:lstStyle/>
          <a:p>
            <a:endParaRPr lang="en-US"/>
          </a:p>
        </p:txBody>
      </p:sp>
      <p:sp>
        <p:nvSpPr>
          <p:cNvPr id="10" name="Text 8"/>
          <p:cNvSpPr/>
          <p:nvPr/>
        </p:nvSpPr>
        <p:spPr>
          <a:xfrm>
            <a:off x="731520" y="2724912"/>
            <a:ext cx="196596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Retail</a:t>
            </a:r>
            <a:endParaRPr lang="en-US" sz="1500" dirty="0"/>
          </a:p>
        </p:txBody>
      </p:sp>
      <p:sp>
        <p:nvSpPr>
          <p:cNvPr id="11" name="Text 9"/>
          <p:cNvSpPr/>
          <p:nvPr/>
        </p:nvSpPr>
        <p:spPr>
          <a:xfrm>
            <a:off x="3063240" y="2724912"/>
            <a:ext cx="8412480" cy="914400"/>
          </a:xfrm>
          <a:prstGeom prst="rect">
            <a:avLst/>
          </a:prstGeom>
          <a:noFill/>
          <a:ln/>
        </p:spPr>
        <p:txBody>
          <a:bodyPr wrap="square" lIns="0" tIns="0" rIns="0" bIns="0" rtlCol="0" anchor="ctr"/>
          <a:lstStyle/>
          <a:p>
            <a:pPr marL="0" indent="0">
              <a:buNone/>
            </a:pPr>
            <a:r>
              <a:rPr lang="en-US" sz="1250" dirty="0">
                <a:solidFill>
                  <a:srgbClr val="101034"/>
                </a:solidFill>
                <a:latin typeface="Calibri" pitchFamily="34" charset="0"/>
                <a:ea typeface="Calibri" pitchFamily="34" charset="-122"/>
                <a:cs typeface="Calibri" pitchFamily="34" charset="-120"/>
              </a:rPr>
              <a:t>Demand forecasting · price optimisation · basket analysis · churn scoring</a:t>
            </a:r>
            <a:endParaRPr lang="en-US" sz="1250" dirty="0"/>
          </a:p>
        </p:txBody>
      </p:sp>
      <p:sp>
        <p:nvSpPr>
          <p:cNvPr id="12" name="Shape 10"/>
          <p:cNvSpPr/>
          <p:nvPr/>
        </p:nvSpPr>
        <p:spPr>
          <a:xfrm>
            <a:off x="548640" y="3803904"/>
            <a:ext cx="1109167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3" name="Shape 11"/>
          <p:cNvSpPr/>
          <p:nvPr/>
        </p:nvSpPr>
        <p:spPr>
          <a:xfrm>
            <a:off x="548640" y="3803904"/>
            <a:ext cx="2286000" cy="914400"/>
          </a:xfrm>
          <a:prstGeom prst="roundRect">
            <a:avLst>
              <a:gd name="adj" fmla="val 9000"/>
            </a:avLst>
          </a:prstGeom>
          <a:solidFill>
            <a:srgbClr val="5B5FBF"/>
          </a:solidFill>
          <a:ln w="12700">
            <a:solidFill>
              <a:srgbClr val="5B5FBF"/>
            </a:solidFill>
            <a:prstDash val="solid"/>
          </a:ln>
        </p:spPr>
        <p:txBody>
          <a:bodyPr/>
          <a:lstStyle/>
          <a:p>
            <a:endParaRPr lang="en-US"/>
          </a:p>
        </p:txBody>
      </p:sp>
      <p:sp>
        <p:nvSpPr>
          <p:cNvPr id="14" name="Text 12"/>
          <p:cNvSpPr/>
          <p:nvPr/>
        </p:nvSpPr>
        <p:spPr>
          <a:xfrm>
            <a:off x="731520" y="3803904"/>
            <a:ext cx="196596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Healthcare</a:t>
            </a:r>
            <a:endParaRPr lang="en-US" sz="1500" dirty="0"/>
          </a:p>
        </p:txBody>
      </p:sp>
      <p:sp>
        <p:nvSpPr>
          <p:cNvPr id="15" name="Text 13"/>
          <p:cNvSpPr/>
          <p:nvPr/>
        </p:nvSpPr>
        <p:spPr>
          <a:xfrm>
            <a:off x="3063240" y="3803904"/>
            <a:ext cx="8412480" cy="914400"/>
          </a:xfrm>
          <a:prstGeom prst="rect">
            <a:avLst/>
          </a:prstGeom>
          <a:noFill/>
          <a:ln/>
        </p:spPr>
        <p:txBody>
          <a:bodyPr wrap="square" lIns="0" tIns="0" rIns="0" bIns="0" rtlCol="0" anchor="ctr"/>
          <a:lstStyle/>
          <a:p>
            <a:pPr marL="0" indent="0">
              <a:buNone/>
            </a:pPr>
            <a:r>
              <a:rPr lang="en-US" sz="1250" dirty="0">
                <a:solidFill>
                  <a:srgbClr val="101034"/>
                </a:solidFill>
                <a:latin typeface="Calibri" pitchFamily="34" charset="0"/>
                <a:ea typeface="Calibri" pitchFamily="34" charset="-122"/>
                <a:cs typeface="Calibri" pitchFamily="34" charset="-120"/>
              </a:rPr>
              <a:t>Readmission risk · claims fraud · triage prioritisation · no-show prediction</a:t>
            </a:r>
            <a:endParaRPr lang="en-US" sz="1250" dirty="0"/>
          </a:p>
        </p:txBody>
      </p:sp>
      <p:sp>
        <p:nvSpPr>
          <p:cNvPr id="16" name="Shape 14"/>
          <p:cNvSpPr/>
          <p:nvPr/>
        </p:nvSpPr>
        <p:spPr>
          <a:xfrm>
            <a:off x="548640" y="4882896"/>
            <a:ext cx="11091672" cy="914400"/>
          </a:xfrm>
          <a:prstGeom prst="roundRect">
            <a:avLst>
              <a:gd name="adj" fmla="val 9000"/>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7" name="Shape 15"/>
          <p:cNvSpPr/>
          <p:nvPr/>
        </p:nvSpPr>
        <p:spPr>
          <a:xfrm>
            <a:off x="548640" y="4882896"/>
            <a:ext cx="2286000" cy="914400"/>
          </a:xfrm>
          <a:prstGeom prst="roundRect">
            <a:avLst>
              <a:gd name="adj" fmla="val 9000"/>
            </a:avLst>
          </a:prstGeom>
          <a:solidFill>
            <a:srgbClr val="E09400"/>
          </a:solidFill>
          <a:ln w="12700">
            <a:solidFill>
              <a:srgbClr val="E09400"/>
            </a:solidFill>
            <a:prstDash val="solid"/>
          </a:ln>
        </p:spPr>
        <p:txBody>
          <a:bodyPr/>
          <a:lstStyle/>
          <a:p>
            <a:endParaRPr lang="en-US"/>
          </a:p>
        </p:txBody>
      </p:sp>
      <p:sp>
        <p:nvSpPr>
          <p:cNvPr id="18" name="Text 16"/>
          <p:cNvSpPr/>
          <p:nvPr/>
        </p:nvSpPr>
        <p:spPr>
          <a:xfrm>
            <a:off x="731520" y="4882896"/>
            <a:ext cx="196596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Manufacturing</a:t>
            </a:r>
            <a:endParaRPr lang="en-US" sz="1500" dirty="0"/>
          </a:p>
        </p:txBody>
      </p:sp>
      <p:sp>
        <p:nvSpPr>
          <p:cNvPr id="19" name="Text 17"/>
          <p:cNvSpPr/>
          <p:nvPr/>
        </p:nvSpPr>
        <p:spPr>
          <a:xfrm>
            <a:off x="3063240" y="4882896"/>
            <a:ext cx="8412480" cy="914400"/>
          </a:xfrm>
          <a:prstGeom prst="rect">
            <a:avLst/>
          </a:prstGeom>
          <a:noFill/>
          <a:ln/>
        </p:spPr>
        <p:txBody>
          <a:bodyPr wrap="square" lIns="0" tIns="0" rIns="0" bIns="0" rtlCol="0" anchor="ctr"/>
          <a:lstStyle/>
          <a:p>
            <a:pPr marL="0" indent="0">
              <a:buNone/>
            </a:pPr>
            <a:r>
              <a:rPr lang="en-US" sz="1250" dirty="0">
                <a:solidFill>
                  <a:srgbClr val="101034"/>
                </a:solidFill>
                <a:latin typeface="Calibri" pitchFamily="34" charset="0"/>
                <a:ea typeface="Calibri" pitchFamily="34" charset="-122"/>
                <a:cs typeface="Calibri" pitchFamily="34" charset="-120"/>
              </a:rPr>
              <a:t>Predictive maintenance · yield optimisation · visual defect detection</a:t>
            </a:r>
            <a:endParaRPr lang="en-US" sz="1250" dirty="0"/>
          </a:p>
        </p:txBody>
      </p:sp>
      <p:sp>
        <p:nvSpPr>
          <p:cNvPr id="20" name="Shape 18"/>
          <p:cNvSpPr/>
          <p:nvPr/>
        </p:nvSpPr>
        <p:spPr>
          <a:xfrm>
            <a:off x="548640" y="5989320"/>
            <a:ext cx="11091672" cy="566928"/>
          </a:xfrm>
          <a:prstGeom prst="roundRect">
            <a:avLst>
              <a:gd name="adj" fmla="val 14516"/>
            </a:avLst>
          </a:prstGeom>
          <a:solidFill>
            <a:srgbClr val="EEF7F7"/>
          </a:solidFill>
          <a:ln w="12700">
            <a:solidFill>
              <a:srgbClr val="7FD3D3"/>
            </a:solidFill>
            <a:prstDash val="solid"/>
          </a:ln>
        </p:spPr>
        <p:txBody>
          <a:bodyPr/>
          <a:lstStyle/>
          <a:p>
            <a:endParaRPr lang="en-US"/>
          </a:p>
        </p:txBody>
      </p:sp>
      <p:sp>
        <p:nvSpPr>
          <p:cNvPr id="21" name="Text 19"/>
          <p:cNvSpPr/>
          <p:nvPr/>
        </p:nvSpPr>
        <p:spPr>
          <a:xfrm>
            <a:off x="777240" y="5989320"/>
            <a:ext cx="10634472" cy="566928"/>
          </a:xfrm>
          <a:prstGeom prst="rect">
            <a:avLst/>
          </a:prstGeom>
          <a:noFill/>
          <a:ln/>
        </p:spPr>
        <p:txBody>
          <a:bodyPr wrap="square" lIns="0" tIns="0" rIns="0" bIns="0" rtlCol="0" anchor="ctr"/>
          <a:lstStyle/>
          <a:p>
            <a:pPr marL="0" indent="0">
              <a:buNone/>
            </a:pPr>
            <a:r>
              <a:rPr lang="en-US" sz="1250" i="1" dirty="0">
                <a:solidFill>
                  <a:srgbClr val="005E5E"/>
                </a:solidFill>
                <a:latin typeface="Calibri" pitchFamily="34" charset="0"/>
                <a:ea typeface="Calibri" pitchFamily="34" charset="-122"/>
                <a:cs typeface="Calibri" pitchFamily="34" charset="-120"/>
              </a:rPr>
              <a:t>Rule of thumb: if the answer lives in rows and columns, classical ML usually beats a large language model on cost, speed and explainability.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Deep Learning</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Stacked layers of artificial neurons that learn their own features from raw data</a:t>
            </a:r>
            <a:endParaRPr lang="en-US" sz="1400" dirty="0"/>
          </a:p>
        </p:txBody>
      </p:sp>
      <p:sp>
        <p:nvSpPr>
          <p:cNvPr id="4" name="Shape 2"/>
          <p:cNvSpPr/>
          <p:nvPr/>
        </p:nvSpPr>
        <p:spPr>
          <a:xfrm flipV="1">
            <a:off x="6629400" y="2898648"/>
            <a:ext cx="1399032" cy="141732"/>
          </a:xfrm>
          <a:prstGeom prst="line">
            <a:avLst/>
          </a:prstGeom>
          <a:noFill/>
          <a:ln w="9525">
            <a:solidFill>
              <a:srgbClr val="C9CCE6"/>
            </a:solidFill>
            <a:prstDash val="solid"/>
          </a:ln>
        </p:spPr>
        <p:txBody>
          <a:bodyPr/>
          <a:lstStyle/>
          <a:p>
            <a:endParaRPr lang="en-US"/>
          </a:p>
        </p:txBody>
      </p:sp>
      <p:sp>
        <p:nvSpPr>
          <p:cNvPr id="5" name="Shape 3"/>
          <p:cNvSpPr/>
          <p:nvPr/>
        </p:nvSpPr>
        <p:spPr>
          <a:xfrm>
            <a:off x="6629400" y="3040380"/>
            <a:ext cx="1399032" cy="425196"/>
          </a:xfrm>
          <a:prstGeom prst="line">
            <a:avLst/>
          </a:prstGeom>
          <a:noFill/>
          <a:ln w="9525">
            <a:solidFill>
              <a:srgbClr val="C9CCE6"/>
            </a:solidFill>
            <a:prstDash val="solid"/>
          </a:ln>
        </p:spPr>
        <p:txBody>
          <a:bodyPr/>
          <a:lstStyle/>
          <a:p>
            <a:endParaRPr lang="en-US"/>
          </a:p>
        </p:txBody>
      </p:sp>
      <p:sp>
        <p:nvSpPr>
          <p:cNvPr id="6" name="Shape 4"/>
          <p:cNvSpPr/>
          <p:nvPr/>
        </p:nvSpPr>
        <p:spPr>
          <a:xfrm>
            <a:off x="6629400" y="3040380"/>
            <a:ext cx="1399032" cy="992124"/>
          </a:xfrm>
          <a:prstGeom prst="line">
            <a:avLst/>
          </a:prstGeom>
          <a:noFill/>
          <a:ln w="9525">
            <a:solidFill>
              <a:srgbClr val="C9CCE6"/>
            </a:solidFill>
            <a:prstDash val="solid"/>
          </a:ln>
        </p:spPr>
        <p:txBody>
          <a:bodyPr/>
          <a:lstStyle/>
          <a:p>
            <a:endParaRPr lang="en-US"/>
          </a:p>
        </p:txBody>
      </p:sp>
      <p:sp>
        <p:nvSpPr>
          <p:cNvPr id="7" name="Shape 5"/>
          <p:cNvSpPr/>
          <p:nvPr/>
        </p:nvSpPr>
        <p:spPr>
          <a:xfrm>
            <a:off x="6629400" y="3040380"/>
            <a:ext cx="1399032" cy="1559052"/>
          </a:xfrm>
          <a:prstGeom prst="line">
            <a:avLst/>
          </a:prstGeom>
          <a:noFill/>
          <a:ln w="9525">
            <a:solidFill>
              <a:srgbClr val="C9CCE6"/>
            </a:solidFill>
            <a:prstDash val="solid"/>
          </a:ln>
        </p:spPr>
        <p:txBody>
          <a:bodyPr/>
          <a:lstStyle/>
          <a:p>
            <a:endParaRPr lang="en-US"/>
          </a:p>
        </p:txBody>
      </p:sp>
      <p:sp>
        <p:nvSpPr>
          <p:cNvPr id="8" name="Shape 6"/>
          <p:cNvSpPr/>
          <p:nvPr/>
        </p:nvSpPr>
        <p:spPr>
          <a:xfrm flipV="1">
            <a:off x="6629400" y="2898648"/>
            <a:ext cx="1399032" cy="850392"/>
          </a:xfrm>
          <a:prstGeom prst="line">
            <a:avLst/>
          </a:prstGeom>
          <a:noFill/>
          <a:ln w="9525">
            <a:solidFill>
              <a:srgbClr val="C9CCE6"/>
            </a:solidFill>
            <a:prstDash val="solid"/>
          </a:ln>
        </p:spPr>
        <p:txBody>
          <a:bodyPr/>
          <a:lstStyle/>
          <a:p>
            <a:endParaRPr lang="en-US"/>
          </a:p>
        </p:txBody>
      </p:sp>
      <p:sp>
        <p:nvSpPr>
          <p:cNvPr id="9" name="Shape 7"/>
          <p:cNvSpPr/>
          <p:nvPr/>
        </p:nvSpPr>
        <p:spPr>
          <a:xfrm flipV="1">
            <a:off x="6629400" y="3465576"/>
            <a:ext cx="1399032" cy="283464"/>
          </a:xfrm>
          <a:prstGeom prst="line">
            <a:avLst/>
          </a:prstGeom>
          <a:noFill/>
          <a:ln w="9525">
            <a:solidFill>
              <a:srgbClr val="C9CCE6"/>
            </a:solidFill>
            <a:prstDash val="solid"/>
          </a:ln>
        </p:spPr>
        <p:txBody>
          <a:bodyPr/>
          <a:lstStyle/>
          <a:p>
            <a:endParaRPr lang="en-US"/>
          </a:p>
        </p:txBody>
      </p:sp>
      <p:sp>
        <p:nvSpPr>
          <p:cNvPr id="10" name="Shape 8"/>
          <p:cNvSpPr/>
          <p:nvPr/>
        </p:nvSpPr>
        <p:spPr>
          <a:xfrm>
            <a:off x="6629400" y="3749040"/>
            <a:ext cx="1399032" cy="283464"/>
          </a:xfrm>
          <a:prstGeom prst="line">
            <a:avLst/>
          </a:prstGeom>
          <a:noFill/>
          <a:ln w="9525">
            <a:solidFill>
              <a:srgbClr val="C9CCE6"/>
            </a:solidFill>
            <a:prstDash val="solid"/>
          </a:ln>
        </p:spPr>
        <p:txBody>
          <a:bodyPr/>
          <a:lstStyle/>
          <a:p>
            <a:endParaRPr lang="en-US"/>
          </a:p>
        </p:txBody>
      </p:sp>
      <p:sp>
        <p:nvSpPr>
          <p:cNvPr id="11" name="Shape 9"/>
          <p:cNvSpPr/>
          <p:nvPr/>
        </p:nvSpPr>
        <p:spPr>
          <a:xfrm>
            <a:off x="6629400" y="3749040"/>
            <a:ext cx="1399032" cy="850392"/>
          </a:xfrm>
          <a:prstGeom prst="line">
            <a:avLst/>
          </a:prstGeom>
          <a:noFill/>
          <a:ln w="9525">
            <a:solidFill>
              <a:srgbClr val="C9CCE6"/>
            </a:solidFill>
            <a:prstDash val="solid"/>
          </a:ln>
        </p:spPr>
        <p:txBody>
          <a:bodyPr/>
          <a:lstStyle/>
          <a:p>
            <a:endParaRPr lang="en-US"/>
          </a:p>
        </p:txBody>
      </p:sp>
      <p:sp>
        <p:nvSpPr>
          <p:cNvPr id="12" name="Shape 10"/>
          <p:cNvSpPr/>
          <p:nvPr/>
        </p:nvSpPr>
        <p:spPr>
          <a:xfrm flipV="1">
            <a:off x="6629400" y="2898648"/>
            <a:ext cx="1399032" cy="1559052"/>
          </a:xfrm>
          <a:prstGeom prst="line">
            <a:avLst/>
          </a:prstGeom>
          <a:noFill/>
          <a:ln w="9525">
            <a:solidFill>
              <a:srgbClr val="C9CCE6"/>
            </a:solidFill>
            <a:prstDash val="solid"/>
          </a:ln>
        </p:spPr>
        <p:txBody>
          <a:bodyPr/>
          <a:lstStyle/>
          <a:p>
            <a:endParaRPr lang="en-US"/>
          </a:p>
        </p:txBody>
      </p:sp>
      <p:sp>
        <p:nvSpPr>
          <p:cNvPr id="13" name="Shape 11"/>
          <p:cNvSpPr/>
          <p:nvPr/>
        </p:nvSpPr>
        <p:spPr>
          <a:xfrm flipV="1">
            <a:off x="6629400" y="3465576"/>
            <a:ext cx="1399032" cy="992124"/>
          </a:xfrm>
          <a:prstGeom prst="line">
            <a:avLst/>
          </a:prstGeom>
          <a:noFill/>
          <a:ln w="9525">
            <a:solidFill>
              <a:srgbClr val="C9CCE6"/>
            </a:solidFill>
            <a:prstDash val="solid"/>
          </a:ln>
        </p:spPr>
        <p:txBody>
          <a:bodyPr/>
          <a:lstStyle/>
          <a:p>
            <a:endParaRPr lang="en-US"/>
          </a:p>
        </p:txBody>
      </p:sp>
      <p:sp>
        <p:nvSpPr>
          <p:cNvPr id="14" name="Shape 12"/>
          <p:cNvSpPr/>
          <p:nvPr/>
        </p:nvSpPr>
        <p:spPr>
          <a:xfrm flipV="1">
            <a:off x="6629400" y="4032504"/>
            <a:ext cx="1399032" cy="425196"/>
          </a:xfrm>
          <a:prstGeom prst="line">
            <a:avLst/>
          </a:prstGeom>
          <a:noFill/>
          <a:ln w="9525">
            <a:solidFill>
              <a:srgbClr val="C9CCE6"/>
            </a:solidFill>
            <a:prstDash val="solid"/>
          </a:ln>
        </p:spPr>
        <p:txBody>
          <a:bodyPr/>
          <a:lstStyle/>
          <a:p>
            <a:endParaRPr lang="en-US"/>
          </a:p>
        </p:txBody>
      </p:sp>
      <p:sp>
        <p:nvSpPr>
          <p:cNvPr id="15" name="Shape 13"/>
          <p:cNvSpPr/>
          <p:nvPr/>
        </p:nvSpPr>
        <p:spPr>
          <a:xfrm>
            <a:off x="6629400" y="4457700"/>
            <a:ext cx="1399032" cy="141732"/>
          </a:xfrm>
          <a:prstGeom prst="line">
            <a:avLst/>
          </a:prstGeom>
          <a:noFill/>
          <a:ln w="9525">
            <a:solidFill>
              <a:srgbClr val="C9CCE6"/>
            </a:solidFill>
            <a:prstDash val="solid"/>
          </a:ln>
        </p:spPr>
        <p:txBody>
          <a:bodyPr/>
          <a:lstStyle/>
          <a:p>
            <a:endParaRPr lang="en-US"/>
          </a:p>
        </p:txBody>
      </p:sp>
      <p:sp>
        <p:nvSpPr>
          <p:cNvPr id="16" name="Shape 14"/>
          <p:cNvSpPr/>
          <p:nvPr/>
        </p:nvSpPr>
        <p:spPr>
          <a:xfrm>
            <a:off x="8028432" y="2898648"/>
            <a:ext cx="1399032" cy="0"/>
          </a:xfrm>
          <a:prstGeom prst="line">
            <a:avLst/>
          </a:prstGeom>
          <a:noFill/>
          <a:ln w="9525">
            <a:solidFill>
              <a:srgbClr val="C9CCE6"/>
            </a:solidFill>
            <a:prstDash val="solid"/>
          </a:ln>
        </p:spPr>
        <p:txBody>
          <a:bodyPr/>
          <a:lstStyle/>
          <a:p>
            <a:endParaRPr lang="en-US"/>
          </a:p>
        </p:txBody>
      </p:sp>
      <p:sp>
        <p:nvSpPr>
          <p:cNvPr id="17" name="Shape 15"/>
          <p:cNvSpPr/>
          <p:nvPr/>
        </p:nvSpPr>
        <p:spPr>
          <a:xfrm>
            <a:off x="8028432" y="2898648"/>
            <a:ext cx="1399032" cy="566928"/>
          </a:xfrm>
          <a:prstGeom prst="line">
            <a:avLst/>
          </a:prstGeom>
          <a:noFill/>
          <a:ln w="9525">
            <a:solidFill>
              <a:srgbClr val="C9CCE6"/>
            </a:solidFill>
            <a:prstDash val="solid"/>
          </a:ln>
        </p:spPr>
        <p:txBody>
          <a:bodyPr/>
          <a:lstStyle/>
          <a:p>
            <a:endParaRPr lang="en-US"/>
          </a:p>
        </p:txBody>
      </p:sp>
      <p:sp>
        <p:nvSpPr>
          <p:cNvPr id="18" name="Shape 16"/>
          <p:cNvSpPr/>
          <p:nvPr/>
        </p:nvSpPr>
        <p:spPr>
          <a:xfrm>
            <a:off x="8028432" y="2898648"/>
            <a:ext cx="1399032" cy="1133856"/>
          </a:xfrm>
          <a:prstGeom prst="line">
            <a:avLst/>
          </a:prstGeom>
          <a:noFill/>
          <a:ln w="9525">
            <a:solidFill>
              <a:srgbClr val="C9CCE6"/>
            </a:solidFill>
            <a:prstDash val="solid"/>
          </a:ln>
        </p:spPr>
        <p:txBody>
          <a:bodyPr/>
          <a:lstStyle/>
          <a:p>
            <a:endParaRPr lang="en-US"/>
          </a:p>
        </p:txBody>
      </p:sp>
      <p:sp>
        <p:nvSpPr>
          <p:cNvPr id="19" name="Shape 17"/>
          <p:cNvSpPr/>
          <p:nvPr/>
        </p:nvSpPr>
        <p:spPr>
          <a:xfrm>
            <a:off x="8028432" y="2898648"/>
            <a:ext cx="1399032" cy="1700784"/>
          </a:xfrm>
          <a:prstGeom prst="line">
            <a:avLst/>
          </a:prstGeom>
          <a:noFill/>
          <a:ln w="9525">
            <a:solidFill>
              <a:srgbClr val="C9CCE6"/>
            </a:solidFill>
            <a:prstDash val="solid"/>
          </a:ln>
        </p:spPr>
        <p:txBody>
          <a:bodyPr/>
          <a:lstStyle/>
          <a:p>
            <a:endParaRPr lang="en-US"/>
          </a:p>
        </p:txBody>
      </p:sp>
      <p:sp>
        <p:nvSpPr>
          <p:cNvPr id="20" name="Shape 18"/>
          <p:cNvSpPr/>
          <p:nvPr/>
        </p:nvSpPr>
        <p:spPr>
          <a:xfrm flipV="1">
            <a:off x="8028432" y="2898648"/>
            <a:ext cx="1399032" cy="566928"/>
          </a:xfrm>
          <a:prstGeom prst="line">
            <a:avLst/>
          </a:prstGeom>
          <a:noFill/>
          <a:ln w="9525">
            <a:solidFill>
              <a:srgbClr val="C9CCE6"/>
            </a:solidFill>
            <a:prstDash val="solid"/>
          </a:ln>
        </p:spPr>
        <p:txBody>
          <a:bodyPr/>
          <a:lstStyle/>
          <a:p>
            <a:endParaRPr lang="en-US"/>
          </a:p>
        </p:txBody>
      </p:sp>
      <p:sp>
        <p:nvSpPr>
          <p:cNvPr id="21" name="Shape 19"/>
          <p:cNvSpPr/>
          <p:nvPr/>
        </p:nvSpPr>
        <p:spPr>
          <a:xfrm>
            <a:off x="8028432" y="3465576"/>
            <a:ext cx="1399032" cy="0"/>
          </a:xfrm>
          <a:prstGeom prst="line">
            <a:avLst/>
          </a:prstGeom>
          <a:noFill/>
          <a:ln w="9525">
            <a:solidFill>
              <a:srgbClr val="C9CCE6"/>
            </a:solidFill>
            <a:prstDash val="solid"/>
          </a:ln>
        </p:spPr>
        <p:txBody>
          <a:bodyPr/>
          <a:lstStyle/>
          <a:p>
            <a:endParaRPr lang="en-US"/>
          </a:p>
        </p:txBody>
      </p:sp>
      <p:sp>
        <p:nvSpPr>
          <p:cNvPr id="22" name="Shape 20"/>
          <p:cNvSpPr/>
          <p:nvPr/>
        </p:nvSpPr>
        <p:spPr>
          <a:xfrm>
            <a:off x="8028432" y="3465576"/>
            <a:ext cx="1399032" cy="566928"/>
          </a:xfrm>
          <a:prstGeom prst="line">
            <a:avLst/>
          </a:prstGeom>
          <a:noFill/>
          <a:ln w="9525">
            <a:solidFill>
              <a:srgbClr val="C9CCE6"/>
            </a:solidFill>
            <a:prstDash val="solid"/>
          </a:ln>
        </p:spPr>
        <p:txBody>
          <a:bodyPr/>
          <a:lstStyle/>
          <a:p>
            <a:endParaRPr lang="en-US"/>
          </a:p>
        </p:txBody>
      </p:sp>
      <p:sp>
        <p:nvSpPr>
          <p:cNvPr id="23" name="Shape 21"/>
          <p:cNvSpPr/>
          <p:nvPr/>
        </p:nvSpPr>
        <p:spPr>
          <a:xfrm>
            <a:off x="8028432" y="3465576"/>
            <a:ext cx="1399032" cy="1133856"/>
          </a:xfrm>
          <a:prstGeom prst="line">
            <a:avLst/>
          </a:prstGeom>
          <a:noFill/>
          <a:ln w="9525">
            <a:solidFill>
              <a:srgbClr val="C9CCE6"/>
            </a:solidFill>
            <a:prstDash val="solid"/>
          </a:ln>
        </p:spPr>
        <p:txBody>
          <a:bodyPr/>
          <a:lstStyle/>
          <a:p>
            <a:endParaRPr lang="en-US"/>
          </a:p>
        </p:txBody>
      </p:sp>
      <p:sp>
        <p:nvSpPr>
          <p:cNvPr id="24" name="Shape 22"/>
          <p:cNvSpPr/>
          <p:nvPr/>
        </p:nvSpPr>
        <p:spPr>
          <a:xfrm flipV="1">
            <a:off x="8028432" y="2898648"/>
            <a:ext cx="1399032" cy="1133856"/>
          </a:xfrm>
          <a:prstGeom prst="line">
            <a:avLst/>
          </a:prstGeom>
          <a:noFill/>
          <a:ln w="9525">
            <a:solidFill>
              <a:srgbClr val="C9CCE6"/>
            </a:solidFill>
            <a:prstDash val="solid"/>
          </a:ln>
        </p:spPr>
        <p:txBody>
          <a:bodyPr/>
          <a:lstStyle/>
          <a:p>
            <a:endParaRPr lang="en-US"/>
          </a:p>
        </p:txBody>
      </p:sp>
      <p:sp>
        <p:nvSpPr>
          <p:cNvPr id="25" name="Shape 23"/>
          <p:cNvSpPr/>
          <p:nvPr/>
        </p:nvSpPr>
        <p:spPr>
          <a:xfrm flipV="1">
            <a:off x="8028432" y="3465576"/>
            <a:ext cx="1399032" cy="566928"/>
          </a:xfrm>
          <a:prstGeom prst="line">
            <a:avLst/>
          </a:prstGeom>
          <a:noFill/>
          <a:ln w="9525">
            <a:solidFill>
              <a:srgbClr val="C9CCE6"/>
            </a:solidFill>
            <a:prstDash val="solid"/>
          </a:ln>
        </p:spPr>
        <p:txBody>
          <a:bodyPr/>
          <a:lstStyle/>
          <a:p>
            <a:endParaRPr lang="en-US"/>
          </a:p>
        </p:txBody>
      </p:sp>
      <p:sp>
        <p:nvSpPr>
          <p:cNvPr id="26" name="Shape 24"/>
          <p:cNvSpPr/>
          <p:nvPr/>
        </p:nvSpPr>
        <p:spPr>
          <a:xfrm>
            <a:off x="8028432" y="4032504"/>
            <a:ext cx="1399032" cy="0"/>
          </a:xfrm>
          <a:prstGeom prst="line">
            <a:avLst/>
          </a:prstGeom>
          <a:noFill/>
          <a:ln w="9525">
            <a:solidFill>
              <a:srgbClr val="C9CCE6"/>
            </a:solidFill>
            <a:prstDash val="solid"/>
          </a:ln>
        </p:spPr>
        <p:txBody>
          <a:bodyPr/>
          <a:lstStyle/>
          <a:p>
            <a:endParaRPr lang="en-US"/>
          </a:p>
        </p:txBody>
      </p:sp>
      <p:sp>
        <p:nvSpPr>
          <p:cNvPr id="27" name="Shape 25"/>
          <p:cNvSpPr/>
          <p:nvPr/>
        </p:nvSpPr>
        <p:spPr>
          <a:xfrm>
            <a:off x="8028432" y="4032504"/>
            <a:ext cx="1399032" cy="566928"/>
          </a:xfrm>
          <a:prstGeom prst="line">
            <a:avLst/>
          </a:prstGeom>
          <a:noFill/>
          <a:ln w="9525">
            <a:solidFill>
              <a:srgbClr val="C9CCE6"/>
            </a:solidFill>
            <a:prstDash val="solid"/>
          </a:ln>
        </p:spPr>
        <p:txBody>
          <a:bodyPr/>
          <a:lstStyle/>
          <a:p>
            <a:endParaRPr lang="en-US"/>
          </a:p>
        </p:txBody>
      </p:sp>
      <p:sp>
        <p:nvSpPr>
          <p:cNvPr id="28" name="Shape 26"/>
          <p:cNvSpPr/>
          <p:nvPr/>
        </p:nvSpPr>
        <p:spPr>
          <a:xfrm flipV="1">
            <a:off x="8028432" y="2898648"/>
            <a:ext cx="1399032" cy="1700784"/>
          </a:xfrm>
          <a:prstGeom prst="line">
            <a:avLst/>
          </a:prstGeom>
          <a:noFill/>
          <a:ln w="9525">
            <a:solidFill>
              <a:srgbClr val="C9CCE6"/>
            </a:solidFill>
            <a:prstDash val="solid"/>
          </a:ln>
        </p:spPr>
        <p:txBody>
          <a:bodyPr/>
          <a:lstStyle/>
          <a:p>
            <a:endParaRPr lang="en-US"/>
          </a:p>
        </p:txBody>
      </p:sp>
      <p:sp>
        <p:nvSpPr>
          <p:cNvPr id="29" name="Shape 27"/>
          <p:cNvSpPr/>
          <p:nvPr/>
        </p:nvSpPr>
        <p:spPr>
          <a:xfrm flipV="1">
            <a:off x="8028432" y="3465576"/>
            <a:ext cx="1399032" cy="1133856"/>
          </a:xfrm>
          <a:prstGeom prst="line">
            <a:avLst/>
          </a:prstGeom>
          <a:noFill/>
          <a:ln w="9525">
            <a:solidFill>
              <a:srgbClr val="C9CCE6"/>
            </a:solidFill>
            <a:prstDash val="solid"/>
          </a:ln>
        </p:spPr>
        <p:txBody>
          <a:bodyPr/>
          <a:lstStyle/>
          <a:p>
            <a:endParaRPr lang="en-US"/>
          </a:p>
        </p:txBody>
      </p:sp>
      <p:sp>
        <p:nvSpPr>
          <p:cNvPr id="30" name="Shape 28"/>
          <p:cNvSpPr/>
          <p:nvPr/>
        </p:nvSpPr>
        <p:spPr>
          <a:xfrm flipV="1">
            <a:off x="8028432" y="4032504"/>
            <a:ext cx="1399032" cy="566928"/>
          </a:xfrm>
          <a:prstGeom prst="line">
            <a:avLst/>
          </a:prstGeom>
          <a:noFill/>
          <a:ln w="9525">
            <a:solidFill>
              <a:srgbClr val="C9CCE6"/>
            </a:solidFill>
            <a:prstDash val="solid"/>
          </a:ln>
        </p:spPr>
        <p:txBody>
          <a:bodyPr/>
          <a:lstStyle/>
          <a:p>
            <a:endParaRPr lang="en-US"/>
          </a:p>
        </p:txBody>
      </p:sp>
      <p:sp>
        <p:nvSpPr>
          <p:cNvPr id="31" name="Shape 29"/>
          <p:cNvSpPr/>
          <p:nvPr/>
        </p:nvSpPr>
        <p:spPr>
          <a:xfrm>
            <a:off x="8028432" y="4599432"/>
            <a:ext cx="1399032" cy="0"/>
          </a:xfrm>
          <a:prstGeom prst="line">
            <a:avLst/>
          </a:prstGeom>
          <a:noFill/>
          <a:ln w="9525">
            <a:solidFill>
              <a:srgbClr val="C9CCE6"/>
            </a:solidFill>
            <a:prstDash val="solid"/>
          </a:ln>
        </p:spPr>
        <p:txBody>
          <a:bodyPr/>
          <a:lstStyle/>
          <a:p>
            <a:endParaRPr lang="en-US"/>
          </a:p>
        </p:txBody>
      </p:sp>
      <p:sp>
        <p:nvSpPr>
          <p:cNvPr id="32" name="Shape 30"/>
          <p:cNvSpPr/>
          <p:nvPr/>
        </p:nvSpPr>
        <p:spPr>
          <a:xfrm>
            <a:off x="9427464" y="2898648"/>
            <a:ext cx="1399032" cy="377952"/>
          </a:xfrm>
          <a:prstGeom prst="line">
            <a:avLst/>
          </a:prstGeom>
          <a:noFill/>
          <a:ln w="9525">
            <a:solidFill>
              <a:srgbClr val="C9CCE6"/>
            </a:solidFill>
            <a:prstDash val="solid"/>
          </a:ln>
        </p:spPr>
        <p:txBody>
          <a:bodyPr/>
          <a:lstStyle/>
          <a:p>
            <a:endParaRPr lang="en-US"/>
          </a:p>
        </p:txBody>
      </p:sp>
      <p:sp>
        <p:nvSpPr>
          <p:cNvPr id="33" name="Shape 31"/>
          <p:cNvSpPr/>
          <p:nvPr/>
        </p:nvSpPr>
        <p:spPr>
          <a:xfrm>
            <a:off x="9427464" y="2898648"/>
            <a:ext cx="1399032" cy="1322832"/>
          </a:xfrm>
          <a:prstGeom prst="line">
            <a:avLst/>
          </a:prstGeom>
          <a:noFill/>
          <a:ln w="9525">
            <a:solidFill>
              <a:srgbClr val="C9CCE6"/>
            </a:solidFill>
            <a:prstDash val="solid"/>
          </a:ln>
        </p:spPr>
        <p:txBody>
          <a:bodyPr/>
          <a:lstStyle/>
          <a:p>
            <a:endParaRPr lang="en-US"/>
          </a:p>
        </p:txBody>
      </p:sp>
      <p:sp>
        <p:nvSpPr>
          <p:cNvPr id="34" name="Shape 32"/>
          <p:cNvSpPr/>
          <p:nvPr/>
        </p:nvSpPr>
        <p:spPr>
          <a:xfrm flipV="1">
            <a:off x="9427464" y="3276600"/>
            <a:ext cx="1399032" cy="188976"/>
          </a:xfrm>
          <a:prstGeom prst="line">
            <a:avLst/>
          </a:prstGeom>
          <a:noFill/>
          <a:ln w="9525">
            <a:solidFill>
              <a:srgbClr val="C9CCE6"/>
            </a:solidFill>
            <a:prstDash val="solid"/>
          </a:ln>
        </p:spPr>
        <p:txBody>
          <a:bodyPr/>
          <a:lstStyle/>
          <a:p>
            <a:endParaRPr lang="en-US"/>
          </a:p>
        </p:txBody>
      </p:sp>
      <p:sp>
        <p:nvSpPr>
          <p:cNvPr id="35" name="Shape 33"/>
          <p:cNvSpPr/>
          <p:nvPr/>
        </p:nvSpPr>
        <p:spPr>
          <a:xfrm>
            <a:off x="9427464" y="3465576"/>
            <a:ext cx="1399032" cy="755904"/>
          </a:xfrm>
          <a:prstGeom prst="line">
            <a:avLst/>
          </a:prstGeom>
          <a:noFill/>
          <a:ln w="9525">
            <a:solidFill>
              <a:srgbClr val="C9CCE6"/>
            </a:solidFill>
            <a:prstDash val="solid"/>
          </a:ln>
        </p:spPr>
        <p:txBody>
          <a:bodyPr/>
          <a:lstStyle/>
          <a:p>
            <a:endParaRPr lang="en-US"/>
          </a:p>
        </p:txBody>
      </p:sp>
      <p:sp>
        <p:nvSpPr>
          <p:cNvPr id="36" name="Shape 34"/>
          <p:cNvSpPr/>
          <p:nvPr/>
        </p:nvSpPr>
        <p:spPr>
          <a:xfrm flipV="1">
            <a:off x="9427464" y="3276600"/>
            <a:ext cx="1399032" cy="755904"/>
          </a:xfrm>
          <a:prstGeom prst="line">
            <a:avLst/>
          </a:prstGeom>
          <a:noFill/>
          <a:ln w="9525">
            <a:solidFill>
              <a:srgbClr val="C9CCE6"/>
            </a:solidFill>
            <a:prstDash val="solid"/>
          </a:ln>
        </p:spPr>
        <p:txBody>
          <a:bodyPr/>
          <a:lstStyle/>
          <a:p>
            <a:endParaRPr lang="en-US"/>
          </a:p>
        </p:txBody>
      </p:sp>
      <p:sp>
        <p:nvSpPr>
          <p:cNvPr id="37" name="Shape 35"/>
          <p:cNvSpPr/>
          <p:nvPr/>
        </p:nvSpPr>
        <p:spPr>
          <a:xfrm>
            <a:off x="9427464" y="4032504"/>
            <a:ext cx="1399032" cy="188976"/>
          </a:xfrm>
          <a:prstGeom prst="line">
            <a:avLst/>
          </a:prstGeom>
          <a:noFill/>
          <a:ln w="9525">
            <a:solidFill>
              <a:srgbClr val="C9CCE6"/>
            </a:solidFill>
            <a:prstDash val="solid"/>
          </a:ln>
        </p:spPr>
        <p:txBody>
          <a:bodyPr/>
          <a:lstStyle/>
          <a:p>
            <a:endParaRPr lang="en-US"/>
          </a:p>
        </p:txBody>
      </p:sp>
      <p:sp>
        <p:nvSpPr>
          <p:cNvPr id="38" name="Shape 36"/>
          <p:cNvSpPr/>
          <p:nvPr/>
        </p:nvSpPr>
        <p:spPr>
          <a:xfrm flipV="1">
            <a:off x="9427464" y="3276600"/>
            <a:ext cx="1399032" cy="1322832"/>
          </a:xfrm>
          <a:prstGeom prst="line">
            <a:avLst/>
          </a:prstGeom>
          <a:noFill/>
          <a:ln w="9525">
            <a:solidFill>
              <a:srgbClr val="C9CCE6"/>
            </a:solidFill>
            <a:prstDash val="solid"/>
          </a:ln>
        </p:spPr>
        <p:txBody>
          <a:bodyPr/>
          <a:lstStyle/>
          <a:p>
            <a:endParaRPr lang="en-US"/>
          </a:p>
        </p:txBody>
      </p:sp>
      <p:sp>
        <p:nvSpPr>
          <p:cNvPr id="39" name="Shape 37"/>
          <p:cNvSpPr/>
          <p:nvPr/>
        </p:nvSpPr>
        <p:spPr>
          <a:xfrm flipV="1">
            <a:off x="9427464" y="4221480"/>
            <a:ext cx="1399032" cy="377952"/>
          </a:xfrm>
          <a:prstGeom prst="line">
            <a:avLst/>
          </a:prstGeom>
          <a:noFill/>
          <a:ln w="9525">
            <a:solidFill>
              <a:srgbClr val="C9CCE6"/>
            </a:solidFill>
            <a:prstDash val="solid"/>
          </a:ln>
        </p:spPr>
        <p:txBody>
          <a:bodyPr/>
          <a:lstStyle/>
          <a:p>
            <a:endParaRPr lang="en-US"/>
          </a:p>
        </p:txBody>
      </p:sp>
      <p:sp>
        <p:nvSpPr>
          <p:cNvPr id="40" name="Shape 38"/>
          <p:cNvSpPr/>
          <p:nvPr/>
        </p:nvSpPr>
        <p:spPr>
          <a:xfrm>
            <a:off x="6437376" y="2848356"/>
            <a:ext cx="384048" cy="384048"/>
          </a:xfrm>
          <a:prstGeom prst="ellipse">
            <a:avLst/>
          </a:prstGeom>
          <a:solidFill>
            <a:srgbClr val="2A2D7C"/>
          </a:solidFill>
          <a:ln w="19050">
            <a:solidFill>
              <a:srgbClr val="FFFFFF"/>
            </a:solidFill>
            <a:prstDash val="solid"/>
          </a:ln>
        </p:spPr>
        <p:txBody>
          <a:bodyPr/>
          <a:lstStyle/>
          <a:p>
            <a:endParaRPr lang="en-US"/>
          </a:p>
        </p:txBody>
      </p:sp>
      <p:sp>
        <p:nvSpPr>
          <p:cNvPr id="41" name="Shape 39"/>
          <p:cNvSpPr/>
          <p:nvPr/>
        </p:nvSpPr>
        <p:spPr>
          <a:xfrm>
            <a:off x="6437376" y="3557016"/>
            <a:ext cx="384048" cy="384048"/>
          </a:xfrm>
          <a:prstGeom prst="ellipse">
            <a:avLst/>
          </a:prstGeom>
          <a:solidFill>
            <a:srgbClr val="2A2D7C"/>
          </a:solidFill>
          <a:ln w="19050">
            <a:solidFill>
              <a:srgbClr val="FFFFFF"/>
            </a:solidFill>
            <a:prstDash val="solid"/>
          </a:ln>
        </p:spPr>
        <p:txBody>
          <a:bodyPr/>
          <a:lstStyle/>
          <a:p>
            <a:endParaRPr lang="en-US"/>
          </a:p>
        </p:txBody>
      </p:sp>
      <p:sp>
        <p:nvSpPr>
          <p:cNvPr id="42" name="Shape 40"/>
          <p:cNvSpPr/>
          <p:nvPr/>
        </p:nvSpPr>
        <p:spPr>
          <a:xfrm>
            <a:off x="6437376" y="4265676"/>
            <a:ext cx="384048" cy="384048"/>
          </a:xfrm>
          <a:prstGeom prst="ellipse">
            <a:avLst/>
          </a:prstGeom>
          <a:solidFill>
            <a:srgbClr val="2A2D7C"/>
          </a:solidFill>
          <a:ln w="19050">
            <a:solidFill>
              <a:srgbClr val="FFFFFF"/>
            </a:solidFill>
            <a:prstDash val="solid"/>
          </a:ln>
        </p:spPr>
        <p:txBody>
          <a:bodyPr/>
          <a:lstStyle/>
          <a:p>
            <a:endParaRPr lang="en-US"/>
          </a:p>
        </p:txBody>
      </p:sp>
      <p:sp>
        <p:nvSpPr>
          <p:cNvPr id="43" name="Shape 41"/>
          <p:cNvSpPr/>
          <p:nvPr/>
        </p:nvSpPr>
        <p:spPr>
          <a:xfrm>
            <a:off x="7836408" y="2706624"/>
            <a:ext cx="384048" cy="384048"/>
          </a:xfrm>
          <a:prstGeom prst="ellipse">
            <a:avLst/>
          </a:prstGeom>
          <a:solidFill>
            <a:srgbClr val="5B5FBF"/>
          </a:solidFill>
          <a:ln w="19050">
            <a:solidFill>
              <a:srgbClr val="FFFFFF"/>
            </a:solidFill>
            <a:prstDash val="solid"/>
          </a:ln>
        </p:spPr>
        <p:txBody>
          <a:bodyPr/>
          <a:lstStyle/>
          <a:p>
            <a:endParaRPr lang="en-US"/>
          </a:p>
        </p:txBody>
      </p:sp>
      <p:sp>
        <p:nvSpPr>
          <p:cNvPr id="44" name="Shape 42"/>
          <p:cNvSpPr/>
          <p:nvPr/>
        </p:nvSpPr>
        <p:spPr>
          <a:xfrm>
            <a:off x="7836408" y="3273552"/>
            <a:ext cx="384048" cy="384048"/>
          </a:xfrm>
          <a:prstGeom prst="ellipse">
            <a:avLst/>
          </a:prstGeom>
          <a:solidFill>
            <a:srgbClr val="5B5FBF"/>
          </a:solidFill>
          <a:ln w="19050">
            <a:solidFill>
              <a:srgbClr val="FFFFFF"/>
            </a:solidFill>
            <a:prstDash val="solid"/>
          </a:ln>
        </p:spPr>
        <p:txBody>
          <a:bodyPr/>
          <a:lstStyle/>
          <a:p>
            <a:endParaRPr lang="en-US"/>
          </a:p>
        </p:txBody>
      </p:sp>
      <p:sp>
        <p:nvSpPr>
          <p:cNvPr id="45" name="Shape 43"/>
          <p:cNvSpPr/>
          <p:nvPr/>
        </p:nvSpPr>
        <p:spPr>
          <a:xfrm>
            <a:off x="7836408" y="3840480"/>
            <a:ext cx="384048" cy="384048"/>
          </a:xfrm>
          <a:prstGeom prst="ellipse">
            <a:avLst/>
          </a:prstGeom>
          <a:solidFill>
            <a:srgbClr val="5B5FBF"/>
          </a:solidFill>
          <a:ln w="19050">
            <a:solidFill>
              <a:srgbClr val="FFFFFF"/>
            </a:solidFill>
            <a:prstDash val="solid"/>
          </a:ln>
        </p:spPr>
        <p:txBody>
          <a:bodyPr/>
          <a:lstStyle/>
          <a:p>
            <a:endParaRPr lang="en-US"/>
          </a:p>
        </p:txBody>
      </p:sp>
      <p:sp>
        <p:nvSpPr>
          <p:cNvPr id="46" name="Shape 44"/>
          <p:cNvSpPr/>
          <p:nvPr/>
        </p:nvSpPr>
        <p:spPr>
          <a:xfrm>
            <a:off x="7836408" y="4407408"/>
            <a:ext cx="384048" cy="384048"/>
          </a:xfrm>
          <a:prstGeom prst="ellipse">
            <a:avLst/>
          </a:prstGeom>
          <a:solidFill>
            <a:srgbClr val="5B5FBF"/>
          </a:solidFill>
          <a:ln w="19050">
            <a:solidFill>
              <a:srgbClr val="FFFFFF"/>
            </a:solidFill>
            <a:prstDash val="solid"/>
          </a:ln>
        </p:spPr>
        <p:txBody>
          <a:bodyPr/>
          <a:lstStyle/>
          <a:p>
            <a:endParaRPr lang="en-US"/>
          </a:p>
        </p:txBody>
      </p:sp>
      <p:sp>
        <p:nvSpPr>
          <p:cNvPr id="47" name="Shape 45"/>
          <p:cNvSpPr/>
          <p:nvPr/>
        </p:nvSpPr>
        <p:spPr>
          <a:xfrm>
            <a:off x="9235440" y="2706624"/>
            <a:ext cx="384048" cy="384048"/>
          </a:xfrm>
          <a:prstGeom prst="ellipse">
            <a:avLst/>
          </a:prstGeom>
          <a:solidFill>
            <a:srgbClr val="5B5FBF"/>
          </a:solidFill>
          <a:ln w="19050">
            <a:solidFill>
              <a:srgbClr val="FFFFFF"/>
            </a:solidFill>
            <a:prstDash val="solid"/>
          </a:ln>
        </p:spPr>
        <p:txBody>
          <a:bodyPr/>
          <a:lstStyle/>
          <a:p>
            <a:endParaRPr lang="en-US"/>
          </a:p>
        </p:txBody>
      </p:sp>
      <p:sp>
        <p:nvSpPr>
          <p:cNvPr id="48" name="Shape 46"/>
          <p:cNvSpPr/>
          <p:nvPr/>
        </p:nvSpPr>
        <p:spPr>
          <a:xfrm>
            <a:off x="9235440" y="3273552"/>
            <a:ext cx="384048" cy="384048"/>
          </a:xfrm>
          <a:prstGeom prst="ellipse">
            <a:avLst/>
          </a:prstGeom>
          <a:solidFill>
            <a:srgbClr val="5B5FBF"/>
          </a:solidFill>
          <a:ln w="19050">
            <a:solidFill>
              <a:srgbClr val="FFFFFF"/>
            </a:solidFill>
            <a:prstDash val="solid"/>
          </a:ln>
        </p:spPr>
        <p:txBody>
          <a:bodyPr/>
          <a:lstStyle/>
          <a:p>
            <a:endParaRPr lang="en-US"/>
          </a:p>
        </p:txBody>
      </p:sp>
      <p:sp>
        <p:nvSpPr>
          <p:cNvPr id="49" name="Shape 47"/>
          <p:cNvSpPr/>
          <p:nvPr/>
        </p:nvSpPr>
        <p:spPr>
          <a:xfrm>
            <a:off x="9235440" y="3840480"/>
            <a:ext cx="384048" cy="384048"/>
          </a:xfrm>
          <a:prstGeom prst="ellipse">
            <a:avLst/>
          </a:prstGeom>
          <a:solidFill>
            <a:srgbClr val="5B5FBF"/>
          </a:solidFill>
          <a:ln w="19050">
            <a:solidFill>
              <a:srgbClr val="FFFFFF"/>
            </a:solidFill>
            <a:prstDash val="solid"/>
          </a:ln>
        </p:spPr>
        <p:txBody>
          <a:bodyPr/>
          <a:lstStyle/>
          <a:p>
            <a:endParaRPr lang="en-US"/>
          </a:p>
        </p:txBody>
      </p:sp>
      <p:sp>
        <p:nvSpPr>
          <p:cNvPr id="50" name="Shape 48"/>
          <p:cNvSpPr/>
          <p:nvPr/>
        </p:nvSpPr>
        <p:spPr>
          <a:xfrm>
            <a:off x="9235440" y="4407408"/>
            <a:ext cx="384048" cy="384048"/>
          </a:xfrm>
          <a:prstGeom prst="ellipse">
            <a:avLst/>
          </a:prstGeom>
          <a:solidFill>
            <a:srgbClr val="5B5FBF"/>
          </a:solidFill>
          <a:ln w="19050">
            <a:solidFill>
              <a:srgbClr val="FFFFFF"/>
            </a:solidFill>
            <a:prstDash val="solid"/>
          </a:ln>
        </p:spPr>
        <p:txBody>
          <a:bodyPr/>
          <a:lstStyle/>
          <a:p>
            <a:endParaRPr lang="en-US"/>
          </a:p>
        </p:txBody>
      </p:sp>
      <p:sp>
        <p:nvSpPr>
          <p:cNvPr id="51" name="Shape 49"/>
          <p:cNvSpPr/>
          <p:nvPr/>
        </p:nvSpPr>
        <p:spPr>
          <a:xfrm>
            <a:off x="10634472" y="3084576"/>
            <a:ext cx="384048" cy="384048"/>
          </a:xfrm>
          <a:prstGeom prst="ellipse">
            <a:avLst/>
          </a:prstGeom>
          <a:solidFill>
            <a:srgbClr val="00A6A6"/>
          </a:solidFill>
          <a:ln w="19050">
            <a:solidFill>
              <a:srgbClr val="FFFFFF"/>
            </a:solidFill>
            <a:prstDash val="solid"/>
          </a:ln>
        </p:spPr>
        <p:txBody>
          <a:bodyPr/>
          <a:lstStyle/>
          <a:p>
            <a:endParaRPr lang="en-US"/>
          </a:p>
        </p:txBody>
      </p:sp>
      <p:sp>
        <p:nvSpPr>
          <p:cNvPr id="52" name="Shape 50"/>
          <p:cNvSpPr/>
          <p:nvPr/>
        </p:nvSpPr>
        <p:spPr>
          <a:xfrm>
            <a:off x="10634472" y="4029456"/>
            <a:ext cx="384048" cy="384048"/>
          </a:xfrm>
          <a:prstGeom prst="ellipse">
            <a:avLst/>
          </a:prstGeom>
          <a:solidFill>
            <a:srgbClr val="00A6A6"/>
          </a:solidFill>
          <a:ln w="19050">
            <a:solidFill>
              <a:srgbClr val="FFFFFF"/>
            </a:solidFill>
            <a:prstDash val="solid"/>
          </a:ln>
        </p:spPr>
        <p:txBody>
          <a:bodyPr/>
          <a:lstStyle/>
          <a:p>
            <a:endParaRPr lang="en-US"/>
          </a:p>
        </p:txBody>
      </p:sp>
      <p:sp>
        <p:nvSpPr>
          <p:cNvPr id="53" name="Text 51"/>
          <p:cNvSpPr/>
          <p:nvPr/>
        </p:nvSpPr>
        <p:spPr>
          <a:xfrm>
            <a:off x="5989320" y="5349240"/>
            <a:ext cx="1280160" cy="274320"/>
          </a:xfrm>
          <a:prstGeom prst="rect">
            <a:avLst/>
          </a:prstGeom>
          <a:noFill/>
          <a:ln/>
        </p:spPr>
        <p:txBody>
          <a:bodyPr wrap="square" lIns="0" tIns="0" rIns="0" bIns="0" rtlCol="0" anchor="ctr"/>
          <a:lstStyle/>
          <a:p>
            <a:pPr marL="0" indent="0" algn="ctr">
              <a:buNone/>
            </a:pPr>
            <a:r>
              <a:rPr lang="en-US" sz="1100" b="1" dirty="0">
                <a:solidFill>
                  <a:srgbClr val="5A5F73"/>
                </a:solidFill>
                <a:latin typeface="Arial" pitchFamily="34" charset="0"/>
                <a:ea typeface="Arial" pitchFamily="34" charset="-122"/>
                <a:cs typeface="Arial" pitchFamily="34" charset="-120"/>
              </a:rPr>
              <a:t>Input</a:t>
            </a:r>
            <a:endParaRPr lang="en-US" sz="1100" dirty="0"/>
          </a:p>
        </p:txBody>
      </p:sp>
      <p:sp>
        <p:nvSpPr>
          <p:cNvPr id="54" name="Text 52"/>
          <p:cNvSpPr/>
          <p:nvPr/>
        </p:nvSpPr>
        <p:spPr>
          <a:xfrm>
            <a:off x="7388352" y="5349240"/>
            <a:ext cx="1280160" cy="274320"/>
          </a:xfrm>
          <a:prstGeom prst="rect">
            <a:avLst/>
          </a:prstGeom>
          <a:noFill/>
          <a:ln/>
        </p:spPr>
        <p:txBody>
          <a:bodyPr wrap="square" lIns="0" tIns="0" rIns="0" bIns="0" rtlCol="0" anchor="ctr"/>
          <a:lstStyle/>
          <a:p>
            <a:pPr marL="0" indent="0" algn="ctr">
              <a:buNone/>
            </a:pPr>
            <a:r>
              <a:rPr lang="en-US" sz="1100" b="1" dirty="0">
                <a:solidFill>
                  <a:srgbClr val="5A5F73"/>
                </a:solidFill>
                <a:latin typeface="Arial" pitchFamily="34" charset="0"/>
                <a:ea typeface="Arial" pitchFamily="34" charset="-122"/>
                <a:cs typeface="Arial" pitchFamily="34" charset="-120"/>
              </a:rPr>
              <a:t>Hidden</a:t>
            </a:r>
            <a:endParaRPr lang="en-US" sz="1100" dirty="0"/>
          </a:p>
        </p:txBody>
      </p:sp>
      <p:sp>
        <p:nvSpPr>
          <p:cNvPr id="55" name="Text 53"/>
          <p:cNvSpPr/>
          <p:nvPr/>
        </p:nvSpPr>
        <p:spPr>
          <a:xfrm>
            <a:off x="8787384" y="5349240"/>
            <a:ext cx="1280160" cy="274320"/>
          </a:xfrm>
          <a:prstGeom prst="rect">
            <a:avLst/>
          </a:prstGeom>
          <a:noFill/>
          <a:ln/>
        </p:spPr>
        <p:txBody>
          <a:bodyPr wrap="square" lIns="0" tIns="0" rIns="0" bIns="0" rtlCol="0" anchor="ctr"/>
          <a:lstStyle/>
          <a:p>
            <a:pPr marL="0" indent="0" algn="ctr">
              <a:buNone/>
            </a:pPr>
            <a:r>
              <a:rPr lang="en-US" sz="1100" b="1" dirty="0">
                <a:solidFill>
                  <a:srgbClr val="5A5F73"/>
                </a:solidFill>
                <a:latin typeface="Arial" pitchFamily="34" charset="0"/>
                <a:ea typeface="Arial" pitchFamily="34" charset="-122"/>
                <a:cs typeface="Arial" pitchFamily="34" charset="-120"/>
              </a:rPr>
              <a:t>Hidden</a:t>
            </a:r>
            <a:endParaRPr lang="en-US" sz="1100" dirty="0"/>
          </a:p>
        </p:txBody>
      </p:sp>
      <p:sp>
        <p:nvSpPr>
          <p:cNvPr id="56" name="Text 54"/>
          <p:cNvSpPr/>
          <p:nvPr/>
        </p:nvSpPr>
        <p:spPr>
          <a:xfrm>
            <a:off x="10186416" y="5349240"/>
            <a:ext cx="1280160" cy="274320"/>
          </a:xfrm>
          <a:prstGeom prst="rect">
            <a:avLst/>
          </a:prstGeom>
          <a:noFill/>
          <a:ln/>
        </p:spPr>
        <p:txBody>
          <a:bodyPr wrap="square" lIns="0" tIns="0" rIns="0" bIns="0" rtlCol="0" anchor="ctr"/>
          <a:lstStyle/>
          <a:p>
            <a:pPr marL="0" indent="0" algn="ctr">
              <a:buNone/>
            </a:pPr>
            <a:r>
              <a:rPr lang="en-US" sz="1100" b="1" dirty="0">
                <a:solidFill>
                  <a:srgbClr val="5A5F73"/>
                </a:solidFill>
                <a:latin typeface="Arial" pitchFamily="34" charset="0"/>
                <a:ea typeface="Arial" pitchFamily="34" charset="-122"/>
                <a:cs typeface="Arial" pitchFamily="34" charset="-120"/>
              </a:rPr>
              <a:t>Output</a:t>
            </a:r>
            <a:endParaRPr lang="en-US" sz="1100" dirty="0"/>
          </a:p>
        </p:txBody>
      </p:sp>
      <p:sp>
        <p:nvSpPr>
          <p:cNvPr id="57" name="Text 55"/>
          <p:cNvSpPr/>
          <p:nvPr/>
        </p:nvSpPr>
        <p:spPr>
          <a:xfrm>
            <a:off x="6309360" y="5715000"/>
            <a:ext cx="5349240" cy="640080"/>
          </a:xfrm>
          <a:prstGeom prst="rect">
            <a:avLst/>
          </a:prstGeom>
          <a:noFill/>
          <a:ln/>
        </p:spPr>
        <p:txBody>
          <a:bodyPr wrap="square" lIns="0" tIns="0" rIns="0" bIns="0" rtlCol="0" anchor="ctr"/>
          <a:lstStyle/>
          <a:p>
            <a:pPr marL="0" indent="0" algn="ctr">
              <a:buNone/>
            </a:pPr>
            <a:r>
              <a:rPr lang="en-US" sz="1100" i="1" dirty="0">
                <a:solidFill>
                  <a:srgbClr val="5A5F73"/>
                </a:solidFill>
                <a:latin typeface="Calibri" pitchFamily="34" charset="0"/>
                <a:ea typeface="Calibri" pitchFamily="34" charset="-122"/>
                <a:cs typeface="Calibri" pitchFamily="34" charset="-120"/>
              </a:rPr>
              <a:t>Raw pixels, text or signal in → a prediction out. Every arrow is a weight the network tunes during training.</a:t>
            </a:r>
            <a:endParaRPr lang="en-US" sz="1100" dirty="0"/>
          </a:p>
        </p:txBody>
      </p:sp>
      <p:sp>
        <p:nvSpPr>
          <p:cNvPr id="58" name="Shape 56"/>
          <p:cNvSpPr/>
          <p:nvPr/>
        </p:nvSpPr>
        <p:spPr>
          <a:xfrm>
            <a:off x="548640" y="1691640"/>
            <a:ext cx="384048" cy="384048"/>
          </a:xfrm>
          <a:prstGeom prst="roundRect">
            <a:avLst>
              <a:gd name="adj" fmla="val 23810"/>
            </a:avLst>
          </a:prstGeom>
          <a:solidFill>
            <a:srgbClr val="2A2D7C"/>
          </a:solidFill>
          <a:ln w="12700">
            <a:solidFill>
              <a:srgbClr val="2A2D7C"/>
            </a:solidFill>
            <a:prstDash val="solid"/>
          </a:ln>
        </p:spPr>
        <p:txBody>
          <a:bodyPr/>
          <a:lstStyle/>
          <a:p>
            <a:endParaRPr lang="en-US"/>
          </a:p>
        </p:txBody>
      </p:sp>
      <p:sp>
        <p:nvSpPr>
          <p:cNvPr id="59" name="Text 57"/>
          <p:cNvSpPr/>
          <p:nvPr/>
        </p:nvSpPr>
        <p:spPr>
          <a:xfrm>
            <a:off x="548640" y="169164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0" name="Text 58"/>
          <p:cNvSpPr/>
          <p:nvPr/>
        </p:nvSpPr>
        <p:spPr>
          <a:xfrm>
            <a:off x="1097280" y="1645920"/>
            <a:ext cx="484632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Learns features itself</a:t>
            </a:r>
            <a:endParaRPr lang="en-US" sz="1450" dirty="0"/>
          </a:p>
        </p:txBody>
      </p:sp>
      <p:sp>
        <p:nvSpPr>
          <p:cNvPr id="61" name="Text 59"/>
          <p:cNvSpPr/>
          <p:nvPr/>
        </p:nvSpPr>
        <p:spPr>
          <a:xfrm>
            <a:off x="1097280" y="1956816"/>
            <a:ext cx="4846320" cy="7772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Classical ML needs an expert to hand-craft inputs. A deep network discovers edges, shapes, then faces on its own.</a:t>
            </a:r>
            <a:endParaRPr lang="en-US" sz="1150" dirty="0"/>
          </a:p>
        </p:txBody>
      </p:sp>
      <p:sp>
        <p:nvSpPr>
          <p:cNvPr id="62" name="Shape 60"/>
          <p:cNvSpPr/>
          <p:nvPr/>
        </p:nvSpPr>
        <p:spPr>
          <a:xfrm>
            <a:off x="548640" y="2862072"/>
            <a:ext cx="384048" cy="384048"/>
          </a:xfrm>
          <a:prstGeom prst="roundRect">
            <a:avLst>
              <a:gd name="adj" fmla="val 23810"/>
            </a:avLst>
          </a:prstGeom>
          <a:solidFill>
            <a:srgbClr val="2A2D7C"/>
          </a:solidFill>
          <a:ln w="12700">
            <a:solidFill>
              <a:srgbClr val="2A2D7C"/>
            </a:solidFill>
            <a:prstDash val="solid"/>
          </a:ln>
        </p:spPr>
        <p:txBody>
          <a:bodyPr/>
          <a:lstStyle/>
          <a:p>
            <a:endParaRPr lang="en-US"/>
          </a:p>
        </p:txBody>
      </p:sp>
      <p:sp>
        <p:nvSpPr>
          <p:cNvPr id="63" name="Text 61"/>
          <p:cNvSpPr/>
          <p:nvPr/>
        </p:nvSpPr>
        <p:spPr>
          <a:xfrm>
            <a:off x="548640" y="28620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64" name="Text 62"/>
          <p:cNvSpPr/>
          <p:nvPr/>
        </p:nvSpPr>
        <p:spPr>
          <a:xfrm>
            <a:off x="1097280" y="2816352"/>
            <a:ext cx="484632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Depth is the point</a:t>
            </a:r>
            <a:endParaRPr lang="en-US" sz="1450" dirty="0"/>
          </a:p>
        </p:txBody>
      </p:sp>
      <p:sp>
        <p:nvSpPr>
          <p:cNvPr id="65" name="Text 63"/>
          <p:cNvSpPr/>
          <p:nvPr/>
        </p:nvSpPr>
        <p:spPr>
          <a:xfrm>
            <a:off x="1097280" y="3127248"/>
            <a:ext cx="4846320" cy="7772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Each layer builds a more abstract representation than the one below it. More layers, richer abstractions.</a:t>
            </a:r>
            <a:endParaRPr lang="en-US" sz="1150" dirty="0"/>
          </a:p>
        </p:txBody>
      </p:sp>
      <p:sp>
        <p:nvSpPr>
          <p:cNvPr id="66" name="Shape 64"/>
          <p:cNvSpPr/>
          <p:nvPr/>
        </p:nvSpPr>
        <p:spPr>
          <a:xfrm>
            <a:off x="548640" y="4032504"/>
            <a:ext cx="384048" cy="384048"/>
          </a:xfrm>
          <a:prstGeom prst="roundRect">
            <a:avLst>
              <a:gd name="adj" fmla="val 23810"/>
            </a:avLst>
          </a:prstGeom>
          <a:solidFill>
            <a:srgbClr val="2A2D7C"/>
          </a:solidFill>
          <a:ln w="12700">
            <a:solidFill>
              <a:srgbClr val="2A2D7C"/>
            </a:solidFill>
            <a:prstDash val="solid"/>
          </a:ln>
        </p:spPr>
        <p:txBody>
          <a:bodyPr/>
          <a:lstStyle/>
          <a:p>
            <a:endParaRPr lang="en-US"/>
          </a:p>
        </p:txBody>
      </p:sp>
      <p:sp>
        <p:nvSpPr>
          <p:cNvPr id="67" name="Text 65"/>
          <p:cNvSpPr/>
          <p:nvPr/>
        </p:nvSpPr>
        <p:spPr>
          <a:xfrm>
            <a:off x="548640" y="40325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68" name="Text 66"/>
          <p:cNvSpPr/>
          <p:nvPr/>
        </p:nvSpPr>
        <p:spPr>
          <a:xfrm>
            <a:off x="1097280" y="3986784"/>
            <a:ext cx="484632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Needs scale</a:t>
            </a:r>
            <a:endParaRPr lang="en-US" sz="1450" dirty="0"/>
          </a:p>
        </p:txBody>
      </p:sp>
      <p:sp>
        <p:nvSpPr>
          <p:cNvPr id="69" name="Text 67"/>
          <p:cNvSpPr/>
          <p:nvPr/>
        </p:nvSpPr>
        <p:spPr>
          <a:xfrm>
            <a:off x="1097280" y="4297680"/>
            <a:ext cx="4846320" cy="7772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Millions of examples and GPU compute. That is why it arrived only after 2012.</a:t>
            </a:r>
            <a:endParaRPr lang="en-US" sz="1150" dirty="0"/>
          </a:p>
        </p:txBody>
      </p:sp>
      <p:sp>
        <p:nvSpPr>
          <p:cNvPr id="70" name="Shape 68"/>
          <p:cNvSpPr/>
          <p:nvPr/>
        </p:nvSpPr>
        <p:spPr>
          <a:xfrm>
            <a:off x="548640" y="5202936"/>
            <a:ext cx="384048" cy="384048"/>
          </a:xfrm>
          <a:prstGeom prst="roundRect">
            <a:avLst>
              <a:gd name="adj" fmla="val 23810"/>
            </a:avLst>
          </a:prstGeom>
          <a:solidFill>
            <a:srgbClr val="2A2D7C"/>
          </a:solidFill>
          <a:ln w="12700">
            <a:solidFill>
              <a:srgbClr val="2A2D7C"/>
            </a:solidFill>
            <a:prstDash val="solid"/>
          </a:ln>
        </p:spPr>
        <p:txBody>
          <a:bodyPr/>
          <a:lstStyle/>
          <a:p>
            <a:endParaRPr lang="en-US"/>
          </a:p>
        </p:txBody>
      </p:sp>
      <p:sp>
        <p:nvSpPr>
          <p:cNvPr id="71" name="Text 69"/>
          <p:cNvSpPr/>
          <p:nvPr/>
        </p:nvSpPr>
        <p:spPr>
          <a:xfrm>
            <a:off x="548640" y="52029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72" name="Text 70"/>
          <p:cNvSpPr/>
          <p:nvPr/>
        </p:nvSpPr>
        <p:spPr>
          <a:xfrm>
            <a:off x="1097280" y="5157216"/>
            <a:ext cx="4846320" cy="292608"/>
          </a:xfrm>
          <a:prstGeom prst="rect">
            <a:avLst/>
          </a:prstGeom>
          <a:noFill/>
          <a:ln/>
        </p:spPr>
        <p:txBody>
          <a:bodyPr wrap="square" lIns="0" tIns="0" rIns="0" bIns="0" rtlCol="0" anchor="ctr"/>
          <a:lstStyle/>
          <a:p>
            <a:pPr marL="0" indent="0">
              <a:buNone/>
            </a:pPr>
            <a:r>
              <a:rPr lang="en-US" sz="1450" b="1" dirty="0">
                <a:solidFill>
                  <a:srgbClr val="101034"/>
                </a:solidFill>
                <a:latin typeface="Arial" pitchFamily="34" charset="0"/>
                <a:ea typeface="Arial" pitchFamily="34" charset="-122"/>
                <a:cs typeface="Arial" pitchFamily="34" charset="-120"/>
              </a:rPr>
              <a:t>Powers everything modern</a:t>
            </a:r>
            <a:endParaRPr lang="en-US" sz="1450" dirty="0"/>
          </a:p>
        </p:txBody>
      </p:sp>
      <p:sp>
        <p:nvSpPr>
          <p:cNvPr id="73" name="Text 71"/>
          <p:cNvSpPr/>
          <p:nvPr/>
        </p:nvSpPr>
        <p:spPr>
          <a:xfrm>
            <a:off x="1097280" y="5468112"/>
            <a:ext cx="4846320" cy="77724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Vision, speech, translation and every generative model you have used.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Why deep learning took over</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Classical models plateau as data grows; deep networks keep improving</a:t>
            </a:r>
            <a:endParaRPr lang="en-US" sz="1400" dirty="0"/>
          </a:p>
        </p:txBody>
      </p:sp>
      <p:graphicFrame>
        <p:nvGraphicFramePr>
          <p:cNvPr id="4" name="Chart 0"/>
          <p:cNvGraphicFramePr/>
          <p:nvPr/>
        </p:nvGraphicFramePr>
        <p:xfrm>
          <a:off x="548640" y="1691640"/>
          <a:ext cx="68580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5897880"/>
            <a:ext cx="6858000" cy="274320"/>
          </a:xfrm>
          <a:prstGeom prst="rect">
            <a:avLst/>
          </a:prstGeom>
          <a:noFill/>
          <a:ln/>
        </p:spPr>
        <p:txBody>
          <a:bodyPr wrap="square" lIns="0" tIns="0" rIns="0" bIns="0" rtlCol="0" anchor="ctr"/>
          <a:lstStyle/>
          <a:p>
            <a:pPr marL="0" indent="0">
              <a:buNone/>
            </a:pPr>
            <a:r>
              <a:rPr lang="en-US" sz="950" i="1" dirty="0">
                <a:solidFill>
                  <a:srgbClr val="9098AC"/>
                </a:solidFill>
                <a:latin typeface="Calibri" pitchFamily="34" charset="0"/>
                <a:ea typeface="Calibri" pitchFamily="34" charset="-122"/>
                <a:cs typeface="Calibri" pitchFamily="34" charset="-120"/>
              </a:rPr>
              <a:t>Illustrative — the shape of the curves, not measured values.</a:t>
            </a:r>
            <a:endParaRPr lang="en-US" sz="950" dirty="0"/>
          </a:p>
        </p:txBody>
      </p:sp>
      <p:sp>
        <p:nvSpPr>
          <p:cNvPr id="6" name="Text 3"/>
          <p:cNvSpPr/>
          <p:nvPr/>
        </p:nvSpPr>
        <p:spPr>
          <a:xfrm>
            <a:off x="7772400" y="1691640"/>
            <a:ext cx="3931920" cy="320040"/>
          </a:xfrm>
          <a:prstGeom prst="rect">
            <a:avLst/>
          </a:prstGeom>
          <a:noFill/>
          <a:ln/>
        </p:spPr>
        <p:txBody>
          <a:bodyPr wrap="square" lIns="0" tIns="0" rIns="0" bIns="0" rtlCol="0" anchor="ctr"/>
          <a:lstStyle/>
          <a:p>
            <a:pPr marL="0" indent="0">
              <a:buNone/>
            </a:pPr>
            <a:r>
              <a:rPr lang="en-US" sz="1500" b="1" dirty="0">
                <a:solidFill>
                  <a:srgbClr val="2A2D7C"/>
                </a:solidFill>
                <a:latin typeface="Arial" pitchFamily="34" charset="0"/>
                <a:ea typeface="Arial" pitchFamily="34" charset="-122"/>
                <a:cs typeface="Arial" pitchFamily="34" charset="-120"/>
              </a:rPr>
              <a:t>Three things had to arrive together</a:t>
            </a:r>
            <a:endParaRPr lang="en-US" sz="1500" dirty="0"/>
          </a:p>
        </p:txBody>
      </p:sp>
      <p:sp>
        <p:nvSpPr>
          <p:cNvPr id="7" name="Shape 4"/>
          <p:cNvSpPr/>
          <p:nvPr/>
        </p:nvSpPr>
        <p:spPr>
          <a:xfrm>
            <a:off x="7772400" y="2194560"/>
            <a:ext cx="3867912" cy="1115568"/>
          </a:xfrm>
          <a:prstGeom prst="roundRect">
            <a:avLst>
              <a:gd name="adj" fmla="val 7377"/>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8" name="Text 5"/>
          <p:cNvSpPr/>
          <p:nvPr/>
        </p:nvSpPr>
        <p:spPr>
          <a:xfrm>
            <a:off x="7973568" y="2313432"/>
            <a:ext cx="3474720" cy="256032"/>
          </a:xfrm>
          <a:prstGeom prst="rect">
            <a:avLst/>
          </a:prstGeom>
          <a:noFill/>
          <a:ln/>
        </p:spPr>
        <p:txBody>
          <a:bodyPr wrap="square" lIns="0" tIns="0" rIns="0" bIns="0" rtlCol="0" anchor="ctr"/>
          <a:lstStyle/>
          <a:p>
            <a:pPr marL="0" indent="0">
              <a:buNone/>
            </a:pPr>
            <a:r>
              <a:rPr lang="en-US" sz="1100" b="1" kern="0" spc="200" dirty="0">
                <a:solidFill>
                  <a:srgbClr val="00A6A6"/>
                </a:solidFill>
                <a:latin typeface="Arial" pitchFamily="34" charset="0"/>
                <a:ea typeface="Arial" pitchFamily="34" charset="-122"/>
                <a:cs typeface="Arial" pitchFamily="34" charset="-120"/>
              </a:rPr>
              <a:t>DATA</a:t>
            </a:r>
            <a:endParaRPr lang="en-US" sz="1100" dirty="0"/>
          </a:p>
        </p:txBody>
      </p:sp>
      <p:sp>
        <p:nvSpPr>
          <p:cNvPr id="9" name="Text 6"/>
          <p:cNvSpPr/>
          <p:nvPr/>
        </p:nvSpPr>
        <p:spPr>
          <a:xfrm>
            <a:off x="7973568" y="2578608"/>
            <a:ext cx="347472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The internet, smartphones and sensors created labelled data at a scale nobody had before.</a:t>
            </a:r>
            <a:endParaRPr lang="en-US" sz="1100" dirty="0"/>
          </a:p>
        </p:txBody>
      </p:sp>
      <p:sp>
        <p:nvSpPr>
          <p:cNvPr id="10" name="Shape 7"/>
          <p:cNvSpPr/>
          <p:nvPr/>
        </p:nvSpPr>
        <p:spPr>
          <a:xfrm>
            <a:off x="7772400" y="3493008"/>
            <a:ext cx="3867912" cy="1115568"/>
          </a:xfrm>
          <a:prstGeom prst="roundRect">
            <a:avLst>
              <a:gd name="adj" fmla="val 7377"/>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1" name="Text 8"/>
          <p:cNvSpPr/>
          <p:nvPr/>
        </p:nvSpPr>
        <p:spPr>
          <a:xfrm>
            <a:off x="7973568" y="3611880"/>
            <a:ext cx="3474720" cy="256032"/>
          </a:xfrm>
          <a:prstGeom prst="rect">
            <a:avLst/>
          </a:prstGeom>
          <a:noFill/>
          <a:ln/>
        </p:spPr>
        <p:txBody>
          <a:bodyPr wrap="square" lIns="0" tIns="0" rIns="0" bIns="0" rtlCol="0" anchor="ctr"/>
          <a:lstStyle/>
          <a:p>
            <a:pPr marL="0" indent="0">
              <a:buNone/>
            </a:pPr>
            <a:r>
              <a:rPr lang="en-US" sz="1100" b="1" kern="0" spc="200" dirty="0">
                <a:solidFill>
                  <a:srgbClr val="00A6A6"/>
                </a:solidFill>
                <a:latin typeface="Arial" pitchFamily="34" charset="0"/>
                <a:ea typeface="Arial" pitchFamily="34" charset="-122"/>
                <a:cs typeface="Arial" pitchFamily="34" charset="-120"/>
              </a:rPr>
              <a:t>COMPUTE</a:t>
            </a:r>
            <a:endParaRPr lang="en-US" sz="1100" dirty="0"/>
          </a:p>
        </p:txBody>
      </p:sp>
      <p:sp>
        <p:nvSpPr>
          <p:cNvPr id="12" name="Text 9"/>
          <p:cNvSpPr/>
          <p:nvPr/>
        </p:nvSpPr>
        <p:spPr>
          <a:xfrm>
            <a:off x="7973568" y="3877056"/>
            <a:ext cx="347472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GPUs turned weeks of training into hours, and made very deep networks affordable.</a:t>
            </a:r>
            <a:endParaRPr lang="en-US" sz="1100" dirty="0"/>
          </a:p>
        </p:txBody>
      </p:sp>
      <p:sp>
        <p:nvSpPr>
          <p:cNvPr id="13" name="Shape 10"/>
          <p:cNvSpPr/>
          <p:nvPr/>
        </p:nvSpPr>
        <p:spPr>
          <a:xfrm>
            <a:off x="7772400" y="4791456"/>
            <a:ext cx="3867912" cy="1115568"/>
          </a:xfrm>
          <a:prstGeom prst="roundRect">
            <a:avLst>
              <a:gd name="adj" fmla="val 7377"/>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4" name="Text 11"/>
          <p:cNvSpPr/>
          <p:nvPr/>
        </p:nvSpPr>
        <p:spPr>
          <a:xfrm>
            <a:off x="7973568" y="4910328"/>
            <a:ext cx="3474720" cy="256032"/>
          </a:xfrm>
          <a:prstGeom prst="rect">
            <a:avLst/>
          </a:prstGeom>
          <a:noFill/>
          <a:ln/>
        </p:spPr>
        <p:txBody>
          <a:bodyPr wrap="square" lIns="0" tIns="0" rIns="0" bIns="0" rtlCol="0" anchor="ctr"/>
          <a:lstStyle/>
          <a:p>
            <a:pPr marL="0" indent="0">
              <a:buNone/>
            </a:pPr>
            <a:r>
              <a:rPr lang="en-US" sz="1100" b="1" kern="0" spc="200" dirty="0">
                <a:solidFill>
                  <a:srgbClr val="00A6A6"/>
                </a:solidFill>
                <a:latin typeface="Arial" pitchFamily="34" charset="0"/>
                <a:ea typeface="Arial" pitchFamily="34" charset="-122"/>
                <a:cs typeface="Arial" pitchFamily="34" charset="-120"/>
              </a:rPr>
              <a:t>ALGORITHMS</a:t>
            </a:r>
            <a:endParaRPr lang="en-US" sz="1100" dirty="0"/>
          </a:p>
        </p:txBody>
      </p:sp>
      <p:sp>
        <p:nvSpPr>
          <p:cNvPr id="15" name="Text 12"/>
          <p:cNvSpPr/>
          <p:nvPr/>
        </p:nvSpPr>
        <p:spPr>
          <a:xfrm>
            <a:off x="7973568" y="5175504"/>
            <a:ext cx="347472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ReLU, dropout, batch norm and finally the Transformer made deep networks trainable.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The three architectures worth knowing</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Different shapes of network for different shapes of data</a:t>
            </a:r>
            <a:endParaRPr lang="en-US" sz="1400" dirty="0"/>
          </a:p>
        </p:txBody>
      </p:sp>
      <p:sp>
        <p:nvSpPr>
          <p:cNvPr id="4" name="Shape 2"/>
          <p:cNvSpPr/>
          <p:nvPr/>
        </p:nvSpPr>
        <p:spPr>
          <a:xfrm>
            <a:off x="548640" y="1645920"/>
            <a:ext cx="3520440" cy="411480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777240" y="1874520"/>
            <a:ext cx="1371600" cy="502920"/>
          </a:xfrm>
          <a:prstGeom prst="roundRect">
            <a:avLst>
              <a:gd name="adj" fmla="val 18182"/>
            </a:avLst>
          </a:prstGeom>
          <a:solidFill>
            <a:srgbClr val="2A2D7C"/>
          </a:solidFill>
          <a:ln w="12700">
            <a:solidFill>
              <a:srgbClr val="2A2D7C"/>
            </a:solidFill>
            <a:prstDash val="solid"/>
          </a:ln>
        </p:spPr>
        <p:txBody>
          <a:bodyPr/>
          <a:lstStyle/>
          <a:p>
            <a:endParaRPr lang="en-US"/>
          </a:p>
        </p:txBody>
      </p:sp>
      <p:sp>
        <p:nvSpPr>
          <p:cNvPr id="6" name="Text 4"/>
          <p:cNvSpPr/>
          <p:nvPr/>
        </p:nvSpPr>
        <p:spPr>
          <a:xfrm>
            <a:off x="777240" y="187452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CNN</a:t>
            </a:r>
            <a:endParaRPr lang="en-US" sz="1300" dirty="0"/>
          </a:p>
        </p:txBody>
      </p:sp>
      <p:sp>
        <p:nvSpPr>
          <p:cNvPr id="7" name="Text 5"/>
          <p:cNvSpPr/>
          <p:nvPr/>
        </p:nvSpPr>
        <p:spPr>
          <a:xfrm>
            <a:off x="777240" y="2514600"/>
            <a:ext cx="3063240" cy="320040"/>
          </a:xfrm>
          <a:prstGeom prst="rect">
            <a:avLst/>
          </a:prstGeom>
          <a:noFill/>
          <a:ln/>
        </p:spPr>
        <p:txBody>
          <a:bodyPr wrap="square" lIns="0" tIns="0" rIns="0" bIns="0" rtlCol="0" anchor="ctr"/>
          <a:lstStyle/>
          <a:p>
            <a:pPr marL="0" indent="0">
              <a:buNone/>
            </a:pPr>
            <a:r>
              <a:rPr lang="en-US" sz="1250" b="1" dirty="0">
                <a:solidFill>
                  <a:srgbClr val="101034"/>
                </a:solidFill>
                <a:latin typeface="Arial" pitchFamily="34" charset="0"/>
                <a:ea typeface="Arial" pitchFamily="34" charset="-122"/>
                <a:cs typeface="Arial" pitchFamily="34" charset="-120"/>
              </a:rPr>
              <a:t>Convolutional Neural Network</a:t>
            </a:r>
            <a:endParaRPr lang="en-US" sz="1250" dirty="0"/>
          </a:p>
        </p:txBody>
      </p:sp>
      <p:sp>
        <p:nvSpPr>
          <p:cNvPr id="8" name="Text 6"/>
          <p:cNvSpPr/>
          <p:nvPr/>
        </p:nvSpPr>
        <p:spPr>
          <a:xfrm>
            <a:off x="777240" y="2880360"/>
            <a:ext cx="3063240" cy="9144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Slides filters over a grid to detect local patterns, then combines them.</a:t>
            </a:r>
            <a:endParaRPr lang="en-US" sz="1150" dirty="0"/>
          </a:p>
        </p:txBody>
      </p:sp>
      <p:sp>
        <p:nvSpPr>
          <p:cNvPr id="9" name="Shape 7"/>
          <p:cNvSpPr/>
          <p:nvPr/>
        </p:nvSpPr>
        <p:spPr>
          <a:xfrm>
            <a:off x="777240" y="3913632"/>
            <a:ext cx="3063240" cy="18288"/>
          </a:xfrm>
          <a:prstGeom prst="rect">
            <a:avLst/>
          </a:prstGeom>
          <a:solidFill>
            <a:srgbClr val="DCDFEE"/>
          </a:solidFill>
          <a:ln w="12700">
            <a:solidFill>
              <a:srgbClr val="DCDFEE"/>
            </a:solidFill>
            <a:prstDash val="solid"/>
          </a:ln>
        </p:spPr>
        <p:txBody>
          <a:bodyPr/>
          <a:lstStyle/>
          <a:p>
            <a:endParaRPr lang="en-US"/>
          </a:p>
        </p:txBody>
      </p:sp>
      <p:sp>
        <p:nvSpPr>
          <p:cNvPr id="10" name="Text 8"/>
          <p:cNvSpPr/>
          <p:nvPr/>
        </p:nvSpPr>
        <p:spPr>
          <a:xfrm>
            <a:off x="777240" y="4069080"/>
            <a:ext cx="3063240" cy="256032"/>
          </a:xfrm>
          <a:prstGeom prst="rect">
            <a:avLst/>
          </a:prstGeom>
          <a:noFill/>
          <a:ln/>
        </p:spPr>
        <p:txBody>
          <a:bodyPr wrap="square" lIns="0" tIns="0" rIns="0" bIns="0" rtlCol="0" anchor="ctr"/>
          <a:lstStyle/>
          <a:p>
            <a:pPr marL="0" indent="0">
              <a:buNone/>
            </a:pPr>
            <a:r>
              <a:rPr lang="en-US" sz="950" b="1" kern="0" spc="150" dirty="0">
                <a:solidFill>
                  <a:srgbClr val="2A2D7C"/>
                </a:solidFill>
                <a:latin typeface="Arial" pitchFamily="34" charset="0"/>
                <a:ea typeface="Arial" pitchFamily="34" charset="-122"/>
                <a:cs typeface="Arial" pitchFamily="34" charset="-120"/>
              </a:rPr>
              <a:t>WHERE IT IS USED</a:t>
            </a:r>
            <a:endParaRPr lang="en-US" sz="950" dirty="0"/>
          </a:p>
        </p:txBody>
      </p:sp>
      <p:sp>
        <p:nvSpPr>
          <p:cNvPr id="11" name="Text 9"/>
          <p:cNvSpPr/>
          <p:nvPr/>
        </p:nvSpPr>
        <p:spPr>
          <a:xfrm>
            <a:off x="777240" y="4343400"/>
            <a:ext cx="3063240" cy="11887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Images and video: defect detection, medical imaging, cheque and document scanning.</a:t>
            </a:r>
            <a:endParaRPr lang="en-US" sz="1150" dirty="0"/>
          </a:p>
        </p:txBody>
      </p:sp>
      <p:sp>
        <p:nvSpPr>
          <p:cNvPr id="12" name="Shape 10"/>
          <p:cNvSpPr/>
          <p:nvPr/>
        </p:nvSpPr>
        <p:spPr>
          <a:xfrm>
            <a:off x="4315968" y="1645920"/>
            <a:ext cx="3520440" cy="411480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3" name="Shape 11"/>
          <p:cNvSpPr/>
          <p:nvPr/>
        </p:nvSpPr>
        <p:spPr>
          <a:xfrm>
            <a:off x="4544568" y="1874520"/>
            <a:ext cx="1371600" cy="502920"/>
          </a:xfrm>
          <a:prstGeom prst="roundRect">
            <a:avLst>
              <a:gd name="adj" fmla="val 18182"/>
            </a:avLst>
          </a:prstGeom>
          <a:solidFill>
            <a:srgbClr val="5B5FBF"/>
          </a:solidFill>
          <a:ln w="12700">
            <a:solidFill>
              <a:srgbClr val="5B5FBF"/>
            </a:solidFill>
            <a:prstDash val="solid"/>
          </a:ln>
        </p:spPr>
        <p:txBody>
          <a:bodyPr/>
          <a:lstStyle/>
          <a:p>
            <a:endParaRPr lang="en-US"/>
          </a:p>
        </p:txBody>
      </p:sp>
      <p:sp>
        <p:nvSpPr>
          <p:cNvPr id="14" name="Text 12"/>
          <p:cNvSpPr/>
          <p:nvPr/>
        </p:nvSpPr>
        <p:spPr>
          <a:xfrm>
            <a:off x="4544568" y="187452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RNN / LSTM</a:t>
            </a:r>
            <a:endParaRPr lang="en-US" sz="1300" dirty="0"/>
          </a:p>
        </p:txBody>
      </p:sp>
      <p:sp>
        <p:nvSpPr>
          <p:cNvPr id="15" name="Text 13"/>
          <p:cNvSpPr/>
          <p:nvPr/>
        </p:nvSpPr>
        <p:spPr>
          <a:xfrm>
            <a:off x="4544568" y="2514600"/>
            <a:ext cx="3063240" cy="320040"/>
          </a:xfrm>
          <a:prstGeom prst="rect">
            <a:avLst/>
          </a:prstGeom>
          <a:noFill/>
          <a:ln/>
        </p:spPr>
        <p:txBody>
          <a:bodyPr wrap="square" lIns="0" tIns="0" rIns="0" bIns="0" rtlCol="0" anchor="ctr"/>
          <a:lstStyle/>
          <a:p>
            <a:pPr marL="0" indent="0">
              <a:buNone/>
            </a:pPr>
            <a:r>
              <a:rPr lang="en-US" sz="1250" b="1" dirty="0">
                <a:solidFill>
                  <a:srgbClr val="101034"/>
                </a:solidFill>
                <a:latin typeface="Arial" pitchFamily="34" charset="0"/>
                <a:ea typeface="Arial" pitchFamily="34" charset="-122"/>
                <a:cs typeface="Arial" pitchFamily="34" charset="-120"/>
              </a:rPr>
              <a:t>Recurrent Neural Network</a:t>
            </a:r>
            <a:endParaRPr lang="en-US" sz="1250" dirty="0"/>
          </a:p>
        </p:txBody>
      </p:sp>
      <p:sp>
        <p:nvSpPr>
          <p:cNvPr id="16" name="Text 14"/>
          <p:cNvSpPr/>
          <p:nvPr/>
        </p:nvSpPr>
        <p:spPr>
          <a:xfrm>
            <a:off x="4544568" y="2880360"/>
            <a:ext cx="3063240" cy="9144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Processes a sequence step by step, carrying a memory of what came before.</a:t>
            </a:r>
            <a:endParaRPr lang="en-US" sz="1150" dirty="0"/>
          </a:p>
        </p:txBody>
      </p:sp>
      <p:sp>
        <p:nvSpPr>
          <p:cNvPr id="17" name="Shape 15"/>
          <p:cNvSpPr/>
          <p:nvPr/>
        </p:nvSpPr>
        <p:spPr>
          <a:xfrm>
            <a:off x="4544568" y="3913632"/>
            <a:ext cx="3063240" cy="18288"/>
          </a:xfrm>
          <a:prstGeom prst="rect">
            <a:avLst/>
          </a:prstGeom>
          <a:solidFill>
            <a:srgbClr val="DCDFEE"/>
          </a:solidFill>
          <a:ln w="12700">
            <a:solidFill>
              <a:srgbClr val="DCDFEE"/>
            </a:solidFill>
            <a:prstDash val="solid"/>
          </a:ln>
        </p:spPr>
        <p:txBody>
          <a:bodyPr/>
          <a:lstStyle/>
          <a:p>
            <a:endParaRPr lang="en-US"/>
          </a:p>
        </p:txBody>
      </p:sp>
      <p:sp>
        <p:nvSpPr>
          <p:cNvPr id="18" name="Text 16"/>
          <p:cNvSpPr/>
          <p:nvPr/>
        </p:nvSpPr>
        <p:spPr>
          <a:xfrm>
            <a:off x="4544568" y="4069080"/>
            <a:ext cx="3063240" cy="256032"/>
          </a:xfrm>
          <a:prstGeom prst="rect">
            <a:avLst/>
          </a:prstGeom>
          <a:noFill/>
          <a:ln/>
        </p:spPr>
        <p:txBody>
          <a:bodyPr wrap="square" lIns="0" tIns="0" rIns="0" bIns="0" rtlCol="0" anchor="ctr"/>
          <a:lstStyle/>
          <a:p>
            <a:pPr marL="0" indent="0">
              <a:buNone/>
            </a:pPr>
            <a:r>
              <a:rPr lang="en-US" sz="950" b="1" kern="0" spc="150" dirty="0">
                <a:solidFill>
                  <a:srgbClr val="5B5FBF"/>
                </a:solidFill>
                <a:latin typeface="Arial" pitchFamily="34" charset="0"/>
                <a:ea typeface="Arial" pitchFamily="34" charset="-122"/>
                <a:cs typeface="Arial" pitchFamily="34" charset="-120"/>
              </a:rPr>
              <a:t>WHERE IT IS USED</a:t>
            </a:r>
            <a:endParaRPr lang="en-US" sz="950" dirty="0"/>
          </a:p>
        </p:txBody>
      </p:sp>
      <p:sp>
        <p:nvSpPr>
          <p:cNvPr id="19" name="Text 17"/>
          <p:cNvSpPr/>
          <p:nvPr/>
        </p:nvSpPr>
        <p:spPr>
          <a:xfrm>
            <a:off x="4544568" y="4343400"/>
            <a:ext cx="3063240" cy="11887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Time series and speech: sensor forecasting, legacy speech-to-text.</a:t>
            </a:r>
            <a:endParaRPr lang="en-US" sz="1150" dirty="0"/>
          </a:p>
        </p:txBody>
      </p:sp>
      <p:sp>
        <p:nvSpPr>
          <p:cNvPr id="20" name="Shape 18"/>
          <p:cNvSpPr/>
          <p:nvPr/>
        </p:nvSpPr>
        <p:spPr>
          <a:xfrm>
            <a:off x="8083296" y="1645920"/>
            <a:ext cx="3520440" cy="4114800"/>
          </a:xfrm>
          <a:prstGeom prst="roundRect">
            <a:avLst>
              <a:gd name="adj" fmla="val 2338"/>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1" name="Shape 19"/>
          <p:cNvSpPr/>
          <p:nvPr/>
        </p:nvSpPr>
        <p:spPr>
          <a:xfrm>
            <a:off x="8311896" y="1874520"/>
            <a:ext cx="1371600" cy="502920"/>
          </a:xfrm>
          <a:prstGeom prst="roundRect">
            <a:avLst>
              <a:gd name="adj" fmla="val 18182"/>
            </a:avLst>
          </a:prstGeom>
          <a:solidFill>
            <a:srgbClr val="00A6A6"/>
          </a:solidFill>
          <a:ln w="12700">
            <a:solidFill>
              <a:srgbClr val="00A6A6"/>
            </a:solidFill>
            <a:prstDash val="solid"/>
          </a:ln>
        </p:spPr>
        <p:txBody>
          <a:bodyPr/>
          <a:lstStyle/>
          <a:p>
            <a:endParaRPr lang="en-US"/>
          </a:p>
        </p:txBody>
      </p:sp>
      <p:sp>
        <p:nvSpPr>
          <p:cNvPr id="22" name="Text 20"/>
          <p:cNvSpPr/>
          <p:nvPr/>
        </p:nvSpPr>
        <p:spPr>
          <a:xfrm>
            <a:off x="8311896" y="187452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Transformer</a:t>
            </a:r>
            <a:endParaRPr lang="en-US" sz="1300" dirty="0"/>
          </a:p>
        </p:txBody>
      </p:sp>
      <p:sp>
        <p:nvSpPr>
          <p:cNvPr id="23" name="Text 21"/>
          <p:cNvSpPr/>
          <p:nvPr/>
        </p:nvSpPr>
        <p:spPr>
          <a:xfrm>
            <a:off x="8311896" y="2514600"/>
            <a:ext cx="3063240" cy="320040"/>
          </a:xfrm>
          <a:prstGeom prst="rect">
            <a:avLst/>
          </a:prstGeom>
          <a:noFill/>
          <a:ln/>
        </p:spPr>
        <p:txBody>
          <a:bodyPr wrap="square" lIns="0" tIns="0" rIns="0" bIns="0" rtlCol="0" anchor="ctr"/>
          <a:lstStyle/>
          <a:p>
            <a:pPr marL="0" indent="0">
              <a:buNone/>
            </a:pPr>
            <a:r>
              <a:rPr lang="en-US" sz="1250" b="1" dirty="0">
                <a:solidFill>
                  <a:srgbClr val="101034"/>
                </a:solidFill>
                <a:latin typeface="Arial" pitchFamily="34" charset="0"/>
                <a:ea typeface="Arial" pitchFamily="34" charset="-122"/>
                <a:cs typeface="Arial" pitchFamily="34" charset="-120"/>
              </a:rPr>
              <a:t>Attention-based network</a:t>
            </a:r>
            <a:endParaRPr lang="en-US" sz="1250" dirty="0"/>
          </a:p>
        </p:txBody>
      </p:sp>
      <p:sp>
        <p:nvSpPr>
          <p:cNvPr id="24" name="Text 22"/>
          <p:cNvSpPr/>
          <p:nvPr/>
        </p:nvSpPr>
        <p:spPr>
          <a:xfrm>
            <a:off x="8311896" y="2880360"/>
            <a:ext cx="3063240" cy="9144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Looks at the whole sequence at once and weighs which parts matter to each other.</a:t>
            </a:r>
            <a:endParaRPr lang="en-US" sz="1150" dirty="0"/>
          </a:p>
        </p:txBody>
      </p:sp>
      <p:sp>
        <p:nvSpPr>
          <p:cNvPr id="25" name="Shape 23"/>
          <p:cNvSpPr/>
          <p:nvPr/>
        </p:nvSpPr>
        <p:spPr>
          <a:xfrm>
            <a:off x="8311896" y="3913632"/>
            <a:ext cx="3063240" cy="18288"/>
          </a:xfrm>
          <a:prstGeom prst="rect">
            <a:avLst/>
          </a:prstGeom>
          <a:solidFill>
            <a:srgbClr val="DCDFEE"/>
          </a:solidFill>
          <a:ln w="12700">
            <a:solidFill>
              <a:srgbClr val="DCDFEE"/>
            </a:solidFill>
            <a:prstDash val="solid"/>
          </a:ln>
        </p:spPr>
        <p:txBody>
          <a:bodyPr/>
          <a:lstStyle/>
          <a:p>
            <a:endParaRPr lang="en-US"/>
          </a:p>
        </p:txBody>
      </p:sp>
      <p:sp>
        <p:nvSpPr>
          <p:cNvPr id="26" name="Text 24"/>
          <p:cNvSpPr/>
          <p:nvPr/>
        </p:nvSpPr>
        <p:spPr>
          <a:xfrm>
            <a:off x="8311896" y="4069080"/>
            <a:ext cx="3063240" cy="256032"/>
          </a:xfrm>
          <a:prstGeom prst="rect">
            <a:avLst/>
          </a:prstGeom>
          <a:noFill/>
          <a:ln/>
        </p:spPr>
        <p:txBody>
          <a:bodyPr wrap="square" lIns="0" tIns="0" rIns="0" bIns="0" rtlCol="0" anchor="ctr"/>
          <a:lstStyle/>
          <a:p>
            <a:pPr marL="0" indent="0">
              <a:buNone/>
            </a:pPr>
            <a:r>
              <a:rPr lang="en-US" sz="950" b="1" kern="0" spc="150" dirty="0">
                <a:solidFill>
                  <a:srgbClr val="00A6A6"/>
                </a:solidFill>
                <a:latin typeface="Arial" pitchFamily="34" charset="0"/>
                <a:ea typeface="Arial" pitchFamily="34" charset="-122"/>
                <a:cs typeface="Arial" pitchFamily="34" charset="-120"/>
              </a:rPr>
              <a:t>WHERE IT IS USED</a:t>
            </a:r>
            <a:endParaRPr lang="en-US" sz="950" dirty="0"/>
          </a:p>
        </p:txBody>
      </p:sp>
      <p:sp>
        <p:nvSpPr>
          <p:cNvPr id="27" name="Text 25"/>
          <p:cNvSpPr/>
          <p:nvPr/>
        </p:nvSpPr>
        <p:spPr>
          <a:xfrm>
            <a:off x="8311896" y="4343400"/>
            <a:ext cx="3063240" cy="1188720"/>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Text, code, audio, images. The backbone of every modern LLM.</a:t>
            </a:r>
            <a:endParaRPr lang="en-US" sz="1150" dirty="0"/>
          </a:p>
        </p:txBody>
      </p:sp>
      <p:sp>
        <p:nvSpPr>
          <p:cNvPr id="28" name="Shape 26"/>
          <p:cNvSpPr/>
          <p:nvPr/>
        </p:nvSpPr>
        <p:spPr>
          <a:xfrm>
            <a:off x="548640" y="5943600"/>
            <a:ext cx="11091672" cy="548640"/>
          </a:xfrm>
          <a:prstGeom prst="roundRect">
            <a:avLst>
              <a:gd name="adj" fmla="val 15000"/>
            </a:avLst>
          </a:prstGeom>
          <a:solidFill>
            <a:srgbClr val="EEF7F7"/>
          </a:solidFill>
          <a:ln w="12700">
            <a:solidFill>
              <a:srgbClr val="7FD3D3"/>
            </a:solidFill>
            <a:prstDash val="solid"/>
          </a:ln>
        </p:spPr>
        <p:txBody>
          <a:bodyPr/>
          <a:lstStyle/>
          <a:p>
            <a:endParaRPr lang="en-US"/>
          </a:p>
        </p:txBody>
      </p:sp>
      <p:sp>
        <p:nvSpPr>
          <p:cNvPr id="29" name="Text 27"/>
          <p:cNvSpPr/>
          <p:nvPr/>
        </p:nvSpPr>
        <p:spPr>
          <a:xfrm>
            <a:off x="777240" y="5943600"/>
            <a:ext cx="10634472" cy="548640"/>
          </a:xfrm>
          <a:prstGeom prst="rect">
            <a:avLst/>
          </a:prstGeom>
          <a:noFill/>
          <a:ln/>
        </p:spPr>
        <p:txBody>
          <a:bodyPr wrap="square" lIns="0" tIns="0" rIns="0" bIns="0" rtlCol="0" anchor="ctr"/>
          <a:lstStyle/>
          <a:p>
            <a:pPr marL="0" indent="0">
              <a:buNone/>
            </a:pPr>
            <a:r>
              <a:rPr lang="en-US" sz="1250" i="1" dirty="0">
                <a:solidFill>
                  <a:srgbClr val="005E5E"/>
                </a:solidFill>
                <a:latin typeface="Calibri" pitchFamily="34" charset="0"/>
                <a:ea typeface="Calibri" pitchFamily="34" charset="-122"/>
                <a:cs typeface="Calibri" pitchFamily="34" charset="-120"/>
              </a:rPr>
              <a:t>2017: “Attention Is All You Need” introduced the Transformer — the single paper that made generative AI possible.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Generative AI</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Traditional models judge what exists; generative models produce something new</a:t>
            </a:r>
            <a:endParaRPr lang="en-US" sz="1400" dirty="0"/>
          </a:p>
        </p:txBody>
      </p:sp>
      <p:sp>
        <p:nvSpPr>
          <p:cNvPr id="4" name="Shape 2"/>
          <p:cNvSpPr/>
          <p:nvPr/>
        </p:nvSpPr>
        <p:spPr>
          <a:xfrm>
            <a:off x="548640" y="1627632"/>
            <a:ext cx="5394960" cy="4480560"/>
          </a:xfrm>
          <a:prstGeom prst="roundRect">
            <a:avLst>
              <a:gd name="adj" fmla="val 1837"/>
            </a:avLst>
          </a:prstGeom>
          <a:solidFill>
            <a:srgbClr val="F0F1F9"/>
          </a:solidFill>
          <a:ln w="12700">
            <a:solidFill>
              <a:srgbClr val="9DA0DD"/>
            </a:solidFill>
            <a:prstDash val="solid"/>
          </a:ln>
          <a:effectLst>
            <a:outerShdw blurRad="127000" dist="25400" dir="5400000" algn="bl" rotWithShape="0">
              <a:srgbClr val="9AA0BE">
                <a:alpha val="30000"/>
              </a:srgbClr>
            </a:outerShdw>
          </a:effectLst>
        </p:spPr>
        <p:txBody>
          <a:bodyPr/>
          <a:lstStyle/>
          <a:p>
            <a:endParaRPr lang="en-US"/>
          </a:p>
        </p:txBody>
      </p:sp>
      <p:sp>
        <p:nvSpPr>
          <p:cNvPr id="5" name="Text 3"/>
          <p:cNvSpPr/>
          <p:nvPr/>
        </p:nvSpPr>
        <p:spPr>
          <a:xfrm>
            <a:off x="822960" y="1828800"/>
            <a:ext cx="4846320" cy="274320"/>
          </a:xfrm>
          <a:prstGeom prst="rect">
            <a:avLst/>
          </a:prstGeom>
          <a:noFill/>
          <a:ln/>
        </p:spPr>
        <p:txBody>
          <a:bodyPr wrap="square" lIns="0" tIns="0" rIns="0" bIns="0" rtlCol="0" anchor="ctr"/>
          <a:lstStyle/>
          <a:p>
            <a:pPr marL="0" indent="0">
              <a:buNone/>
            </a:pPr>
            <a:r>
              <a:rPr lang="en-US" sz="1100" b="1" kern="0" spc="250" dirty="0">
                <a:solidFill>
                  <a:srgbClr val="2A2D7C"/>
                </a:solidFill>
                <a:latin typeface="Arial" pitchFamily="34" charset="0"/>
                <a:ea typeface="Arial" pitchFamily="34" charset="-122"/>
                <a:cs typeface="Arial" pitchFamily="34" charset="-120"/>
              </a:rPr>
              <a:t>DISCRIMINATIVE</a:t>
            </a:r>
            <a:endParaRPr lang="en-US" sz="1100" dirty="0"/>
          </a:p>
        </p:txBody>
      </p:sp>
      <p:sp>
        <p:nvSpPr>
          <p:cNvPr id="6" name="Text 4"/>
          <p:cNvSpPr/>
          <p:nvPr/>
        </p:nvSpPr>
        <p:spPr>
          <a:xfrm>
            <a:off x="822960" y="2121408"/>
            <a:ext cx="4846320" cy="384048"/>
          </a:xfrm>
          <a:prstGeom prst="rect">
            <a:avLst/>
          </a:prstGeom>
          <a:noFill/>
          <a:ln/>
        </p:spPr>
        <p:txBody>
          <a:bodyPr wrap="square" lIns="0" tIns="0" rIns="0" bIns="0" rtlCol="0" anchor="ctr"/>
          <a:lstStyle/>
          <a:p>
            <a:pPr marL="0" indent="0">
              <a:buNone/>
            </a:pPr>
            <a:r>
              <a:rPr lang="en-US" sz="2000" b="1" dirty="0">
                <a:solidFill>
                  <a:srgbClr val="101034"/>
                </a:solidFill>
                <a:latin typeface="Arial" pitchFamily="34" charset="0"/>
                <a:ea typeface="Arial" pitchFamily="34" charset="-122"/>
                <a:cs typeface="Arial" pitchFamily="34" charset="-120"/>
              </a:rPr>
              <a:t>Classify, score, predict</a:t>
            </a:r>
            <a:endParaRPr lang="en-US" sz="2000" dirty="0"/>
          </a:p>
        </p:txBody>
      </p:sp>
      <p:sp>
        <p:nvSpPr>
          <p:cNvPr id="7" name="Shape 5"/>
          <p:cNvSpPr/>
          <p:nvPr/>
        </p:nvSpPr>
        <p:spPr>
          <a:xfrm>
            <a:off x="822960" y="2651760"/>
            <a:ext cx="4846320" cy="777240"/>
          </a:xfrm>
          <a:prstGeom prst="roundRect">
            <a:avLst>
              <a:gd name="adj" fmla="val 10588"/>
            </a:avLst>
          </a:prstGeom>
          <a:solidFill>
            <a:srgbClr val="FFFFFF"/>
          </a:solidFill>
          <a:ln w="12700">
            <a:solidFill>
              <a:srgbClr val="9DA0DD"/>
            </a:solidFill>
            <a:prstDash val="solid"/>
          </a:ln>
        </p:spPr>
        <p:txBody>
          <a:bodyPr/>
          <a:lstStyle/>
          <a:p>
            <a:endParaRPr lang="en-US"/>
          </a:p>
        </p:txBody>
      </p:sp>
      <p:sp>
        <p:nvSpPr>
          <p:cNvPr id="8" name="Text 6"/>
          <p:cNvSpPr/>
          <p:nvPr/>
        </p:nvSpPr>
        <p:spPr>
          <a:xfrm>
            <a:off x="960120" y="2651760"/>
            <a:ext cx="4572000" cy="777240"/>
          </a:xfrm>
          <a:prstGeom prst="rect">
            <a:avLst/>
          </a:prstGeom>
          <a:noFill/>
          <a:ln/>
        </p:spPr>
        <p:txBody>
          <a:bodyPr wrap="square" lIns="0" tIns="0" rIns="0" bIns="0" rtlCol="0" anchor="ctr"/>
          <a:lstStyle/>
          <a:p>
            <a:pPr marL="0" indent="0">
              <a:buNone/>
            </a:pPr>
            <a:r>
              <a:rPr lang="en-US" sz="1400" i="1" dirty="0">
                <a:solidFill>
                  <a:srgbClr val="2A2D7C"/>
                </a:solidFill>
                <a:latin typeface="Calibri" pitchFamily="34" charset="0"/>
                <a:ea typeface="Calibri" pitchFamily="34" charset="-122"/>
                <a:cs typeface="Calibri" pitchFamily="34" charset="-120"/>
              </a:rPr>
              <a:t>“Is this transaction fraud?”</a:t>
            </a:r>
            <a:endParaRPr lang="en-US" sz="1400" dirty="0"/>
          </a:p>
        </p:txBody>
      </p:sp>
      <p:sp>
        <p:nvSpPr>
          <p:cNvPr id="9" name="Shape 7"/>
          <p:cNvSpPr/>
          <p:nvPr/>
        </p:nvSpPr>
        <p:spPr>
          <a:xfrm>
            <a:off x="859536" y="3776472"/>
            <a:ext cx="118872" cy="118872"/>
          </a:xfrm>
          <a:prstGeom prst="ellipse">
            <a:avLst/>
          </a:prstGeom>
          <a:solidFill>
            <a:srgbClr val="2A2D7C"/>
          </a:solidFill>
          <a:ln w="12700">
            <a:solidFill>
              <a:srgbClr val="2A2D7C"/>
            </a:solidFill>
            <a:prstDash val="solid"/>
          </a:ln>
        </p:spPr>
        <p:txBody>
          <a:bodyPr/>
          <a:lstStyle/>
          <a:p>
            <a:endParaRPr lang="en-US"/>
          </a:p>
        </p:txBody>
      </p:sp>
      <p:sp>
        <p:nvSpPr>
          <p:cNvPr id="10" name="Text 8"/>
          <p:cNvSpPr/>
          <p:nvPr/>
        </p:nvSpPr>
        <p:spPr>
          <a:xfrm>
            <a:off x="1115568" y="3657600"/>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Input: a record or an image</a:t>
            </a:r>
            <a:endParaRPr lang="en-US" sz="1200" dirty="0"/>
          </a:p>
        </p:txBody>
      </p:sp>
      <p:sp>
        <p:nvSpPr>
          <p:cNvPr id="11" name="Shape 9"/>
          <p:cNvSpPr/>
          <p:nvPr/>
        </p:nvSpPr>
        <p:spPr>
          <a:xfrm>
            <a:off x="859536" y="4352544"/>
            <a:ext cx="118872" cy="118872"/>
          </a:xfrm>
          <a:prstGeom prst="ellipse">
            <a:avLst/>
          </a:prstGeom>
          <a:solidFill>
            <a:srgbClr val="2A2D7C"/>
          </a:solidFill>
          <a:ln w="12700">
            <a:solidFill>
              <a:srgbClr val="2A2D7C"/>
            </a:solidFill>
            <a:prstDash val="solid"/>
          </a:ln>
        </p:spPr>
        <p:txBody>
          <a:bodyPr/>
          <a:lstStyle/>
          <a:p>
            <a:endParaRPr lang="en-US"/>
          </a:p>
        </p:txBody>
      </p:sp>
      <p:sp>
        <p:nvSpPr>
          <p:cNvPr id="12" name="Text 10"/>
          <p:cNvSpPr/>
          <p:nvPr/>
        </p:nvSpPr>
        <p:spPr>
          <a:xfrm>
            <a:off x="1115568" y="4233672"/>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Output: a label or a number</a:t>
            </a:r>
            <a:endParaRPr lang="en-US" sz="1200" dirty="0"/>
          </a:p>
        </p:txBody>
      </p:sp>
      <p:sp>
        <p:nvSpPr>
          <p:cNvPr id="13" name="Shape 11"/>
          <p:cNvSpPr/>
          <p:nvPr/>
        </p:nvSpPr>
        <p:spPr>
          <a:xfrm>
            <a:off x="859536" y="4928616"/>
            <a:ext cx="118872" cy="118872"/>
          </a:xfrm>
          <a:prstGeom prst="ellipse">
            <a:avLst/>
          </a:prstGeom>
          <a:solidFill>
            <a:srgbClr val="2A2D7C"/>
          </a:solidFill>
          <a:ln w="12700">
            <a:solidFill>
              <a:srgbClr val="2A2D7C"/>
            </a:solidFill>
            <a:prstDash val="solid"/>
          </a:ln>
        </p:spPr>
        <p:txBody>
          <a:bodyPr/>
          <a:lstStyle/>
          <a:p>
            <a:endParaRPr lang="en-US"/>
          </a:p>
        </p:txBody>
      </p:sp>
      <p:sp>
        <p:nvSpPr>
          <p:cNvPr id="14" name="Text 12"/>
          <p:cNvSpPr/>
          <p:nvPr/>
        </p:nvSpPr>
        <p:spPr>
          <a:xfrm>
            <a:off x="1115568" y="4809744"/>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Answer space: fixed and small</a:t>
            </a:r>
            <a:endParaRPr lang="en-US" sz="1200" dirty="0"/>
          </a:p>
        </p:txBody>
      </p:sp>
      <p:sp>
        <p:nvSpPr>
          <p:cNvPr id="15" name="Shape 13"/>
          <p:cNvSpPr/>
          <p:nvPr/>
        </p:nvSpPr>
        <p:spPr>
          <a:xfrm>
            <a:off x="859536" y="5504688"/>
            <a:ext cx="118872" cy="118872"/>
          </a:xfrm>
          <a:prstGeom prst="ellipse">
            <a:avLst/>
          </a:prstGeom>
          <a:solidFill>
            <a:srgbClr val="2A2D7C"/>
          </a:solidFill>
          <a:ln w="12700">
            <a:solidFill>
              <a:srgbClr val="2A2D7C"/>
            </a:solidFill>
            <a:prstDash val="solid"/>
          </a:ln>
        </p:spPr>
        <p:txBody>
          <a:bodyPr/>
          <a:lstStyle/>
          <a:p>
            <a:endParaRPr lang="en-US"/>
          </a:p>
        </p:txBody>
      </p:sp>
      <p:sp>
        <p:nvSpPr>
          <p:cNvPr id="16" name="Text 14"/>
          <p:cNvSpPr/>
          <p:nvPr/>
        </p:nvSpPr>
        <p:spPr>
          <a:xfrm>
            <a:off x="1115568" y="5385816"/>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Evaluated with accuracy, AUC</a:t>
            </a:r>
            <a:endParaRPr lang="en-US" sz="1200" dirty="0"/>
          </a:p>
        </p:txBody>
      </p:sp>
      <p:sp>
        <p:nvSpPr>
          <p:cNvPr id="17" name="Text 15"/>
          <p:cNvSpPr/>
          <p:nvPr/>
        </p:nvSpPr>
        <p:spPr>
          <a:xfrm>
            <a:off x="822960" y="5532120"/>
            <a:ext cx="4846320" cy="411480"/>
          </a:xfrm>
          <a:prstGeom prst="rect">
            <a:avLst/>
          </a:prstGeom>
          <a:noFill/>
          <a:ln/>
        </p:spPr>
        <p:txBody>
          <a:bodyPr wrap="square" lIns="0" tIns="0" rIns="0" bIns="0" rtlCol="0" anchor="ctr"/>
          <a:lstStyle/>
          <a:p>
            <a:pPr marL="0" indent="0">
              <a:buNone/>
            </a:pPr>
            <a:r>
              <a:rPr lang="en-US" sz="1100" b="1" dirty="0">
                <a:solidFill>
                  <a:srgbClr val="2A2D7C"/>
                </a:solidFill>
                <a:latin typeface="Calibri" pitchFamily="34" charset="0"/>
                <a:ea typeface="Calibri" pitchFamily="34" charset="-122"/>
                <a:cs typeface="Calibri" pitchFamily="34" charset="-120"/>
              </a:rPr>
              <a:t>Example: XGBoost fraud model, sentiment classifier</a:t>
            </a:r>
            <a:endParaRPr lang="en-US" sz="1100" dirty="0"/>
          </a:p>
        </p:txBody>
      </p:sp>
      <p:sp>
        <p:nvSpPr>
          <p:cNvPr id="18" name="Shape 16"/>
          <p:cNvSpPr/>
          <p:nvPr/>
        </p:nvSpPr>
        <p:spPr>
          <a:xfrm>
            <a:off x="6245352" y="1627632"/>
            <a:ext cx="5394960" cy="4480560"/>
          </a:xfrm>
          <a:prstGeom prst="roundRect">
            <a:avLst>
              <a:gd name="adj" fmla="val 1837"/>
            </a:avLst>
          </a:prstGeom>
          <a:solidFill>
            <a:srgbClr val="EEF7F7"/>
          </a:solidFill>
          <a:ln w="12700">
            <a:solidFill>
              <a:srgbClr val="7FD3D3"/>
            </a:solidFill>
            <a:prstDash val="solid"/>
          </a:ln>
          <a:effectLst>
            <a:outerShdw blurRad="127000" dist="25400" dir="5400000" algn="bl" rotWithShape="0">
              <a:srgbClr val="9AA0BE">
                <a:alpha val="30000"/>
              </a:srgbClr>
            </a:outerShdw>
          </a:effectLst>
        </p:spPr>
        <p:txBody>
          <a:bodyPr/>
          <a:lstStyle/>
          <a:p>
            <a:endParaRPr lang="en-US"/>
          </a:p>
        </p:txBody>
      </p:sp>
      <p:sp>
        <p:nvSpPr>
          <p:cNvPr id="19" name="Text 17"/>
          <p:cNvSpPr/>
          <p:nvPr/>
        </p:nvSpPr>
        <p:spPr>
          <a:xfrm>
            <a:off x="6519672" y="1828800"/>
            <a:ext cx="4846320" cy="274320"/>
          </a:xfrm>
          <a:prstGeom prst="rect">
            <a:avLst/>
          </a:prstGeom>
          <a:noFill/>
          <a:ln/>
        </p:spPr>
        <p:txBody>
          <a:bodyPr wrap="square" lIns="0" tIns="0" rIns="0" bIns="0" rtlCol="0" anchor="ctr"/>
          <a:lstStyle/>
          <a:p>
            <a:pPr marL="0" indent="0">
              <a:buNone/>
            </a:pPr>
            <a:r>
              <a:rPr lang="en-US" sz="1100" b="1" kern="0" spc="250" dirty="0">
                <a:solidFill>
                  <a:srgbClr val="00A6A6"/>
                </a:solidFill>
                <a:latin typeface="Arial" pitchFamily="34" charset="0"/>
                <a:ea typeface="Arial" pitchFamily="34" charset="-122"/>
                <a:cs typeface="Arial" pitchFamily="34" charset="-120"/>
              </a:rPr>
              <a:t>GENERATIVE</a:t>
            </a:r>
            <a:endParaRPr lang="en-US" sz="1100" dirty="0"/>
          </a:p>
        </p:txBody>
      </p:sp>
      <p:sp>
        <p:nvSpPr>
          <p:cNvPr id="20" name="Text 18"/>
          <p:cNvSpPr/>
          <p:nvPr/>
        </p:nvSpPr>
        <p:spPr>
          <a:xfrm>
            <a:off x="6519672" y="2121408"/>
            <a:ext cx="4846320" cy="384048"/>
          </a:xfrm>
          <a:prstGeom prst="rect">
            <a:avLst/>
          </a:prstGeom>
          <a:noFill/>
          <a:ln/>
        </p:spPr>
        <p:txBody>
          <a:bodyPr wrap="square" lIns="0" tIns="0" rIns="0" bIns="0" rtlCol="0" anchor="ctr"/>
          <a:lstStyle/>
          <a:p>
            <a:pPr marL="0" indent="0">
              <a:buNone/>
            </a:pPr>
            <a:r>
              <a:rPr lang="en-US" sz="2000" b="1" dirty="0">
                <a:solidFill>
                  <a:srgbClr val="101034"/>
                </a:solidFill>
                <a:latin typeface="Arial" pitchFamily="34" charset="0"/>
                <a:ea typeface="Arial" pitchFamily="34" charset="-122"/>
                <a:cs typeface="Arial" pitchFamily="34" charset="-120"/>
              </a:rPr>
              <a:t>Create new content</a:t>
            </a:r>
            <a:endParaRPr lang="en-US" sz="2000" dirty="0"/>
          </a:p>
        </p:txBody>
      </p:sp>
      <p:sp>
        <p:nvSpPr>
          <p:cNvPr id="21" name="Shape 19"/>
          <p:cNvSpPr/>
          <p:nvPr/>
        </p:nvSpPr>
        <p:spPr>
          <a:xfrm>
            <a:off x="6519672" y="2651760"/>
            <a:ext cx="4846320" cy="777240"/>
          </a:xfrm>
          <a:prstGeom prst="roundRect">
            <a:avLst>
              <a:gd name="adj" fmla="val 10588"/>
            </a:avLst>
          </a:prstGeom>
          <a:solidFill>
            <a:srgbClr val="FFFFFF"/>
          </a:solidFill>
          <a:ln w="12700">
            <a:solidFill>
              <a:srgbClr val="7FD3D3"/>
            </a:solidFill>
            <a:prstDash val="solid"/>
          </a:ln>
        </p:spPr>
        <p:txBody>
          <a:bodyPr/>
          <a:lstStyle/>
          <a:p>
            <a:endParaRPr lang="en-US"/>
          </a:p>
        </p:txBody>
      </p:sp>
      <p:sp>
        <p:nvSpPr>
          <p:cNvPr id="22" name="Text 20"/>
          <p:cNvSpPr/>
          <p:nvPr/>
        </p:nvSpPr>
        <p:spPr>
          <a:xfrm>
            <a:off x="6656832" y="2651760"/>
            <a:ext cx="4572000" cy="777240"/>
          </a:xfrm>
          <a:prstGeom prst="rect">
            <a:avLst/>
          </a:prstGeom>
          <a:noFill/>
          <a:ln/>
        </p:spPr>
        <p:txBody>
          <a:bodyPr wrap="square" lIns="0" tIns="0" rIns="0" bIns="0" rtlCol="0" anchor="ctr"/>
          <a:lstStyle/>
          <a:p>
            <a:pPr marL="0" indent="0">
              <a:buNone/>
            </a:pPr>
            <a:r>
              <a:rPr lang="en-US" sz="1400" i="1" dirty="0">
                <a:solidFill>
                  <a:srgbClr val="00A6A6"/>
                </a:solidFill>
                <a:latin typeface="Calibri" pitchFamily="34" charset="0"/>
                <a:ea typeface="Calibri" pitchFamily="34" charset="-122"/>
                <a:cs typeface="Calibri" pitchFamily="34" charset="-120"/>
              </a:rPr>
              <a:t>“Write the fraud investigation summary.”</a:t>
            </a:r>
            <a:endParaRPr lang="en-US" sz="1400" dirty="0"/>
          </a:p>
        </p:txBody>
      </p:sp>
      <p:sp>
        <p:nvSpPr>
          <p:cNvPr id="23" name="Shape 21"/>
          <p:cNvSpPr/>
          <p:nvPr/>
        </p:nvSpPr>
        <p:spPr>
          <a:xfrm>
            <a:off x="6556248" y="3776472"/>
            <a:ext cx="118872" cy="118872"/>
          </a:xfrm>
          <a:prstGeom prst="ellipse">
            <a:avLst/>
          </a:prstGeom>
          <a:solidFill>
            <a:srgbClr val="00A6A6"/>
          </a:solidFill>
          <a:ln w="12700">
            <a:solidFill>
              <a:srgbClr val="00A6A6"/>
            </a:solidFill>
            <a:prstDash val="solid"/>
          </a:ln>
        </p:spPr>
        <p:txBody>
          <a:bodyPr/>
          <a:lstStyle/>
          <a:p>
            <a:endParaRPr lang="en-US"/>
          </a:p>
        </p:txBody>
      </p:sp>
      <p:sp>
        <p:nvSpPr>
          <p:cNvPr id="24" name="Text 22"/>
          <p:cNvSpPr/>
          <p:nvPr/>
        </p:nvSpPr>
        <p:spPr>
          <a:xfrm>
            <a:off x="6812280" y="3657600"/>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Input: a prompt in natural language</a:t>
            </a:r>
            <a:endParaRPr lang="en-US" sz="1200" dirty="0"/>
          </a:p>
        </p:txBody>
      </p:sp>
      <p:sp>
        <p:nvSpPr>
          <p:cNvPr id="25" name="Shape 23"/>
          <p:cNvSpPr/>
          <p:nvPr/>
        </p:nvSpPr>
        <p:spPr>
          <a:xfrm>
            <a:off x="6556248" y="4352544"/>
            <a:ext cx="118872" cy="118872"/>
          </a:xfrm>
          <a:prstGeom prst="ellipse">
            <a:avLst/>
          </a:prstGeom>
          <a:solidFill>
            <a:srgbClr val="00A6A6"/>
          </a:solidFill>
          <a:ln w="12700">
            <a:solidFill>
              <a:srgbClr val="00A6A6"/>
            </a:solidFill>
            <a:prstDash val="solid"/>
          </a:ln>
        </p:spPr>
        <p:txBody>
          <a:bodyPr/>
          <a:lstStyle/>
          <a:p>
            <a:endParaRPr lang="en-US"/>
          </a:p>
        </p:txBody>
      </p:sp>
      <p:sp>
        <p:nvSpPr>
          <p:cNvPr id="26" name="Text 24"/>
          <p:cNvSpPr/>
          <p:nvPr/>
        </p:nvSpPr>
        <p:spPr>
          <a:xfrm>
            <a:off x="6812280" y="4233672"/>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Output: text, code, image, audio</a:t>
            </a:r>
            <a:endParaRPr lang="en-US" sz="1200" dirty="0"/>
          </a:p>
        </p:txBody>
      </p:sp>
      <p:sp>
        <p:nvSpPr>
          <p:cNvPr id="27" name="Shape 25"/>
          <p:cNvSpPr/>
          <p:nvPr/>
        </p:nvSpPr>
        <p:spPr>
          <a:xfrm>
            <a:off x="6556248" y="4928616"/>
            <a:ext cx="118872" cy="118872"/>
          </a:xfrm>
          <a:prstGeom prst="ellipse">
            <a:avLst/>
          </a:prstGeom>
          <a:solidFill>
            <a:srgbClr val="00A6A6"/>
          </a:solidFill>
          <a:ln w="12700">
            <a:solidFill>
              <a:srgbClr val="00A6A6"/>
            </a:solidFill>
            <a:prstDash val="solid"/>
          </a:ln>
        </p:spPr>
        <p:txBody>
          <a:bodyPr/>
          <a:lstStyle/>
          <a:p>
            <a:endParaRPr lang="en-US"/>
          </a:p>
        </p:txBody>
      </p:sp>
      <p:sp>
        <p:nvSpPr>
          <p:cNvPr id="28" name="Text 26"/>
          <p:cNvSpPr/>
          <p:nvPr/>
        </p:nvSpPr>
        <p:spPr>
          <a:xfrm>
            <a:off x="6812280" y="4809744"/>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Answer space: effectively infinite</a:t>
            </a:r>
            <a:endParaRPr lang="en-US" sz="1200" dirty="0"/>
          </a:p>
        </p:txBody>
      </p:sp>
      <p:sp>
        <p:nvSpPr>
          <p:cNvPr id="29" name="Shape 27"/>
          <p:cNvSpPr/>
          <p:nvPr/>
        </p:nvSpPr>
        <p:spPr>
          <a:xfrm>
            <a:off x="6556248" y="5504688"/>
            <a:ext cx="118872" cy="118872"/>
          </a:xfrm>
          <a:prstGeom prst="ellipse">
            <a:avLst/>
          </a:prstGeom>
          <a:solidFill>
            <a:srgbClr val="00A6A6"/>
          </a:solidFill>
          <a:ln w="12700">
            <a:solidFill>
              <a:srgbClr val="00A6A6"/>
            </a:solidFill>
            <a:prstDash val="solid"/>
          </a:ln>
        </p:spPr>
        <p:txBody>
          <a:bodyPr/>
          <a:lstStyle/>
          <a:p>
            <a:endParaRPr lang="en-US"/>
          </a:p>
        </p:txBody>
      </p:sp>
      <p:sp>
        <p:nvSpPr>
          <p:cNvPr id="30" name="Text 28"/>
          <p:cNvSpPr/>
          <p:nvPr/>
        </p:nvSpPr>
        <p:spPr>
          <a:xfrm>
            <a:off x="6812280" y="5385816"/>
            <a:ext cx="4526280" cy="384048"/>
          </a:xfrm>
          <a:prstGeom prst="rect">
            <a:avLst/>
          </a:prstGeom>
          <a:noFill/>
          <a:ln/>
        </p:spPr>
        <p:txBody>
          <a:bodyPr wrap="square" lIns="0" tIns="0" rIns="0" bIns="0" rtlCol="0" anchor="ctr"/>
          <a:lstStyle/>
          <a:p>
            <a:pPr marL="0" indent="0">
              <a:buNone/>
            </a:pPr>
            <a:r>
              <a:rPr lang="en-US" sz="1200" dirty="0">
                <a:solidFill>
                  <a:srgbClr val="101034"/>
                </a:solidFill>
                <a:latin typeface="Calibri" pitchFamily="34" charset="0"/>
                <a:ea typeface="Calibri" pitchFamily="34" charset="-122"/>
                <a:cs typeface="Calibri" pitchFamily="34" charset="-120"/>
              </a:rPr>
              <a:t>Evaluated by humans and rubrics</a:t>
            </a:r>
            <a:endParaRPr lang="en-US" sz="1200" dirty="0"/>
          </a:p>
        </p:txBody>
      </p:sp>
      <p:sp>
        <p:nvSpPr>
          <p:cNvPr id="31" name="Text 29"/>
          <p:cNvSpPr/>
          <p:nvPr/>
        </p:nvSpPr>
        <p:spPr>
          <a:xfrm>
            <a:off x="6519672" y="5532120"/>
            <a:ext cx="4846320" cy="411480"/>
          </a:xfrm>
          <a:prstGeom prst="rect">
            <a:avLst/>
          </a:prstGeom>
          <a:noFill/>
          <a:ln/>
        </p:spPr>
        <p:txBody>
          <a:bodyPr wrap="square" lIns="0" tIns="0" rIns="0" bIns="0" rtlCol="0" anchor="ctr"/>
          <a:lstStyle/>
          <a:p>
            <a:pPr marL="0" indent="0">
              <a:buNone/>
            </a:pPr>
            <a:r>
              <a:rPr lang="en-US" sz="1100" b="1" dirty="0">
                <a:solidFill>
                  <a:srgbClr val="00A6A6"/>
                </a:solidFill>
                <a:latin typeface="Calibri" pitchFamily="34" charset="0"/>
                <a:ea typeface="Calibri" pitchFamily="34" charset="-122"/>
                <a:cs typeface="Calibri" pitchFamily="34" charset="-120"/>
              </a:rPr>
              <a:t>Example: GPT, Claude, Gemini, Llama, Stable Diffusion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How a large language model actually answers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It is next-token prediction, repeated — there is no database lookup inside</a:t>
            </a:r>
            <a:endParaRPr lang="en-US" sz="1400" dirty="0"/>
          </a:p>
        </p:txBody>
      </p:sp>
      <p:sp>
        <p:nvSpPr>
          <p:cNvPr id="4" name="Shape 2"/>
          <p:cNvSpPr/>
          <p:nvPr/>
        </p:nvSpPr>
        <p:spPr>
          <a:xfrm>
            <a:off x="548640" y="2103120"/>
            <a:ext cx="1965960" cy="2240280"/>
          </a:xfrm>
          <a:prstGeom prst="roundRect">
            <a:avLst>
              <a:gd name="adj" fmla="val 418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1275588" y="1810512"/>
            <a:ext cx="512064" cy="512064"/>
          </a:xfrm>
          <a:prstGeom prst="ellipse">
            <a:avLst/>
          </a:prstGeom>
          <a:solidFill>
            <a:srgbClr val="2A2D7C"/>
          </a:solidFill>
          <a:ln w="12700">
            <a:solidFill>
              <a:srgbClr val="2A2D7C"/>
            </a:solidFill>
            <a:prstDash val="solid"/>
          </a:ln>
        </p:spPr>
        <p:txBody>
          <a:bodyPr/>
          <a:lstStyle/>
          <a:p>
            <a:endParaRPr lang="en-US"/>
          </a:p>
        </p:txBody>
      </p:sp>
      <p:sp>
        <p:nvSpPr>
          <p:cNvPr id="6" name="Text 4"/>
          <p:cNvSpPr/>
          <p:nvPr/>
        </p:nvSpPr>
        <p:spPr>
          <a:xfrm>
            <a:off x="1275588" y="1810512"/>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658368" y="2514600"/>
            <a:ext cx="1746504" cy="32004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Prompt</a:t>
            </a:r>
            <a:endParaRPr lang="en-US" sz="1400" dirty="0"/>
          </a:p>
        </p:txBody>
      </p:sp>
      <p:sp>
        <p:nvSpPr>
          <p:cNvPr id="8" name="Text 6"/>
          <p:cNvSpPr/>
          <p:nvPr/>
        </p:nvSpPr>
        <p:spPr>
          <a:xfrm>
            <a:off x="676656" y="2880360"/>
            <a:ext cx="1709928" cy="132588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You send text.</a:t>
            </a:r>
            <a:endParaRPr lang="en-US" sz="1050" dirty="0"/>
          </a:p>
          <a:p>
            <a:pPr marL="0" indent="0" algn="ctr">
              <a:buNone/>
            </a:pPr>
            <a:r>
              <a:rPr lang="en-US" sz="1050" dirty="0">
                <a:solidFill>
                  <a:srgbClr val="5A5F73"/>
                </a:solidFill>
                <a:latin typeface="Calibri" pitchFamily="34" charset="0"/>
                <a:ea typeface="Calibri" pitchFamily="34" charset="-122"/>
                <a:cs typeface="Calibri" pitchFamily="34" charset="-120"/>
              </a:rPr>
              <a:t>“Summarise this loan policy.”</a:t>
            </a:r>
            <a:endParaRPr lang="en-US" sz="1050" dirty="0"/>
          </a:p>
        </p:txBody>
      </p:sp>
      <p:sp>
        <p:nvSpPr>
          <p:cNvPr id="9" name="Shape 7"/>
          <p:cNvSpPr/>
          <p:nvPr/>
        </p:nvSpPr>
        <p:spPr>
          <a:xfrm>
            <a:off x="2542032" y="306324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10" name="Shape 8"/>
          <p:cNvSpPr/>
          <p:nvPr/>
        </p:nvSpPr>
        <p:spPr>
          <a:xfrm>
            <a:off x="2834640" y="2103120"/>
            <a:ext cx="1965960" cy="2240280"/>
          </a:xfrm>
          <a:prstGeom prst="roundRect">
            <a:avLst>
              <a:gd name="adj" fmla="val 418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1" name="Shape 9"/>
          <p:cNvSpPr/>
          <p:nvPr/>
        </p:nvSpPr>
        <p:spPr>
          <a:xfrm>
            <a:off x="3561588" y="1810512"/>
            <a:ext cx="512064" cy="512064"/>
          </a:xfrm>
          <a:prstGeom prst="ellipse">
            <a:avLst/>
          </a:prstGeom>
          <a:solidFill>
            <a:srgbClr val="2A2D7C"/>
          </a:solidFill>
          <a:ln w="12700">
            <a:solidFill>
              <a:srgbClr val="2A2D7C"/>
            </a:solidFill>
            <a:prstDash val="solid"/>
          </a:ln>
        </p:spPr>
        <p:txBody>
          <a:bodyPr/>
          <a:lstStyle/>
          <a:p>
            <a:endParaRPr lang="en-US"/>
          </a:p>
        </p:txBody>
      </p:sp>
      <p:sp>
        <p:nvSpPr>
          <p:cNvPr id="12" name="Text 10"/>
          <p:cNvSpPr/>
          <p:nvPr/>
        </p:nvSpPr>
        <p:spPr>
          <a:xfrm>
            <a:off x="3561588" y="1810512"/>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2944368" y="2514600"/>
            <a:ext cx="1746504" cy="32004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Tokenise</a:t>
            </a:r>
            <a:endParaRPr lang="en-US" sz="1400" dirty="0"/>
          </a:p>
        </p:txBody>
      </p:sp>
      <p:sp>
        <p:nvSpPr>
          <p:cNvPr id="14" name="Text 12"/>
          <p:cNvSpPr/>
          <p:nvPr/>
        </p:nvSpPr>
        <p:spPr>
          <a:xfrm>
            <a:off x="2962656" y="2880360"/>
            <a:ext cx="1709928" cy="132588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Text is split into tokens and mapped to numeric vectors.</a:t>
            </a:r>
            <a:endParaRPr lang="en-US" sz="1050" dirty="0"/>
          </a:p>
        </p:txBody>
      </p:sp>
      <p:sp>
        <p:nvSpPr>
          <p:cNvPr id="15" name="Shape 13"/>
          <p:cNvSpPr/>
          <p:nvPr/>
        </p:nvSpPr>
        <p:spPr>
          <a:xfrm>
            <a:off x="4828032" y="306324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16" name="Shape 14"/>
          <p:cNvSpPr/>
          <p:nvPr/>
        </p:nvSpPr>
        <p:spPr>
          <a:xfrm>
            <a:off x="5120640" y="2103120"/>
            <a:ext cx="1965960" cy="2240280"/>
          </a:xfrm>
          <a:prstGeom prst="roundRect">
            <a:avLst>
              <a:gd name="adj" fmla="val 418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7" name="Shape 15"/>
          <p:cNvSpPr/>
          <p:nvPr/>
        </p:nvSpPr>
        <p:spPr>
          <a:xfrm>
            <a:off x="5847588" y="1810512"/>
            <a:ext cx="512064" cy="512064"/>
          </a:xfrm>
          <a:prstGeom prst="ellipse">
            <a:avLst/>
          </a:prstGeom>
          <a:solidFill>
            <a:srgbClr val="2A2D7C"/>
          </a:solidFill>
          <a:ln w="12700">
            <a:solidFill>
              <a:srgbClr val="2A2D7C"/>
            </a:solidFill>
            <a:prstDash val="solid"/>
          </a:ln>
        </p:spPr>
        <p:txBody>
          <a:bodyPr/>
          <a:lstStyle/>
          <a:p>
            <a:endParaRPr lang="en-US"/>
          </a:p>
        </p:txBody>
      </p:sp>
      <p:sp>
        <p:nvSpPr>
          <p:cNvPr id="18" name="Text 16"/>
          <p:cNvSpPr/>
          <p:nvPr/>
        </p:nvSpPr>
        <p:spPr>
          <a:xfrm>
            <a:off x="5847588" y="1810512"/>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5230368" y="2514600"/>
            <a:ext cx="1746504" cy="32004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Attention</a:t>
            </a:r>
            <a:endParaRPr lang="en-US" sz="1400" dirty="0"/>
          </a:p>
        </p:txBody>
      </p:sp>
      <p:sp>
        <p:nvSpPr>
          <p:cNvPr id="20" name="Text 18"/>
          <p:cNvSpPr/>
          <p:nvPr/>
        </p:nvSpPr>
        <p:spPr>
          <a:xfrm>
            <a:off x="5248656" y="2880360"/>
            <a:ext cx="1709928" cy="132588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Every token is weighed against every other to build context.</a:t>
            </a:r>
            <a:endParaRPr lang="en-US" sz="1050" dirty="0"/>
          </a:p>
        </p:txBody>
      </p:sp>
      <p:sp>
        <p:nvSpPr>
          <p:cNvPr id="21" name="Shape 19"/>
          <p:cNvSpPr/>
          <p:nvPr/>
        </p:nvSpPr>
        <p:spPr>
          <a:xfrm>
            <a:off x="7114032" y="306324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22" name="Shape 20"/>
          <p:cNvSpPr/>
          <p:nvPr/>
        </p:nvSpPr>
        <p:spPr>
          <a:xfrm>
            <a:off x="7406640" y="2103120"/>
            <a:ext cx="1965960" cy="2240280"/>
          </a:xfrm>
          <a:prstGeom prst="roundRect">
            <a:avLst>
              <a:gd name="adj" fmla="val 418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3" name="Shape 21"/>
          <p:cNvSpPr/>
          <p:nvPr/>
        </p:nvSpPr>
        <p:spPr>
          <a:xfrm>
            <a:off x="8133588" y="1810512"/>
            <a:ext cx="512064" cy="512064"/>
          </a:xfrm>
          <a:prstGeom prst="ellipse">
            <a:avLst/>
          </a:prstGeom>
          <a:solidFill>
            <a:srgbClr val="2A2D7C"/>
          </a:solidFill>
          <a:ln w="12700">
            <a:solidFill>
              <a:srgbClr val="2A2D7C"/>
            </a:solidFill>
            <a:prstDash val="solid"/>
          </a:ln>
        </p:spPr>
        <p:txBody>
          <a:bodyPr/>
          <a:lstStyle/>
          <a:p>
            <a:endParaRPr lang="en-US"/>
          </a:p>
        </p:txBody>
      </p:sp>
      <p:sp>
        <p:nvSpPr>
          <p:cNvPr id="24" name="Text 22"/>
          <p:cNvSpPr/>
          <p:nvPr/>
        </p:nvSpPr>
        <p:spPr>
          <a:xfrm>
            <a:off x="8133588" y="1810512"/>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5" name="Text 23"/>
          <p:cNvSpPr/>
          <p:nvPr/>
        </p:nvSpPr>
        <p:spPr>
          <a:xfrm>
            <a:off x="7516368" y="2514600"/>
            <a:ext cx="1746504" cy="32004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Predict</a:t>
            </a:r>
            <a:endParaRPr lang="en-US" sz="1400" dirty="0"/>
          </a:p>
        </p:txBody>
      </p:sp>
      <p:sp>
        <p:nvSpPr>
          <p:cNvPr id="26" name="Text 24"/>
          <p:cNvSpPr/>
          <p:nvPr/>
        </p:nvSpPr>
        <p:spPr>
          <a:xfrm>
            <a:off x="7534656" y="2880360"/>
            <a:ext cx="1709928" cy="132588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The model outputs a probability for each possible next token.</a:t>
            </a:r>
            <a:endParaRPr lang="en-US" sz="1050" dirty="0"/>
          </a:p>
        </p:txBody>
      </p:sp>
      <p:sp>
        <p:nvSpPr>
          <p:cNvPr id="27" name="Shape 25"/>
          <p:cNvSpPr/>
          <p:nvPr/>
        </p:nvSpPr>
        <p:spPr>
          <a:xfrm>
            <a:off x="9400032" y="306324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28" name="Shape 26"/>
          <p:cNvSpPr/>
          <p:nvPr/>
        </p:nvSpPr>
        <p:spPr>
          <a:xfrm>
            <a:off x="9692640" y="2103120"/>
            <a:ext cx="1965960" cy="2240280"/>
          </a:xfrm>
          <a:prstGeom prst="roundRect">
            <a:avLst>
              <a:gd name="adj" fmla="val 4186"/>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9" name="Shape 27"/>
          <p:cNvSpPr/>
          <p:nvPr/>
        </p:nvSpPr>
        <p:spPr>
          <a:xfrm>
            <a:off x="10419588" y="1810512"/>
            <a:ext cx="512064" cy="512064"/>
          </a:xfrm>
          <a:prstGeom prst="ellipse">
            <a:avLst/>
          </a:prstGeom>
          <a:solidFill>
            <a:srgbClr val="E09400"/>
          </a:solidFill>
          <a:ln w="12700">
            <a:solidFill>
              <a:srgbClr val="E09400"/>
            </a:solidFill>
            <a:prstDash val="solid"/>
          </a:ln>
        </p:spPr>
        <p:txBody>
          <a:bodyPr/>
          <a:lstStyle/>
          <a:p>
            <a:endParaRPr lang="en-US"/>
          </a:p>
        </p:txBody>
      </p:sp>
      <p:sp>
        <p:nvSpPr>
          <p:cNvPr id="30" name="Text 28"/>
          <p:cNvSpPr/>
          <p:nvPr/>
        </p:nvSpPr>
        <p:spPr>
          <a:xfrm>
            <a:off x="10419588" y="1810512"/>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31" name="Text 29"/>
          <p:cNvSpPr/>
          <p:nvPr/>
        </p:nvSpPr>
        <p:spPr>
          <a:xfrm>
            <a:off x="9802368" y="2514600"/>
            <a:ext cx="1746504" cy="320040"/>
          </a:xfrm>
          <a:prstGeom prst="rect">
            <a:avLst/>
          </a:prstGeom>
          <a:noFill/>
          <a:ln/>
        </p:spPr>
        <p:txBody>
          <a:bodyPr wrap="square" lIns="0" tIns="0" rIns="0" bIns="0" rtlCol="0" anchor="ctr"/>
          <a:lstStyle/>
          <a:p>
            <a:pPr marL="0" indent="0" algn="ctr">
              <a:buNone/>
            </a:pPr>
            <a:r>
              <a:rPr lang="en-US" sz="1400" b="1" dirty="0">
                <a:solidFill>
                  <a:srgbClr val="101034"/>
                </a:solidFill>
                <a:latin typeface="Arial" pitchFamily="34" charset="0"/>
                <a:ea typeface="Arial" pitchFamily="34" charset="-122"/>
                <a:cs typeface="Arial" pitchFamily="34" charset="-120"/>
              </a:rPr>
              <a:t>Repeat</a:t>
            </a:r>
            <a:endParaRPr lang="en-US" sz="1400" dirty="0"/>
          </a:p>
        </p:txBody>
      </p:sp>
      <p:sp>
        <p:nvSpPr>
          <p:cNvPr id="32" name="Text 30"/>
          <p:cNvSpPr/>
          <p:nvPr/>
        </p:nvSpPr>
        <p:spPr>
          <a:xfrm>
            <a:off x="9820656" y="2880360"/>
            <a:ext cx="1709928" cy="132588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The chosen token is appended and the loop runs again.</a:t>
            </a:r>
            <a:endParaRPr lang="en-US" sz="1050" dirty="0"/>
          </a:p>
        </p:txBody>
      </p:sp>
      <p:sp>
        <p:nvSpPr>
          <p:cNvPr id="33" name="Shape 31"/>
          <p:cNvSpPr/>
          <p:nvPr/>
        </p:nvSpPr>
        <p:spPr>
          <a:xfrm>
            <a:off x="10680192" y="4343400"/>
            <a:ext cx="0" cy="457200"/>
          </a:xfrm>
          <a:prstGeom prst="line">
            <a:avLst/>
          </a:prstGeom>
          <a:noFill/>
          <a:ln w="19050">
            <a:solidFill>
              <a:srgbClr val="E09400"/>
            </a:solidFill>
            <a:prstDash val="solid"/>
          </a:ln>
        </p:spPr>
        <p:txBody>
          <a:bodyPr/>
          <a:lstStyle/>
          <a:p>
            <a:endParaRPr lang="en-US"/>
          </a:p>
        </p:txBody>
      </p:sp>
      <p:sp>
        <p:nvSpPr>
          <p:cNvPr id="34" name="Shape 32"/>
          <p:cNvSpPr/>
          <p:nvPr/>
        </p:nvSpPr>
        <p:spPr>
          <a:xfrm>
            <a:off x="1536192" y="4800600"/>
            <a:ext cx="9144000" cy="0"/>
          </a:xfrm>
          <a:prstGeom prst="line">
            <a:avLst/>
          </a:prstGeom>
          <a:noFill/>
          <a:ln w="19050">
            <a:solidFill>
              <a:srgbClr val="E09400"/>
            </a:solidFill>
            <a:prstDash val="solid"/>
          </a:ln>
        </p:spPr>
        <p:txBody>
          <a:bodyPr/>
          <a:lstStyle/>
          <a:p>
            <a:endParaRPr lang="en-US"/>
          </a:p>
        </p:txBody>
      </p:sp>
      <p:sp>
        <p:nvSpPr>
          <p:cNvPr id="35" name="Shape 33"/>
          <p:cNvSpPr/>
          <p:nvPr/>
        </p:nvSpPr>
        <p:spPr>
          <a:xfrm>
            <a:off x="1536192" y="4343400"/>
            <a:ext cx="0" cy="457200"/>
          </a:xfrm>
          <a:prstGeom prst="line">
            <a:avLst/>
          </a:prstGeom>
          <a:noFill/>
          <a:ln w="19050">
            <a:solidFill>
              <a:srgbClr val="E09400"/>
            </a:solidFill>
            <a:prstDash val="solid"/>
          </a:ln>
        </p:spPr>
        <p:txBody>
          <a:bodyPr/>
          <a:lstStyle/>
          <a:p>
            <a:endParaRPr lang="en-US"/>
          </a:p>
        </p:txBody>
      </p:sp>
      <p:sp>
        <p:nvSpPr>
          <p:cNvPr id="36" name="Text 34"/>
          <p:cNvSpPr/>
          <p:nvPr/>
        </p:nvSpPr>
        <p:spPr>
          <a:xfrm>
            <a:off x="4572000" y="4846320"/>
            <a:ext cx="3017520" cy="274320"/>
          </a:xfrm>
          <a:prstGeom prst="rect">
            <a:avLst/>
          </a:prstGeom>
          <a:noFill/>
          <a:ln/>
        </p:spPr>
        <p:txBody>
          <a:bodyPr wrap="square" lIns="0" tIns="0" rIns="0" bIns="0" rtlCol="0" anchor="ctr"/>
          <a:lstStyle/>
          <a:p>
            <a:pPr marL="0" indent="0" algn="ctr">
              <a:buNone/>
            </a:pPr>
            <a:r>
              <a:rPr lang="en-US" sz="1050" i="1" dirty="0">
                <a:solidFill>
                  <a:srgbClr val="E09400"/>
                </a:solidFill>
                <a:latin typeface="Calibri" pitchFamily="34" charset="0"/>
                <a:ea typeface="Calibri" pitchFamily="34" charset="-122"/>
                <a:cs typeface="Calibri" pitchFamily="34" charset="-120"/>
              </a:rPr>
              <a:t>output loops back as input</a:t>
            </a:r>
            <a:endParaRPr lang="en-US" sz="1050" dirty="0"/>
          </a:p>
        </p:txBody>
      </p:sp>
      <p:sp>
        <p:nvSpPr>
          <p:cNvPr id="37" name="Shape 35"/>
          <p:cNvSpPr/>
          <p:nvPr/>
        </p:nvSpPr>
        <p:spPr>
          <a:xfrm>
            <a:off x="548640" y="5257800"/>
            <a:ext cx="3520440" cy="1234440"/>
          </a:xfrm>
          <a:prstGeom prst="roundRect">
            <a:avLst>
              <a:gd name="adj" fmla="val 6667"/>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38" name="Text 36"/>
          <p:cNvSpPr/>
          <p:nvPr/>
        </p:nvSpPr>
        <p:spPr>
          <a:xfrm>
            <a:off x="731520" y="5367528"/>
            <a:ext cx="3154680" cy="274320"/>
          </a:xfrm>
          <a:prstGeom prst="rect">
            <a:avLst/>
          </a:prstGeom>
          <a:noFill/>
          <a:ln/>
        </p:spPr>
        <p:txBody>
          <a:bodyPr wrap="square" lIns="0" tIns="0" rIns="0" bIns="0" rtlCol="0" anchor="ctr"/>
          <a:lstStyle/>
          <a:p>
            <a:pPr marL="0" indent="0">
              <a:buNone/>
            </a:pPr>
            <a:r>
              <a:rPr lang="en-US" sz="1200" b="1" dirty="0">
                <a:solidFill>
                  <a:srgbClr val="8A5B00"/>
                </a:solidFill>
                <a:latin typeface="Arial" pitchFamily="34" charset="0"/>
                <a:ea typeface="Arial" pitchFamily="34" charset="-122"/>
                <a:cs typeface="Arial" pitchFamily="34" charset="-120"/>
              </a:rPr>
              <a:t>It predicts, it does not look up</a:t>
            </a:r>
            <a:endParaRPr lang="en-US" sz="1200" dirty="0"/>
          </a:p>
        </p:txBody>
      </p:sp>
      <p:sp>
        <p:nvSpPr>
          <p:cNvPr id="39" name="Text 37"/>
          <p:cNvSpPr/>
          <p:nvPr/>
        </p:nvSpPr>
        <p:spPr>
          <a:xfrm>
            <a:off x="731520" y="5650992"/>
            <a:ext cx="3154680" cy="731520"/>
          </a:xfrm>
          <a:prstGeom prst="rect">
            <a:avLst/>
          </a:prstGeom>
          <a:noFill/>
          <a:ln/>
        </p:spPr>
        <p:txBody>
          <a:bodyPr wrap="square" lIns="0" tIns="0" rIns="0" bIns="0" rtlCol="0" anchor="ctr"/>
          <a:lstStyle/>
          <a:p>
            <a:pPr marL="0" indent="0">
              <a:buNone/>
            </a:pPr>
            <a:r>
              <a:rPr lang="en-US" sz="1050" dirty="0">
                <a:solidFill>
                  <a:srgbClr val="8A5B00"/>
                </a:solidFill>
                <a:latin typeface="Calibri" pitchFamily="34" charset="0"/>
                <a:ea typeface="Calibri" pitchFamily="34" charset="-122"/>
                <a:cs typeface="Calibri" pitchFamily="34" charset="-120"/>
              </a:rPr>
              <a:t>Fluency is not accuracy — a confident wrong answer costs the same compute as a right one.</a:t>
            </a:r>
            <a:endParaRPr lang="en-US" sz="1050" dirty="0"/>
          </a:p>
        </p:txBody>
      </p:sp>
      <p:sp>
        <p:nvSpPr>
          <p:cNvPr id="40" name="Shape 38"/>
          <p:cNvSpPr/>
          <p:nvPr/>
        </p:nvSpPr>
        <p:spPr>
          <a:xfrm>
            <a:off x="4315968" y="5257800"/>
            <a:ext cx="3520440" cy="1234440"/>
          </a:xfrm>
          <a:prstGeom prst="roundRect">
            <a:avLst>
              <a:gd name="adj" fmla="val 6667"/>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41" name="Text 39"/>
          <p:cNvSpPr/>
          <p:nvPr/>
        </p:nvSpPr>
        <p:spPr>
          <a:xfrm>
            <a:off x="4498848" y="5367528"/>
            <a:ext cx="3154680" cy="274320"/>
          </a:xfrm>
          <a:prstGeom prst="rect">
            <a:avLst/>
          </a:prstGeom>
          <a:noFill/>
          <a:ln/>
        </p:spPr>
        <p:txBody>
          <a:bodyPr wrap="square" lIns="0" tIns="0" rIns="0" bIns="0" rtlCol="0" anchor="ctr"/>
          <a:lstStyle/>
          <a:p>
            <a:pPr marL="0" indent="0">
              <a:buNone/>
            </a:pPr>
            <a:r>
              <a:rPr lang="en-US" sz="1200" b="1" dirty="0">
                <a:solidFill>
                  <a:srgbClr val="8A5B00"/>
                </a:solidFill>
                <a:latin typeface="Arial" pitchFamily="34" charset="0"/>
                <a:ea typeface="Arial" pitchFamily="34" charset="-122"/>
                <a:cs typeface="Arial" pitchFamily="34" charset="-120"/>
              </a:rPr>
              <a:t>Context window is the working memory</a:t>
            </a:r>
            <a:endParaRPr lang="en-US" sz="1200" dirty="0"/>
          </a:p>
        </p:txBody>
      </p:sp>
      <p:sp>
        <p:nvSpPr>
          <p:cNvPr id="42" name="Text 40"/>
          <p:cNvSpPr/>
          <p:nvPr/>
        </p:nvSpPr>
        <p:spPr>
          <a:xfrm>
            <a:off x="4498848" y="5650992"/>
            <a:ext cx="3154680" cy="731520"/>
          </a:xfrm>
          <a:prstGeom prst="rect">
            <a:avLst/>
          </a:prstGeom>
          <a:noFill/>
          <a:ln/>
        </p:spPr>
        <p:txBody>
          <a:bodyPr wrap="square" lIns="0" tIns="0" rIns="0" bIns="0" rtlCol="0" anchor="ctr"/>
          <a:lstStyle/>
          <a:p>
            <a:pPr marL="0" indent="0">
              <a:buNone/>
            </a:pPr>
            <a:r>
              <a:rPr lang="en-US" sz="1050" dirty="0">
                <a:solidFill>
                  <a:srgbClr val="8A5B00"/>
                </a:solidFill>
                <a:latin typeface="Calibri" pitchFamily="34" charset="0"/>
                <a:ea typeface="Calibri" pitchFamily="34" charset="-122"/>
                <a:cs typeface="Calibri" pitchFamily="34" charset="-120"/>
              </a:rPr>
              <a:t>Anything outside the window simply does not exist for the model.</a:t>
            </a:r>
            <a:endParaRPr lang="en-US" sz="1050" dirty="0"/>
          </a:p>
        </p:txBody>
      </p:sp>
      <p:sp>
        <p:nvSpPr>
          <p:cNvPr id="43" name="Shape 41"/>
          <p:cNvSpPr/>
          <p:nvPr/>
        </p:nvSpPr>
        <p:spPr>
          <a:xfrm>
            <a:off x="8083296" y="5257800"/>
            <a:ext cx="3520440" cy="1234440"/>
          </a:xfrm>
          <a:prstGeom prst="roundRect">
            <a:avLst>
              <a:gd name="adj" fmla="val 6667"/>
            </a:avLst>
          </a:prstGeom>
          <a:solidFill>
            <a:srgbClr val="FFF4DE"/>
          </a:solidFill>
          <a:ln w="12700">
            <a:solidFill>
              <a:srgbClr val="F0D9A8"/>
            </a:solidFill>
            <a:prstDash val="solid"/>
          </a:ln>
          <a:effectLst>
            <a:outerShdw blurRad="127000" dist="25400" dir="5400000" algn="bl" rotWithShape="0">
              <a:srgbClr val="9AA0BE">
                <a:alpha val="30000"/>
              </a:srgbClr>
            </a:outerShdw>
          </a:effectLst>
        </p:spPr>
        <p:txBody>
          <a:bodyPr/>
          <a:lstStyle/>
          <a:p>
            <a:endParaRPr lang="en-US"/>
          </a:p>
        </p:txBody>
      </p:sp>
      <p:sp>
        <p:nvSpPr>
          <p:cNvPr id="44" name="Text 42"/>
          <p:cNvSpPr/>
          <p:nvPr/>
        </p:nvSpPr>
        <p:spPr>
          <a:xfrm>
            <a:off x="8266176" y="5367528"/>
            <a:ext cx="3154680" cy="274320"/>
          </a:xfrm>
          <a:prstGeom prst="rect">
            <a:avLst/>
          </a:prstGeom>
          <a:noFill/>
          <a:ln/>
        </p:spPr>
        <p:txBody>
          <a:bodyPr wrap="square" lIns="0" tIns="0" rIns="0" bIns="0" rtlCol="0" anchor="ctr"/>
          <a:lstStyle/>
          <a:p>
            <a:pPr marL="0" indent="0">
              <a:buNone/>
            </a:pPr>
            <a:r>
              <a:rPr lang="en-US" sz="1200" b="1" dirty="0">
                <a:solidFill>
                  <a:srgbClr val="8A5B00"/>
                </a:solidFill>
                <a:latin typeface="Arial" pitchFamily="34" charset="0"/>
                <a:ea typeface="Arial" pitchFamily="34" charset="-122"/>
                <a:cs typeface="Arial" pitchFamily="34" charset="-120"/>
              </a:rPr>
              <a:t>Same prompt, different answer</a:t>
            </a:r>
            <a:endParaRPr lang="en-US" sz="1200" dirty="0"/>
          </a:p>
        </p:txBody>
      </p:sp>
      <p:sp>
        <p:nvSpPr>
          <p:cNvPr id="45" name="Text 43"/>
          <p:cNvSpPr/>
          <p:nvPr/>
        </p:nvSpPr>
        <p:spPr>
          <a:xfrm>
            <a:off x="8266176" y="5650992"/>
            <a:ext cx="3154680" cy="731520"/>
          </a:xfrm>
          <a:prstGeom prst="rect">
            <a:avLst/>
          </a:prstGeom>
          <a:noFill/>
          <a:ln/>
        </p:spPr>
        <p:txBody>
          <a:bodyPr wrap="square" lIns="0" tIns="0" rIns="0" bIns="0" rtlCol="0" anchor="ctr"/>
          <a:lstStyle/>
          <a:p>
            <a:pPr marL="0" indent="0">
              <a:buNone/>
            </a:pPr>
            <a:r>
              <a:rPr lang="en-US" sz="1050" dirty="0">
                <a:solidFill>
                  <a:srgbClr val="8A5B00"/>
                </a:solidFill>
                <a:latin typeface="Calibri" pitchFamily="34" charset="0"/>
                <a:ea typeface="Calibri" pitchFamily="34" charset="-122"/>
                <a:cs typeface="Calibri" pitchFamily="34" charset="-120"/>
              </a:rPr>
              <a:t>Sampling is probabilistic. Set temperature to zero when you need repeatability.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Scale is what made these models useful</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Parameter counts grew by three orders of magnitude in four years</a:t>
            </a:r>
            <a:endParaRPr lang="en-US" sz="1400" dirty="0"/>
          </a:p>
        </p:txBody>
      </p:sp>
      <p:graphicFrame>
        <p:nvGraphicFramePr>
          <p:cNvPr id="4" name="Chart 0"/>
          <p:cNvGraphicFramePr/>
          <p:nvPr/>
        </p:nvGraphicFramePr>
        <p:xfrm>
          <a:off x="548640" y="173736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635240" y="1783080"/>
            <a:ext cx="4023360" cy="320040"/>
          </a:xfrm>
          <a:prstGeom prst="rect">
            <a:avLst/>
          </a:prstGeom>
          <a:noFill/>
          <a:ln/>
        </p:spPr>
        <p:txBody>
          <a:bodyPr wrap="square" lIns="0" tIns="0" rIns="0" bIns="0" rtlCol="0" anchor="ctr"/>
          <a:lstStyle/>
          <a:p>
            <a:pPr marL="0" indent="0">
              <a:buNone/>
            </a:pPr>
            <a:r>
              <a:rPr lang="en-US" sz="1500" b="1" dirty="0">
                <a:solidFill>
                  <a:srgbClr val="2A2D7C"/>
                </a:solidFill>
                <a:latin typeface="Arial" pitchFamily="34" charset="0"/>
                <a:ea typeface="Arial" pitchFamily="34" charset="-122"/>
                <a:cs typeface="Arial" pitchFamily="34" charset="-120"/>
              </a:rPr>
              <a:t>What scale bought us</a:t>
            </a:r>
            <a:endParaRPr lang="en-US" sz="1500" dirty="0"/>
          </a:p>
        </p:txBody>
      </p:sp>
      <p:sp>
        <p:nvSpPr>
          <p:cNvPr id="6" name="Shape 3"/>
          <p:cNvSpPr/>
          <p:nvPr/>
        </p:nvSpPr>
        <p:spPr>
          <a:xfrm>
            <a:off x="7635240" y="2313432"/>
            <a:ext cx="274320" cy="274320"/>
          </a:xfrm>
          <a:prstGeom prst="ellipse">
            <a:avLst/>
          </a:prstGeom>
          <a:solidFill>
            <a:srgbClr val="00A6A6"/>
          </a:solidFill>
          <a:ln w="12700">
            <a:solidFill>
              <a:srgbClr val="00A6A6"/>
            </a:solidFill>
            <a:prstDash val="solid"/>
          </a:ln>
        </p:spPr>
        <p:txBody>
          <a:bodyPr/>
          <a:lstStyle/>
          <a:p>
            <a:endParaRPr lang="en-US"/>
          </a:p>
        </p:txBody>
      </p:sp>
      <p:sp>
        <p:nvSpPr>
          <p:cNvPr id="7" name="Text 4"/>
          <p:cNvSpPr/>
          <p:nvPr/>
        </p:nvSpPr>
        <p:spPr>
          <a:xfrm>
            <a:off x="7635240" y="231343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8" name="Text 5"/>
          <p:cNvSpPr/>
          <p:nvPr/>
        </p:nvSpPr>
        <p:spPr>
          <a:xfrm>
            <a:off x="8046720" y="2267712"/>
            <a:ext cx="3611880" cy="292608"/>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Few-shot learning</a:t>
            </a:r>
            <a:endParaRPr lang="en-US" sz="1300" dirty="0"/>
          </a:p>
        </p:txBody>
      </p:sp>
      <p:sp>
        <p:nvSpPr>
          <p:cNvPr id="9" name="Text 6"/>
          <p:cNvSpPr/>
          <p:nvPr/>
        </p:nvSpPr>
        <p:spPr>
          <a:xfrm>
            <a:off x="8046720" y="2569464"/>
            <a:ext cx="361188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No retraining needed — show two examples in the prompt and the model adapts.</a:t>
            </a:r>
            <a:endParaRPr lang="en-US" sz="1100" dirty="0"/>
          </a:p>
        </p:txBody>
      </p:sp>
      <p:sp>
        <p:nvSpPr>
          <p:cNvPr id="10" name="Shape 7"/>
          <p:cNvSpPr/>
          <p:nvPr/>
        </p:nvSpPr>
        <p:spPr>
          <a:xfrm>
            <a:off x="7635240" y="3337560"/>
            <a:ext cx="274320" cy="274320"/>
          </a:xfrm>
          <a:prstGeom prst="ellipse">
            <a:avLst/>
          </a:prstGeom>
          <a:solidFill>
            <a:srgbClr val="00A6A6"/>
          </a:solidFill>
          <a:ln w="12700">
            <a:solidFill>
              <a:srgbClr val="00A6A6"/>
            </a:solidFill>
            <a:prstDash val="solid"/>
          </a:ln>
        </p:spPr>
        <p:txBody>
          <a:bodyPr/>
          <a:lstStyle/>
          <a:p>
            <a:endParaRPr lang="en-US"/>
          </a:p>
        </p:txBody>
      </p:sp>
      <p:sp>
        <p:nvSpPr>
          <p:cNvPr id="11" name="Text 8"/>
          <p:cNvSpPr/>
          <p:nvPr/>
        </p:nvSpPr>
        <p:spPr>
          <a:xfrm>
            <a:off x="7635240" y="33375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2" name="Text 9"/>
          <p:cNvSpPr/>
          <p:nvPr/>
        </p:nvSpPr>
        <p:spPr>
          <a:xfrm>
            <a:off x="8046720" y="3291840"/>
            <a:ext cx="3611880" cy="292608"/>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General capability</a:t>
            </a:r>
            <a:endParaRPr lang="en-US" sz="1300" dirty="0"/>
          </a:p>
        </p:txBody>
      </p:sp>
      <p:sp>
        <p:nvSpPr>
          <p:cNvPr id="13" name="Text 10"/>
          <p:cNvSpPr/>
          <p:nvPr/>
        </p:nvSpPr>
        <p:spPr>
          <a:xfrm>
            <a:off x="8046720" y="3593592"/>
            <a:ext cx="361188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One model handles summarising, translating, classifying and coding.</a:t>
            </a:r>
            <a:endParaRPr lang="en-US" sz="1100" dirty="0"/>
          </a:p>
        </p:txBody>
      </p:sp>
      <p:sp>
        <p:nvSpPr>
          <p:cNvPr id="14" name="Shape 11"/>
          <p:cNvSpPr/>
          <p:nvPr/>
        </p:nvSpPr>
        <p:spPr>
          <a:xfrm>
            <a:off x="7635240" y="4361688"/>
            <a:ext cx="274320" cy="274320"/>
          </a:xfrm>
          <a:prstGeom prst="ellipse">
            <a:avLst/>
          </a:prstGeom>
          <a:solidFill>
            <a:srgbClr val="00A6A6"/>
          </a:solidFill>
          <a:ln w="12700">
            <a:solidFill>
              <a:srgbClr val="00A6A6"/>
            </a:solidFill>
            <a:prstDash val="solid"/>
          </a:ln>
        </p:spPr>
        <p:txBody>
          <a:bodyPr/>
          <a:lstStyle/>
          <a:p>
            <a:endParaRPr lang="en-US"/>
          </a:p>
        </p:txBody>
      </p:sp>
      <p:sp>
        <p:nvSpPr>
          <p:cNvPr id="15" name="Text 12"/>
          <p:cNvSpPr/>
          <p:nvPr/>
        </p:nvSpPr>
        <p:spPr>
          <a:xfrm>
            <a:off x="7635240" y="43616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6" name="Text 13"/>
          <p:cNvSpPr/>
          <p:nvPr/>
        </p:nvSpPr>
        <p:spPr>
          <a:xfrm>
            <a:off x="8046720" y="4315968"/>
            <a:ext cx="3611880" cy="292608"/>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Natural language as the interface</a:t>
            </a:r>
            <a:endParaRPr lang="en-US" sz="1300" dirty="0"/>
          </a:p>
        </p:txBody>
      </p:sp>
      <p:sp>
        <p:nvSpPr>
          <p:cNvPr id="17" name="Text 14"/>
          <p:cNvSpPr/>
          <p:nvPr/>
        </p:nvSpPr>
        <p:spPr>
          <a:xfrm>
            <a:off x="8046720" y="4617720"/>
            <a:ext cx="361188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Business users can build with it without writing code.</a:t>
            </a:r>
            <a:endParaRPr lang="en-US" sz="1100" dirty="0"/>
          </a:p>
        </p:txBody>
      </p:sp>
      <p:sp>
        <p:nvSpPr>
          <p:cNvPr id="18" name="Shape 15"/>
          <p:cNvSpPr/>
          <p:nvPr/>
        </p:nvSpPr>
        <p:spPr>
          <a:xfrm>
            <a:off x="7635240" y="5385816"/>
            <a:ext cx="274320" cy="274320"/>
          </a:xfrm>
          <a:prstGeom prst="ellipse">
            <a:avLst/>
          </a:prstGeom>
          <a:solidFill>
            <a:srgbClr val="E09400"/>
          </a:solidFill>
          <a:ln w="12700">
            <a:solidFill>
              <a:srgbClr val="E09400"/>
            </a:solidFill>
            <a:prstDash val="solid"/>
          </a:ln>
        </p:spPr>
        <p:txBody>
          <a:bodyPr/>
          <a:lstStyle/>
          <a:p>
            <a:endParaRPr lang="en-US"/>
          </a:p>
        </p:txBody>
      </p:sp>
      <p:sp>
        <p:nvSpPr>
          <p:cNvPr id="19" name="Text 16"/>
          <p:cNvSpPr/>
          <p:nvPr/>
        </p:nvSpPr>
        <p:spPr>
          <a:xfrm>
            <a:off x="7635240" y="538581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0" name="Text 17"/>
          <p:cNvSpPr/>
          <p:nvPr/>
        </p:nvSpPr>
        <p:spPr>
          <a:xfrm>
            <a:off x="8046720" y="5340096"/>
            <a:ext cx="3611880" cy="292608"/>
          </a:xfrm>
          <a:prstGeom prst="rect">
            <a:avLst/>
          </a:prstGeom>
          <a:noFill/>
          <a:ln/>
        </p:spPr>
        <p:txBody>
          <a:bodyPr wrap="square" lIns="0" tIns="0" rIns="0" bIns="0" rtlCol="0" anchor="ctr"/>
          <a:lstStyle/>
          <a:p>
            <a:pPr marL="0" indent="0">
              <a:buNone/>
            </a:pPr>
            <a:r>
              <a:rPr lang="en-US" sz="1300" b="1" dirty="0">
                <a:solidFill>
                  <a:srgbClr val="101034"/>
                </a:solidFill>
                <a:latin typeface="Arial" pitchFamily="34" charset="0"/>
                <a:ea typeface="Arial" pitchFamily="34" charset="-122"/>
                <a:cs typeface="Arial" pitchFamily="34" charset="-120"/>
              </a:rPr>
              <a:t>But: cost and latency</a:t>
            </a:r>
            <a:endParaRPr lang="en-US" sz="1300" dirty="0"/>
          </a:p>
        </p:txBody>
      </p:sp>
      <p:sp>
        <p:nvSpPr>
          <p:cNvPr id="21" name="Text 18"/>
          <p:cNvSpPr/>
          <p:nvPr/>
        </p:nvSpPr>
        <p:spPr>
          <a:xfrm>
            <a:off x="8046720" y="5641848"/>
            <a:ext cx="3611880" cy="658368"/>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A frontier model call is orders of magnitude dearer than a tree model.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Where generative AI earns its keep</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Six patterns that cover most enterprise deployments</a:t>
            </a:r>
            <a:endParaRPr lang="en-US" sz="1400" dirty="0"/>
          </a:p>
        </p:txBody>
      </p:sp>
      <p:sp>
        <p:nvSpPr>
          <p:cNvPr id="4" name="Shape 2"/>
          <p:cNvSpPr/>
          <p:nvPr/>
        </p:nvSpPr>
        <p:spPr>
          <a:xfrm>
            <a:off x="548640" y="1645920"/>
            <a:ext cx="3520440" cy="2103120"/>
          </a:xfrm>
          <a:prstGeom prst="roundRect">
            <a:avLst>
              <a:gd name="adj" fmla="val 391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777240" y="1874520"/>
            <a:ext cx="457200" cy="457200"/>
          </a:xfrm>
          <a:prstGeom prst="ellipse">
            <a:avLst/>
          </a:prstGeom>
          <a:solidFill>
            <a:srgbClr val="2A2D7C"/>
          </a:solidFill>
          <a:ln w="12700">
            <a:solidFill>
              <a:srgbClr val="2A2D7C"/>
            </a:solidFill>
            <a:prstDash val="solid"/>
          </a:ln>
        </p:spPr>
        <p:txBody>
          <a:bodyPr/>
          <a:lstStyle/>
          <a:p>
            <a:endParaRPr lang="en-US"/>
          </a:p>
        </p:txBody>
      </p:sp>
      <p:sp>
        <p:nvSpPr>
          <p:cNvPr id="6" name="Text 4"/>
          <p:cNvSpPr/>
          <p:nvPr/>
        </p:nvSpPr>
        <p:spPr>
          <a:xfrm>
            <a:off x="777240"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371600" y="1901952"/>
            <a:ext cx="2468880" cy="411480"/>
          </a:xfrm>
          <a:prstGeom prst="rect">
            <a:avLst/>
          </a:prstGeom>
          <a:noFill/>
          <a:ln/>
        </p:spPr>
        <p:txBody>
          <a:bodyPr wrap="square" lIns="0" tIns="0" rIns="0" bIns="0" rtlCol="0" anchor="ctr"/>
          <a:lstStyle/>
          <a:p>
            <a:pPr marL="0" indent="0">
              <a:buNone/>
            </a:pPr>
            <a:r>
              <a:rPr lang="en-US" sz="1500" b="1" dirty="0">
                <a:solidFill>
                  <a:srgbClr val="101034"/>
                </a:solidFill>
                <a:latin typeface="Arial" pitchFamily="34" charset="0"/>
                <a:ea typeface="Arial" pitchFamily="34" charset="-122"/>
                <a:cs typeface="Arial" pitchFamily="34" charset="-120"/>
              </a:rPr>
              <a:t>Summarise</a:t>
            </a:r>
            <a:endParaRPr lang="en-US" sz="1500" dirty="0"/>
          </a:p>
        </p:txBody>
      </p:sp>
      <p:sp>
        <p:nvSpPr>
          <p:cNvPr id="8" name="Text 6"/>
          <p:cNvSpPr/>
          <p:nvPr/>
        </p:nvSpPr>
        <p:spPr>
          <a:xfrm>
            <a:off x="777240" y="2450592"/>
            <a:ext cx="306324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Long documents, call transcripts, email threads into a briefing.</a:t>
            </a:r>
            <a:endParaRPr lang="en-US" sz="1150" dirty="0"/>
          </a:p>
        </p:txBody>
      </p:sp>
      <p:sp>
        <p:nvSpPr>
          <p:cNvPr id="9" name="Shape 7"/>
          <p:cNvSpPr/>
          <p:nvPr/>
        </p:nvSpPr>
        <p:spPr>
          <a:xfrm>
            <a:off x="777240" y="3127248"/>
            <a:ext cx="3063240" cy="475488"/>
          </a:xfrm>
          <a:prstGeom prst="roundRect">
            <a:avLst>
              <a:gd name="adj" fmla="val 15385"/>
            </a:avLst>
          </a:prstGeom>
          <a:solidFill>
            <a:srgbClr val="FFFFFF"/>
          </a:solidFill>
          <a:ln w="12700">
            <a:solidFill>
              <a:srgbClr val="DCDFEE"/>
            </a:solidFill>
            <a:prstDash val="solid"/>
          </a:ln>
        </p:spPr>
        <p:txBody>
          <a:bodyPr/>
          <a:lstStyle/>
          <a:p>
            <a:endParaRPr lang="en-US"/>
          </a:p>
        </p:txBody>
      </p:sp>
      <p:sp>
        <p:nvSpPr>
          <p:cNvPr id="10" name="Text 8"/>
          <p:cNvSpPr/>
          <p:nvPr/>
        </p:nvSpPr>
        <p:spPr>
          <a:xfrm>
            <a:off x="896112" y="3127248"/>
            <a:ext cx="2825496" cy="47548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Credit memos from 80-page filings</a:t>
            </a:r>
            <a:endParaRPr lang="en-US" sz="1050" dirty="0"/>
          </a:p>
        </p:txBody>
      </p:sp>
      <p:sp>
        <p:nvSpPr>
          <p:cNvPr id="11" name="Shape 9"/>
          <p:cNvSpPr/>
          <p:nvPr/>
        </p:nvSpPr>
        <p:spPr>
          <a:xfrm>
            <a:off x="4315968" y="1645920"/>
            <a:ext cx="3520440" cy="2103120"/>
          </a:xfrm>
          <a:prstGeom prst="roundRect">
            <a:avLst>
              <a:gd name="adj" fmla="val 391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2" name="Shape 10"/>
          <p:cNvSpPr/>
          <p:nvPr/>
        </p:nvSpPr>
        <p:spPr>
          <a:xfrm>
            <a:off x="4544568" y="1874520"/>
            <a:ext cx="457200" cy="457200"/>
          </a:xfrm>
          <a:prstGeom prst="ellipse">
            <a:avLst/>
          </a:prstGeom>
          <a:solidFill>
            <a:srgbClr val="5B5FBF"/>
          </a:solidFill>
          <a:ln w="12700">
            <a:solidFill>
              <a:srgbClr val="5B5FBF"/>
            </a:solidFill>
            <a:prstDash val="solid"/>
          </a:ln>
        </p:spPr>
        <p:txBody>
          <a:bodyPr/>
          <a:lstStyle/>
          <a:p>
            <a:endParaRPr lang="en-US"/>
          </a:p>
        </p:txBody>
      </p:sp>
      <p:sp>
        <p:nvSpPr>
          <p:cNvPr id="13" name="Text 11"/>
          <p:cNvSpPr/>
          <p:nvPr/>
        </p:nvSpPr>
        <p:spPr>
          <a:xfrm>
            <a:off x="4544568"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5138928" y="1901952"/>
            <a:ext cx="2468880" cy="411480"/>
          </a:xfrm>
          <a:prstGeom prst="rect">
            <a:avLst/>
          </a:prstGeom>
          <a:noFill/>
          <a:ln/>
        </p:spPr>
        <p:txBody>
          <a:bodyPr wrap="square" lIns="0" tIns="0" rIns="0" bIns="0" rtlCol="0" anchor="ctr"/>
          <a:lstStyle/>
          <a:p>
            <a:pPr marL="0" indent="0">
              <a:buNone/>
            </a:pPr>
            <a:r>
              <a:rPr lang="en-US" sz="1500" b="1" dirty="0">
                <a:solidFill>
                  <a:srgbClr val="101034"/>
                </a:solidFill>
                <a:latin typeface="Arial" pitchFamily="34" charset="0"/>
                <a:ea typeface="Arial" pitchFamily="34" charset="-122"/>
                <a:cs typeface="Arial" pitchFamily="34" charset="-120"/>
              </a:rPr>
              <a:t>Draft</a:t>
            </a:r>
            <a:endParaRPr lang="en-US" sz="1500" dirty="0"/>
          </a:p>
        </p:txBody>
      </p:sp>
      <p:sp>
        <p:nvSpPr>
          <p:cNvPr id="15" name="Text 13"/>
          <p:cNvSpPr/>
          <p:nvPr/>
        </p:nvSpPr>
        <p:spPr>
          <a:xfrm>
            <a:off x="4544568" y="2450592"/>
            <a:ext cx="306324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First versions of documents, code, replies and reports.</a:t>
            </a:r>
            <a:endParaRPr lang="en-US" sz="1150" dirty="0"/>
          </a:p>
        </p:txBody>
      </p:sp>
      <p:sp>
        <p:nvSpPr>
          <p:cNvPr id="16" name="Shape 14"/>
          <p:cNvSpPr/>
          <p:nvPr/>
        </p:nvSpPr>
        <p:spPr>
          <a:xfrm>
            <a:off x="4544568" y="3127248"/>
            <a:ext cx="3063240" cy="475488"/>
          </a:xfrm>
          <a:prstGeom prst="roundRect">
            <a:avLst>
              <a:gd name="adj" fmla="val 15385"/>
            </a:avLst>
          </a:prstGeom>
          <a:solidFill>
            <a:srgbClr val="FFFFFF"/>
          </a:solidFill>
          <a:ln w="12700">
            <a:solidFill>
              <a:srgbClr val="DCDFEE"/>
            </a:solidFill>
            <a:prstDash val="solid"/>
          </a:ln>
        </p:spPr>
        <p:txBody>
          <a:bodyPr/>
          <a:lstStyle/>
          <a:p>
            <a:endParaRPr lang="en-US"/>
          </a:p>
        </p:txBody>
      </p:sp>
      <p:sp>
        <p:nvSpPr>
          <p:cNvPr id="17" name="Text 15"/>
          <p:cNvSpPr/>
          <p:nvPr/>
        </p:nvSpPr>
        <p:spPr>
          <a:xfrm>
            <a:off x="4663440" y="3127248"/>
            <a:ext cx="2825496" cy="47548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Policy drafts, unit tests, RFP responses</a:t>
            </a:r>
            <a:endParaRPr lang="en-US" sz="1050" dirty="0"/>
          </a:p>
        </p:txBody>
      </p:sp>
      <p:sp>
        <p:nvSpPr>
          <p:cNvPr id="18" name="Shape 16"/>
          <p:cNvSpPr/>
          <p:nvPr/>
        </p:nvSpPr>
        <p:spPr>
          <a:xfrm>
            <a:off x="8083296" y="1645920"/>
            <a:ext cx="3520440" cy="2103120"/>
          </a:xfrm>
          <a:prstGeom prst="roundRect">
            <a:avLst>
              <a:gd name="adj" fmla="val 391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9" name="Shape 17"/>
          <p:cNvSpPr/>
          <p:nvPr/>
        </p:nvSpPr>
        <p:spPr>
          <a:xfrm>
            <a:off x="8311896" y="1874520"/>
            <a:ext cx="457200" cy="457200"/>
          </a:xfrm>
          <a:prstGeom prst="ellipse">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8311896"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p:nvPr/>
        </p:nvSpPr>
        <p:spPr>
          <a:xfrm>
            <a:off x="8906256" y="1901952"/>
            <a:ext cx="2468880" cy="411480"/>
          </a:xfrm>
          <a:prstGeom prst="rect">
            <a:avLst/>
          </a:prstGeom>
          <a:noFill/>
          <a:ln/>
        </p:spPr>
        <p:txBody>
          <a:bodyPr wrap="square" lIns="0" tIns="0" rIns="0" bIns="0" rtlCol="0" anchor="ctr"/>
          <a:lstStyle/>
          <a:p>
            <a:pPr marL="0" indent="0">
              <a:buNone/>
            </a:pPr>
            <a:r>
              <a:rPr lang="en-US" sz="1500" b="1" dirty="0">
                <a:solidFill>
                  <a:srgbClr val="101034"/>
                </a:solidFill>
                <a:latin typeface="Arial" pitchFamily="34" charset="0"/>
                <a:ea typeface="Arial" pitchFamily="34" charset="-122"/>
                <a:cs typeface="Arial" pitchFamily="34" charset="-120"/>
              </a:rPr>
              <a:t>Extract</a:t>
            </a:r>
            <a:endParaRPr lang="en-US" sz="1500" dirty="0"/>
          </a:p>
        </p:txBody>
      </p:sp>
      <p:sp>
        <p:nvSpPr>
          <p:cNvPr id="22" name="Text 20"/>
          <p:cNvSpPr/>
          <p:nvPr/>
        </p:nvSpPr>
        <p:spPr>
          <a:xfrm>
            <a:off x="8311896" y="2450592"/>
            <a:ext cx="306324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Pull structured fields out of unstructured documents.</a:t>
            </a:r>
            <a:endParaRPr lang="en-US" sz="1150" dirty="0"/>
          </a:p>
        </p:txBody>
      </p:sp>
      <p:sp>
        <p:nvSpPr>
          <p:cNvPr id="23" name="Shape 21"/>
          <p:cNvSpPr/>
          <p:nvPr/>
        </p:nvSpPr>
        <p:spPr>
          <a:xfrm>
            <a:off x="8311896" y="3127248"/>
            <a:ext cx="3063240" cy="475488"/>
          </a:xfrm>
          <a:prstGeom prst="roundRect">
            <a:avLst>
              <a:gd name="adj" fmla="val 15385"/>
            </a:avLst>
          </a:prstGeom>
          <a:solidFill>
            <a:srgbClr val="FFFFFF"/>
          </a:solidFill>
          <a:ln w="12700">
            <a:solidFill>
              <a:srgbClr val="DCDFEE"/>
            </a:solidFill>
            <a:prstDash val="solid"/>
          </a:ln>
        </p:spPr>
        <p:txBody>
          <a:bodyPr/>
          <a:lstStyle/>
          <a:p>
            <a:endParaRPr lang="en-US"/>
          </a:p>
        </p:txBody>
      </p:sp>
      <p:sp>
        <p:nvSpPr>
          <p:cNvPr id="24" name="Text 22"/>
          <p:cNvSpPr/>
          <p:nvPr/>
        </p:nvSpPr>
        <p:spPr>
          <a:xfrm>
            <a:off x="8430768" y="3127248"/>
            <a:ext cx="2825496" cy="47548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Invoice and KYC data capture</a:t>
            </a:r>
            <a:endParaRPr lang="en-US" sz="1050" dirty="0"/>
          </a:p>
        </p:txBody>
      </p:sp>
      <p:sp>
        <p:nvSpPr>
          <p:cNvPr id="25" name="Shape 23"/>
          <p:cNvSpPr/>
          <p:nvPr/>
        </p:nvSpPr>
        <p:spPr>
          <a:xfrm>
            <a:off x="548640" y="3977640"/>
            <a:ext cx="3520440" cy="2103120"/>
          </a:xfrm>
          <a:prstGeom prst="roundRect">
            <a:avLst>
              <a:gd name="adj" fmla="val 391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6" name="Shape 24"/>
          <p:cNvSpPr/>
          <p:nvPr/>
        </p:nvSpPr>
        <p:spPr>
          <a:xfrm>
            <a:off x="777240" y="4206240"/>
            <a:ext cx="457200" cy="457200"/>
          </a:xfrm>
          <a:prstGeom prst="ellipse">
            <a:avLst/>
          </a:prstGeom>
          <a:solidFill>
            <a:srgbClr val="2A2D7C"/>
          </a:solidFill>
          <a:ln w="12700">
            <a:solidFill>
              <a:srgbClr val="2A2D7C"/>
            </a:solidFill>
            <a:prstDash val="solid"/>
          </a:ln>
        </p:spPr>
        <p:txBody>
          <a:bodyPr/>
          <a:lstStyle/>
          <a:p>
            <a:endParaRPr lang="en-US"/>
          </a:p>
        </p:txBody>
      </p:sp>
      <p:sp>
        <p:nvSpPr>
          <p:cNvPr id="27" name="Text 25"/>
          <p:cNvSpPr/>
          <p:nvPr/>
        </p:nvSpPr>
        <p:spPr>
          <a:xfrm>
            <a:off x="777240" y="4206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8" name="Text 26"/>
          <p:cNvSpPr/>
          <p:nvPr/>
        </p:nvSpPr>
        <p:spPr>
          <a:xfrm>
            <a:off x="1371600" y="4233672"/>
            <a:ext cx="2468880" cy="411480"/>
          </a:xfrm>
          <a:prstGeom prst="rect">
            <a:avLst/>
          </a:prstGeom>
          <a:noFill/>
          <a:ln/>
        </p:spPr>
        <p:txBody>
          <a:bodyPr wrap="square" lIns="0" tIns="0" rIns="0" bIns="0" rtlCol="0" anchor="ctr"/>
          <a:lstStyle/>
          <a:p>
            <a:pPr marL="0" indent="0">
              <a:buNone/>
            </a:pPr>
            <a:r>
              <a:rPr lang="en-US" sz="1500" b="1" dirty="0">
                <a:solidFill>
                  <a:srgbClr val="101034"/>
                </a:solidFill>
                <a:latin typeface="Arial" pitchFamily="34" charset="0"/>
                <a:ea typeface="Arial" pitchFamily="34" charset="-122"/>
                <a:cs typeface="Arial" pitchFamily="34" charset="-120"/>
              </a:rPr>
              <a:t>Answer over your data</a:t>
            </a:r>
            <a:endParaRPr lang="en-US" sz="1500" dirty="0"/>
          </a:p>
        </p:txBody>
      </p:sp>
      <p:sp>
        <p:nvSpPr>
          <p:cNvPr id="29" name="Text 27"/>
          <p:cNvSpPr/>
          <p:nvPr/>
        </p:nvSpPr>
        <p:spPr>
          <a:xfrm>
            <a:off x="777240" y="4782312"/>
            <a:ext cx="306324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Retrieval-augmented generation grounded in your own corpus.</a:t>
            </a:r>
            <a:endParaRPr lang="en-US" sz="1150" dirty="0"/>
          </a:p>
        </p:txBody>
      </p:sp>
      <p:sp>
        <p:nvSpPr>
          <p:cNvPr id="30" name="Shape 28"/>
          <p:cNvSpPr/>
          <p:nvPr/>
        </p:nvSpPr>
        <p:spPr>
          <a:xfrm>
            <a:off x="777240" y="5458968"/>
            <a:ext cx="3063240" cy="475488"/>
          </a:xfrm>
          <a:prstGeom prst="roundRect">
            <a:avLst>
              <a:gd name="adj" fmla="val 15385"/>
            </a:avLst>
          </a:prstGeom>
          <a:solidFill>
            <a:srgbClr val="FFFFFF"/>
          </a:solidFill>
          <a:ln w="12700">
            <a:solidFill>
              <a:srgbClr val="DCDFEE"/>
            </a:solidFill>
            <a:prstDash val="solid"/>
          </a:ln>
        </p:spPr>
        <p:txBody>
          <a:bodyPr/>
          <a:lstStyle/>
          <a:p>
            <a:endParaRPr lang="en-US"/>
          </a:p>
        </p:txBody>
      </p:sp>
      <p:sp>
        <p:nvSpPr>
          <p:cNvPr id="31" name="Text 29"/>
          <p:cNvSpPr/>
          <p:nvPr/>
        </p:nvSpPr>
        <p:spPr>
          <a:xfrm>
            <a:off x="896112" y="5458968"/>
            <a:ext cx="2825496" cy="47548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Internal policy Q&amp;A assistant</a:t>
            </a:r>
            <a:endParaRPr lang="en-US" sz="1050" dirty="0"/>
          </a:p>
        </p:txBody>
      </p:sp>
      <p:sp>
        <p:nvSpPr>
          <p:cNvPr id="32" name="Shape 30"/>
          <p:cNvSpPr/>
          <p:nvPr/>
        </p:nvSpPr>
        <p:spPr>
          <a:xfrm>
            <a:off x="4315968" y="3977640"/>
            <a:ext cx="3520440" cy="2103120"/>
          </a:xfrm>
          <a:prstGeom prst="roundRect">
            <a:avLst>
              <a:gd name="adj" fmla="val 391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33" name="Shape 31"/>
          <p:cNvSpPr/>
          <p:nvPr/>
        </p:nvSpPr>
        <p:spPr>
          <a:xfrm>
            <a:off x="4544568" y="4206240"/>
            <a:ext cx="457200" cy="457200"/>
          </a:xfrm>
          <a:prstGeom prst="ellipse">
            <a:avLst/>
          </a:prstGeom>
          <a:solidFill>
            <a:srgbClr val="5B5FBF"/>
          </a:solidFill>
          <a:ln w="12700">
            <a:solidFill>
              <a:srgbClr val="5B5FBF"/>
            </a:solidFill>
            <a:prstDash val="solid"/>
          </a:ln>
        </p:spPr>
        <p:txBody>
          <a:bodyPr/>
          <a:lstStyle/>
          <a:p>
            <a:endParaRPr lang="en-US"/>
          </a:p>
        </p:txBody>
      </p:sp>
      <p:sp>
        <p:nvSpPr>
          <p:cNvPr id="34" name="Text 32"/>
          <p:cNvSpPr/>
          <p:nvPr/>
        </p:nvSpPr>
        <p:spPr>
          <a:xfrm>
            <a:off x="4544568" y="4206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5" name="Text 33"/>
          <p:cNvSpPr/>
          <p:nvPr/>
        </p:nvSpPr>
        <p:spPr>
          <a:xfrm>
            <a:off x="5138928" y="4233672"/>
            <a:ext cx="2468880" cy="411480"/>
          </a:xfrm>
          <a:prstGeom prst="rect">
            <a:avLst/>
          </a:prstGeom>
          <a:noFill/>
          <a:ln/>
        </p:spPr>
        <p:txBody>
          <a:bodyPr wrap="square" lIns="0" tIns="0" rIns="0" bIns="0" rtlCol="0" anchor="ctr"/>
          <a:lstStyle/>
          <a:p>
            <a:pPr marL="0" indent="0">
              <a:buNone/>
            </a:pPr>
            <a:r>
              <a:rPr lang="en-US" sz="1500" b="1" dirty="0">
                <a:solidFill>
                  <a:srgbClr val="101034"/>
                </a:solidFill>
                <a:latin typeface="Arial" pitchFamily="34" charset="0"/>
                <a:ea typeface="Arial" pitchFamily="34" charset="-122"/>
                <a:cs typeface="Arial" pitchFamily="34" charset="-120"/>
              </a:rPr>
              <a:t>Translate &amp; rewrite</a:t>
            </a:r>
            <a:endParaRPr lang="en-US" sz="1500" dirty="0"/>
          </a:p>
        </p:txBody>
      </p:sp>
      <p:sp>
        <p:nvSpPr>
          <p:cNvPr id="36" name="Text 34"/>
          <p:cNvSpPr/>
          <p:nvPr/>
        </p:nvSpPr>
        <p:spPr>
          <a:xfrm>
            <a:off x="4544568" y="4782312"/>
            <a:ext cx="306324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Across languages, tones and reading levels.</a:t>
            </a:r>
            <a:endParaRPr lang="en-US" sz="1150" dirty="0"/>
          </a:p>
        </p:txBody>
      </p:sp>
      <p:sp>
        <p:nvSpPr>
          <p:cNvPr id="37" name="Shape 35"/>
          <p:cNvSpPr/>
          <p:nvPr/>
        </p:nvSpPr>
        <p:spPr>
          <a:xfrm>
            <a:off x="4544568" y="5458968"/>
            <a:ext cx="3063240" cy="475488"/>
          </a:xfrm>
          <a:prstGeom prst="roundRect">
            <a:avLst>
              <a:gd name="adj" fmla="val 15385"/>
            </a:avLst>
          </a:prstGeom>
          <a:solidFill>
            <a:srgbClr val="FFFFFF"/>
          </a:solidFill>
          <a:ln w="12700">
            <a:solidFill>
              <a:srgbClr val="DCDFEE"/>
            </a:solidFill>
            <a:prstDash val="solid"/>
          </a:ln>
        </p:spPr>
        <p:txBody>
          <a:bodyPr/>
          <a:lstStyle/>
          <a:p>
            <a:endParaRPr lang="en-US"/>
          </a:p>
        </p:txBody>
      </p:sp>
      <p:sp>
        <p:nvSpPr>
          <p:cNvPr id="38" name="Text 36"/>
          <p:cNvSpPr/>
          <p:nvPr/>
        </p:nvSpPr>
        <p:spPr>
          <a:xfrm>
            <a:off x="4663440" y="5458968"/>
            <a:ext cx="2825496" cy="47548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Customer notices in three languages</a:t>
            </a:r>
            <a:endParaRPr lang="en-US" sz="1050" dirty="0"/>
          </a:p>
        </p:txBody>
      </p:sp>
      <p:sp>
        <p:nvSpPr>
          <p:cNvPr id="39" name="Shape 37"/>
          <p:cNvSpPr/>
          <p:nvPr/>
        </p:nvSpPr>
        <p:spPr>
          <a:xfrm>
            <a:off x="8083296" y="3977640"/>
            <a:ext cx="3520440" cy="2103120"/>
          </a:xfrm>
          <a:prstGeom prst="roundRect">
            <a:avLst>
              <a:gd name="adj" fmla="val 391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40" name="Shape 38"/>
          <p:cNvSpPr/>
          <p:nvPr/>
        </p:nvSpPr>
        <p:spPr>
          <a:xfrm>
            <a:off x="8311896" y="4206240"/>
            <a:ext cx="457200" cy="457200"/>
          </a:xfrm>
          <a:prstGeom prst="ellipse">
            <a:avLst/>
          </a:prstGeom>
          <a:solidFill>
            <a:srgbClr val="00A6A6"/>
          </a:solidFill>
          <a:ln w="12700">
            <a:solidFill>
              <a:srgbClr val="00A6A6"/>
            </a:solidFill>
            <a:prstDash val="solid"/>
          </a:ln>
        </p:spPr>
        <p:txBody>
          <a:bodyPr/>
          <a:lstStyle/>
          <a:p>
            <a:endParaRPr lang="en-US"/>
          </a:p>
        </p:txBody>
      </p:sp>
      <p:sp>
        <p:nvSpPr>
          <p:cNvPr id="41" name="Text 39"/>
          <p:cNvSpPr/>
          <p:nvPr/>
        </p:nvSpPr>
        <p:spPr>
          <a:xfrm>
            <a:off x="8311896" y="4206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42" name="Text 40"/>
          <p:cNvSpPr/>
          <p:nvPr/>
        </p:nvSpPr>
        <p:spPr>
          <a:xfrm>
            <a:off x="8906256" y="4233672"/>
            <a:ext cx="2468880" cy="411480"/>
          </a:xfrm>
          <a:prstGeom prst="rect">
            <a:avLst/>
          </a:prstGeom>
          <a:noFill/>
          <a:ln/>
        </p:spPr>
        <p:txBody>
          <a:bodyPr wrap="square" lIns="0" tIns="0" rIns="0" bIns="0" rtlCol="0" anchor="ctr"/>
          <a:lstStyle/>
          <a:p>
            <a:pPr marL="0" indent="0">
              <a:buNone/>
            </a:pPr>
            <a:r>
              <a:rPr lang="en-US" sz="1500" b="1" dirty="0">
                <a:solidFill>
                  <a:srgbClr val="101034"/>
                </a:solidFill>
                <a:latin typeface="Arial" pitchFamily="34" charset="0"/>
                <a:ea typeface="Arial" pitchFamily="34" charset="-122"/>
                <a:cs typeface="Arial" pitchFamily="34" charset="-120"/>
              </a:rPr>
              <a:t>Classify &amp; route</a:t>
            </a:r>
            <a:endParaRPr lang="en-US" sz="1500" dirty="0"/>
          </a:p>
        </p:txBody>
      </p:sp>
      <p:sp>
        <p:nvSpPr>
          <p:cNvPr id="43" name="Text 41"/>
          <p:cNvSpPr/>
          <p:nvPr/>
        </p:nvSpPr>
        <p:spPr>
          <a:xfrm>
            <a:off x="8311896" y="4782312"/>
            <a:ext cx="3063240" cy="68580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Sort free text into categories with no labelled training set.</a:t>
            </a:r>
            <a:endParaRPr lang="en-US" sz="1150" dirty="0"/>
          </a:p>
        </p:txBody>
      </p:sp>
      <p:sp>
        <p:nvSpPr>
          <p:cNvPr id="44" name="Shape 42"/>
          <p:cNvSpPr/>
          <p:nvPr/>
        </p:nvSpPr>
        <p:spPr>
          <a:xfrm>
            <a:off x="8311896" y="5458968"/>
            <a:ext cx="3063240" cy="475488"/>
          </a:xfrm>
          <a:prstGeom prst="roundRect">
            <a:avLst>
              <a:gd name="adj" fmla="val 15385"/>
            </a:avLst>
          </a:prstGeom>
          <a:solidFill>
            <a:srgbClr val="FFFFFF"/>
          </a:solidFill>
          <a:ln w="12700">
            <a:solidFill>
              <a:srgbClr val="DCDFEE"/>
            </a:solidFill>
            <a:prstDash val="solid"/>
          </a:ln>
        </p:spPr>
        <p:txBody>
          <a:bodyPr/>
          <a:lstStyle/>
          <a:p>
            <a:endParaRPr lang="en-US"/>
          </a:p>
        </p:txBody>
      </p:sp>
      <p:sp>
        <p:nvSpPr>
          <p:cNvPr id="45" name="Text 43"/>
          <p:cNvSpPr/>
          <p:nvPr/>
        </p:nvSpPr>
        <p:spPr>
          <a:xfrm>
            <a:off x="8430768" y="5458968"/>
            <a:ext cx="2825496" cy="475488"/>
          </a:xfrm>
          <a:prstGeom prst="rect">
            <a:avLst/>
          </a:prstGeom>
          <a:noFill/>
          <a:ln/>
        </p:spPr>
        <p:txBody>
          <a:bodyPr wrap="square" lIns="0" tIns="0" rIns="0" bIns="0" rtlCol="0" anchor="ctr"/>
          <a:lstStyle/>
          <a:p>
            <a:pPr marL="0" indent="0">
              <a:buNone/>
            </a:pPr>
            <a:r>
              <a:rPr lang="en-US" sz="1050" b="1" dirty="0">
                <a:solidFill>
                  <a:srgbClr val="2A2D7C"/>
                </a:solidFill>
                <a:latin typeface="Calibri" pitchFamily="34" charset="0"/>
                <a:ea typeface="Calibri" pitchFamily="34" charset="-122"/>
                <a:cs typeface="Calibri" pitchFamily="34" charset="-120"/>
              </a:rPr>
              <a:t>Complaint triage and routing</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Where a plain chatbot stops</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Four limits that no amount of prompting fixes — and that agents were built to solve</a:t>
            </a:r>
            <a:endParaRPr lang="en-US" sz="1400" dirty="0"/>
          </a:p>
        </p:txBody>
      </p:sp>
      <p:sp>
        <p:nvSpPr>
          <p:cNvPr id="4" name="Shape 2"/>
          <p:cNvSpPr/>
          <p:nvPr/>
        </p:nvSpPr>
        <p:spPr>
          <a:xfrm>
            <a:off x="548640" y="1691640"/>
            <a:ext cx="2606040" cy="2331720"/>
          </a:xfrm>
          <a:prstGeom prst="roundRect">
            <a:avLst>
              <a:gd name="adj" fmla="val 3529"/>
            </a:avLst>
          </a:prstGeom>
          <a:solidFill>
            <a:srgbClr val="FDF0EE"/>
          </a:solidFill>
          <a:ln w="12700">
            <a:solidFill>
              <a:srgbClr val="F2C9C0"/>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1577340" y="1920240"/>
            <a:ext cx="548640" cy="548640"/>
          </a:xfrm>
          <a:prstGeom prst="ellipse">
            <a:avLst/>
          </a:prstGeom>
          <a:solidFill>
            <a:srgbClr val="C0503C"/>
          </a:solidFill>
          <a:ln w="12700">
            <a:solidFill>
              <a:srgbClr val="C0503C"/>
            </a:solidFill>
            <a:prstDash val="solid"/>
          </a:ln>
        </p:spPr>
        <p:txBody>
          <a:bodyPr/>
          <a:lstStyle/>
          <a:p>
            <a:endParaRPr lang="en-US"/>
          </a:p>
        </p:txBody>
      </p:sp>
      <p:sp>
        <p:nvSpPr>
          <p:cNvPr id="6" name="Text 4"/>
          <p:cNvSpPr/>
          <p:nvPr/>
        </p:nvSpPr>
        <p:spPr>
          <a:xfrm>
            <a:off x="1577340" y="192024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7" name="Text 5"/>
          <p:cNvSpPr/>
          <p:nvPr/>
        </p:nvSpPr>
        <p:spPr>
          <a:xfrm>
            <a:off x="713232" y="2606040"/>
            <a:ext cx="2276856" cy="548640"/>
          </a:xfrm>
          <a:prstGeom prst="rect">
            <a:avLst/>
          </a:prstGeom>
          <a:noFill/>
          <a:ln/>
        </p:spPr>
        <p:txBody>
          <a:bodyPr wrap="square" lIns="0" tIns="0" rIns="0" bIns="0" rtlCol="0" anchor="ctr"/>
          <a:lstStyle/>
          <a:p>
            <a:pPr marL="0" indent="0" algn="ctr">
              <a:buNone/>
            </a:pPr>
            <a:r>
              <a:rPr lang="en-US" sz="1400" b="1" dirty="0">
                <a:solidFill>
                  <a:srgbClr val="8C2F1D"/>
                </a:solidFill>
                <a:latin typeface="Arial" pitchFamily="34" charset="0"/>
                <a:ea typeface="Arial" pitchFamily="34" charset="-122"/>
                <a:cs typeface="Arial" pitchFamily="34" charset="-120"/>
              </a:rPr>
              <a:t>Cannot act</a:t>
            </a:r>
            <a:endParaRPr lang="en-US" sz="1400" dirty="0"/>
          </a:p>
        </p:txBody>
      </p:sp>
      <p:sp>
        <p:nvSpPr>
          <p:cNvPr id="8" name="Text 6"/>
          <p:cNvSpPr/>
          <p:nvPr/>
        </p:nvSpPr>
        <p:spPr>
          <a:xfrm>
            <a:off x="713232" y="3154680"/>
            <a:ext cx="2276856" cy="777240"/>
          </a:xfrm>
          <a:prstGeom prst="rect">
            <a:avLst/>
          </a:prstGeom>
          <a:noFill/>
          <a:ln/>
        </p:spPr>
        <p:txBody>
          <a:bodyPr wrap="square" lIns="0" tIns="0" rIns="0" bIns="0" rtlCol="0" anchor="ctr"/>
          <a:lstStyle/>
          <a:p>
            <a:pPr marL="0" indent="0" algn="ctr">
              <a:buNone/>
            </a:pPr>
            <a:r>
              <a:rPr lang="en-US" sz="1100" dirty="0">
                <a:solidFill>
                  <a:srgbClr val="8C2F1D"/>
                </a:solidFill>
                <a:latin typeface="Calibri" pitchFamily="34" charset="0"/>
                <a:ea typeface="Calibri" pitchFamily="34" charset="-122"/>
                <a:cs typeface="Calibri" pitchFamily="34" charset="-120"/>
              </a:rPr>
              <a:t>It writes the email. It cannot send it, update the ticket or call the API.</a:t>
            </a:r>
            <a:endParaRPr lang="en-US" sz="1100" dirty="0"/>
          </a:p>
        </p:txBody>
      </p:sp>
      <p:sp>
        <p:nvSpPr>
          <p:cNvPr id="9" name="Shape 7"/>
          <p:cNvSpPr/>
          <p:nvPr/>
        </p:nvSpPr>
        <p:spPr>
          <a:xfrm>
            <a:off x="3374136" y="1691640"/>
            <a:ext cx="2606040" cy="2331720"/>
          </a:xfrm>
          <a:prstGeom prst="roundRect">
            <a:avLst>
              <a:gd name="adj" fmla="val 3529"/>
            </a:avLst>
          </a:prstGeom>
          <a:solidFill>
            <a:srgbClr val="FDF0EE"/>
          </a:solidFill>
          <a:ln w="12700">
            <a:solidFill>
              <a:srgbClr val="F2C9C0"/>
            </a:solidFill>
            <a:prstDash val="solid"/>
          </a:ln>
          <a:effectLst>
            <a:outerShdw blurRad="127000" dist="25400" dir="5400000" algn="bl" rotWithShape="0">
              <a:srgbClr val="9AA0BE">
                <a:alpha val="30000"/>
              </a:srgbClr>
            </a:outerShdw>
          </a:effectLst>
        </p:spPr>
        <p:txBody>
          <a:bodyPr/>
          <a:lstStyle/>
          <a:p>
            <a:endParaRPr lang="en-US"/>
          </a:p>
        </p:txBody>
      </p:sp>
      <p:sp>
        <p:nvSpPr>
          <p:cNvPr id="10" name="Shape 8"/>
          <p:cNvSpPr/>
          <p:nvPr/>
        </p:nvSpPr>
        <p:spPr>
          <a:xfrm>
            <a:off x="4402836" y="1920240"/>
            <a:ext cx="548640" cy="548640"/>
          </a:xfrm>
          <a:prstGeom prst="ellipse">
            <a:avLst/>
          </a:prstGeom>
          <a:solidFill>
            <a:srgbClr val="C0503C"/>
          </a:solidFill>
          <a:ln w="12700">
            <a:solidFill>
              <a:srgbClr val="C0503C"/>
            </a:solidFill>
            <a:prstDash val="solid"/>
          </a:ln>
        </p:spPr>
        <p:txBody>
          <a:bodyPr/>
          <a:lstStyle/>
          <a:p>
            <a:endParaRPr lang="en-US"/>
          </a:p>
        </p:txBody>
      </p:sp>
      <p:sp>
        <p:nvSpPr>
          <p:cNvPr id="11" name="Text 9"/>
          <p:cNvSpPr/>
          <p:nvPr/>
        </p:nvSpPr>
        <p:spPr>
          <a:xfrm>
            <a:off x="4402836" y="192024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2" name="Text 10"/>
          <p:cNvSpPr/>
          <p:nvPr/>
        </p:nvSpPr>
        <p:spPr>
          <a:xfrm>
            <a:off x="3538728" y="2606040"/>
            <a:ext cx="2276856" cy="548640"/>
          </a:xfrm>
          <a:prstGeom prst="rect">
            <a:avLst/>
          </a:prstGeom>
          <a:noFill/>
          <a:ln/>
        </p:spPr>
        <p:txBody>
          <a:bodyPr wrap="square" lIns="0" tIns="0" rIns="0" bIns="0" rtlCol="0" anchor="ctr"/>
          <a:lstStyle/>
          <a:p>
            <a:pPr marL="0" indent="0" algn="ctr">
              <a:buNone/>
            </a:pPr>
            <a:r>
              <a:rPr lang="en-US" sz="1400" b="1" dirty="0">
                <a:solidFill>
                  <a:srgbClr val="8C2F1D"/>
                </a:solidFill>
                <a:latin typeface="Arial" pitchFamily="34" charset="0"/>
                <a:ea typeface="Arial" pitchFamily="34" charset="-122"/>
                <a:cs typeface="Arial" pitchFamily="34" charset="-120"/>
              </a:rPr>
              <a:t>Cannot check itself</a:t>
            </a:r>
            <a:endParaRPr lang="en-US" sz="1400" dirty="0"/>
          </a:p>
        </p:txBody>
      </p:sp>
      <p:sp>
        <p:nvSpPr>
          <p:cNvPr id="13" name="Text 11"/>
          <p:cNvSpPr/>
          <p:nvPr/>
        </p:nvSpPr>
        <p:spPr>
          <a:xfrm>
            <a:off x="3538728" y="3154680"/>
            <a:ext cx="2276856" cy="777240"/>
          </a:xfrm>
          <a:prstGeom prst="rect">
            <a:avLst/>
          </a:prstGeom>
          <a:noFill/>
          <a:ln/>
        </p:spPr>
        <p:txBody>
          <a:bodyPr wrap="square" lIns="0" tIns="0" rIns="0" bIns="0" rtlCol="0" anchor="ctr"/>
          <a:lstStyle/>
          <a:p>
            <a:pPr marL="0" indent="0" algn="ctr">
              <a:buNone/>
            </a:pPr>
            <a:r>
              <a:rPr lang="en-US" sz="1100" dirty="0">
                <a:solidFill>
                  <a:srgbClr val="8C2F1D"/>
                </a:solidFill>
                <a:latin typeface="Calibri" pitchFamily="34" charset="0"/>
                <a:ea typeface="Calibri" pitchFamily="34" charset="-122"/>
                <a:cs typeface="Calibri" pitchFamily="34" charset="-120"/>
              </a:rPr>
              <a:t>One pass, one answer. No verification step, no retry when the answer is wrong.</a:t>
            </a:r>
            <a:endParaRPr lang="en-US" sz="1100" dirty="0"/>
          </a:p>
        </p:txBody>
      </p:sp>
      <p:sp>
        <p:nvSpPr>
          <p:cNvPr id="14" name="Shape 12"/>
          <p:cNvSpPr/>
          <p:nvPr/>
        </p:nvSpPr>
        <p:spPr>
          <a:xfrm>
            <a:off x="6199632" y="1691640"/>
            <a:ext cx="2606040" cy="2331720"/>
          </a:xfrm>
          <a:prstGeom prst="roundRect">
            <a:avLst>
              <a:gd name="adj" fmla="val 3529"/>
            </a:avLst>
          </a:prstGeom>
          <a:solidFill>
            <a:srgbClr val="FDF0EE"/>
          </a:solidFill>
          <a:ln w="12700">
            <a:solidFill>
              <a:srgbClr val="F2C9C0"/>
            </a:solidFill>
            <a:prstDash val="solid"/>
          </a:ln>
          <a:effectLst>
            <a:outerShdw blurRad="127000" dist="25400" dir="5400000" algn="bl" rotWithShape="0">
              <a:srgbClr val="9AA0BE">
                <a:alpha val="30000"/>
              </a:srgbClr>
            </a:outerShdw>
          </a:effectLst>
        </p:spPr>
        <p:txBody>
          <a:bodyPr/>
          <a:lstStyle/>
          <a:p>
            <a:endParaRPr lang="en-US"/>
          </a:p>
        </p:txBody>
      </p:sp>
      <p:sp>
        <p:nvSpPr>
          <p:cNvPr id="15" name="Shape 13"/>
          <p:cNvSpPr/>
          <p:nvPr/>
        </p:nvSpPr>
        <p:spPr>
          <a:xfrm>
            <a:off x="7228332" y="1920240"/>
            <a:ext cx="548640" cy="548640"/>
          </a:xfrm>
          <a:prstGeom prst="ellipse">
            <a:avLst/>
          </a:prstGeom>
          <a:solidFill>
            <a:srgbClr val="C0503C"/>
          </a:solidFill>
          <a:ln w="12700">
            <a:solidFill>
              <a:srgbClr val="C0503C"/>
            </a:solidFill>
            <a:prstDash val="solid"/>
          </a:ln>
        </p:spPr>
        <p:txBody>
          <a:bodyPr/>
          <a:lstStyle/>
          <a:p>
            <a:endParaRPr lang="en-US"/>
          </a:p>
        </p:txBody>
      </p:sp>
      <p:sp>
        <p:nvSpPr>
          <p:cNvPr id="16" name="Text 14"/>
          <p:cNvSpPr/>
          <p:nvPr/>
        </p:nvSpPr>
        <p:spPr>
          <a:xfrm>
            <a:off x="7228332" y="192024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7" name="Text 15"/>
          <p:cNvSpPr/>
          <p:nvPr/>
        </p:nvSpPr>
        <p:spPr>
          <a:xfrm>
            <a:off x="6364224" y="2606040"/>
            <a:ext cx="2276856" cy="548640"/>
          </a:xfrm>
          <a:prstGeom prst="rect">
            <a:avLst/>
          </a:prstGeom>
          <a:noFill/>
          <a:ln/>
        </p:spPr>
        <p:txBody>
          <a:bodyPr wrap="square" lIns="0" tIns="0" rIns="0" bIns="0" rtlCol="0" anchor="ctr"/>
          <a:lstStyle/>
          <a:p>
            <a:pPr marL="0" indent="0" algn="ctr">
              <a:buNone/>
            </a:pPr>
            <a:r>
              <a:rPr lang="en-US" sz="1400" b="1" dirty="0">
                <a:solidFill>
                  <a:srgbClr val="8C2F1D"/>
                </a:solidFill>
                <a:latin typeface="Arial" pitchFamily="34" charset="0"/>
                <a:ea typeface="Arial" pitchFamily="34" charset="-122"/>
                <a:cs typeface="Arial" pitchFamily="34" charset="-120"/>
              </a:rPr>
              <a:t>Forgets everything</a:t>
            </a:r>
            <a:endParaRPr lang="en-US" sz="1400" dirty="0"/>
          </a:p>
        </p:txBody>
      </p:sp>
      <p:sp>
        <p:nvSpPr>
          <p:cNvPr id="18" name="Text 16"/>
          <p:cNvSpPr/>
          <p:nvPr/>
        </p:nvSpPr>
        <p:spPr>
          <a:xfrm>
            <a:off x="6364224" y="3154680"/>
            <a:ext cx="2276856" cy="777240"/>
          </a:xfrm>
          <a:prstGeom prst="rect">
            <a:avLst/>
          </a:prstGeom>
          <a:noFill/>
          <a:ln/>
        </p:spPr>
        <p:txBody>
          <a:bodyPr wrap="square" lIns="0" tIns="0" rIns="0" bIns="0" rtlCol="0" anchor="ctr"/>
          <a:lstStyle/>
          <a:p>
            <a:pPr marL="0" indent="0" algn="ctr">
              <a:buNone/>
            </a:pPr>
            <a:r>
              <a:rPr lang="en-US" sz="1100" dirty="0">
                <a:solidFill>
                  <a:srgbClr val="8C2F1D"/>
                </a:solidFill>
                <a:latin typeface="Calibri" pitchFamily="34" charset="0"/>
                <a:ea typeface="Calibri" pitchFamily="34" charset="-122"/>
                <a:cs typeface="Calibri" pitchFamily="34" charset="-120"/>
              </a:rPr>
              <a:t>Each session starts blank. Nothing carries over unless you paste it back in.</a:t>
            </a:r>
            <a:endParaRPr lang="en-US" sz="1100" dirty="0"/>
          </a:p>
        </p:txBody>
      </p:sp>
      <p:sp>
        <p:nvSpPr>
          <p:cNvPr id="19" name="Shape 17"/>
          <p:cNvSpPr/>
          <p:nvPr/>
        </p:nvSpPr>
        <p:spPr>
          <a:xfrm>
            <a:off x="9025128" y="1691640"/>
            <a:ext cx="2606040" cy="2331720"/>
          </a:xfrm>
          <a:prstGeom prst="roundRect">
            <a:avLst>
              <a:gd name="adj" fmla="val 3529"/>
            </a:avLst>
          </a:prstGeom>
          <a:solidFill>
            <a:srgbClr val="FDF0EE"/>
          </a:solidFill>
          <a:ln w="12700">
            <a:solidFill>
              <a:srgbClr val="F2C9C0"/>
            </a:solidFill>
            <a:prstDash val="solid"/>
          </a:ln>
          <a:effectLst>
            <a:outerShdw blurRad="127000" dist="25400" dir="5400000" algn="bl" rotWithShape="0">
              <a:srgbClr val="9AA0BE">
                <a:alpha val="30000"/>
              </a:srgbClr>
            </a:outerShdw>
          </a:effectLst>
        </p:spPr>
        <p:txBody>
          <a:bodyPr/>
          <a:lstStyle/>
          <a:p>
            <a:endParaRPr lang="en-US"/>
          </a:p>
        </p:txBody>
      </p:sp>
      <p:sp>
        <p:nvSpPr>
          <p:cNvPr id="20" name="Shape 18"/>
          <p:cNvSpPr/>
          <p:nvPr/>
        </p:nvSpPr>
        <p:spPr>
          <a:xfrm>
            <a:off x="10053828" y="1920240"/>
            <a:ext cx="548640" cy="548640"/>
          </a:xfrm>
          <a:prstGeom prst="ellipse">
            <a:avLst/>
          </a:prstGeom>
          <a:solidFill>
            <a:srgbClr val="C0503C"/>
          </a:solidFill>
          <a:ln w="12700">
            <a:solidFill>
              <a:srgbClr val="C0503C"/>
            </a:solidFill>
            <a:prstDash val="solid"/>
          </a:ln>
        </p:spPr>
        <p:txBody>
          <a:bodyPr/>
          <a:lstStyle/>
          <a:p>
            <a:endParaRPr lang="en-US"/>
          </a:p>
        </p:txBody>
      </p:sp>
      <p:sp>
        <p:nvSpPr>
          <p:cNvPr id="21" name="Text 19"/>
          <p:cNvSpPr/>
          <p:nvPr/>
        </p:nvSpPr>
        <p:spPr>
          <a:xfrm>
            <a:off x="10053828" y="192024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22" name="Text 20"/>
          <p:cNvSpPr/>
          <p:nvPr/>
        </p:nvSpPr>
        <p:spPr>
          <a:xfrm>
            <a:off x="9189720" y="2606040"/>
            <a:ext cx="2276856" cy="548640"/>
          </a:xfrm>
          <a:prstGeom prst="rect">
            <a:avLst/>
          </a:prstGeom>
          <a:noFill/>
          <a:ln/>
        </p:spPr>
        <p:txBody>
          <a:bodyPr wrap="square" lIns="0" tIns="0" rIns="0" bIns="0" rtlCol="0" anchor="ctr"/>
          <a:lstStyle/>
          <a:p>
            <a:pPr marL="0" indent="0" algn="ctr">
              <a:buNone/>
            </a:pPr>
            <a:r>
              <a:rPr lang="en-US" sz="1400" b="1" dirty="0">
                <a:solidFill>
                  <a:srgbClr val="8C2F1D"/>
                </a:solidFill>
                <a:latin typeface="Arial" pitchFamily="34" charset="0"/>
                <a:ea typeface="Arial" pitchFamily="34" charset="-122"/>
                <a:cs typeface="Arial" pitchFamily="34" charset="-120"/>
              </a:rPr>
              <a:t>Knows only its training data</a:t>
            </a:r>
            <a:endParaRPr lang="en-US" sz="1400" dirty="0"/>
          </a:p>
        </p:txBody>
      </p:sp>
      <p:sp>
        <p:nvSpPr>
          <p:cNvPr id="23" name="Text 21"/>
          <p:cNvSpPr/>
          <p:nvPr/>
        </p:nvSpPr>
        <p:spPr>
          <a:xfrm>
            <a:off x="9189720" y="3154680"/>
            <a:ext cx="2276856" cy="777240"/>
          </a:xfrm>
          <a:prstGeom prst="rect">
            <a:avLst/>
          </a:prstGeom>
          <a:noFill/>
          <a:ln/>
        </p:spPr>
        <p:txBody>
          <a:bodyPr wrap="square" lIns="0" tIns="0" rIns="0" bIns="0" rtlCol="0" anchor="ctr"/>
          <a:lstStyle/>
          <a:p>
            <a:pPr marL="0" indent="0" algn="ctr">
              <a:buNone/>
            </a:pPr>
            <a:r>
              <a:rPr lang="en-US" sz="1100" dirty="0">
                <a:solidFill>
                  <a:srgbClr val="8C2F1D"/>
                </a:solidFill>
                <a:latin typeface="Calibri" pitchFamily="34" charset="0"/>
                <a:ea typeface="Calibri" pitchFamily="34" charset="-122"/>
                <a:cs typeface="Calibri" pitchFamily="34" charset="-120"/>
              </a:rPr>
              <a:t>No live prices, no today's inventory, nothing behind your firewall.</a:t>
            </a:r>
            <a:endParaRPr lang="en-US" sz="1100" dirty="0"/>
          </a:p>
        </p:txBody>
      </p:sp>
      <p:sp>
        <p:nvSpPr>
          <p:cNvPr id="24" name="Shape 22"/>
          <p:cNvSpPr/>
          <p:nvPr/>
        </p:nvSpPr>
        <p:spPr>
          <a:xfrm>
            <a:off x="5852160" y="4206240"/>
            <a:ext cx="502920" cy="502920"/>
          </a:xfrm>
          <a:prstGeom prst="downArrow">
            <a:avLst/>
          </a:prstGeom>
          <a:solidFill>
            <a:srgbClr val="9DA0DD"/>
          </a:solidFill>
          <a:ln w="12700">
            <a:solidFill>
              <a:srgbClr val="9DA0DD"/>
            </a:solidFill>
            <a:prstDash val="solid"/>
          </a:ln>
        </p:spPr>
        <p:txBody>
          <a:bodyPr/>
          <a:lstStyle/>
          <a:p>
            <a:endParaRPr lang="en-US"/>
          </a:p>
        </p:txBody>
      </p:sp>
      <p:sp>
        <p:nvSpPr>
          <p:cNvPr id="25" name="Shape 23"/>
          <p:cNvSpPr/>
          <p:nvPr/>
        </p:nvSpPr>
        <p:spPr>
          <a:xfrm>
            <a:off x="548640" y="4892040"/>
            <a:ext cx="11091672" cy="1508760"/>
          </a:xfrm>
          <a:prstGeom prst="roundRect">
            <a:avLst>
              <a:gd name="adj" fmla="val 5455"/>
            </a:avLst>
          </a:prstGeom>
          <a:solidFill>
            <a:srgbClr val="101034"/>
          </a:solidFill>
          <a:ln w="12700">
            <a:solidFill>
              <a:srgbClr val="101034"/>
            </a:solidFill>
            <a:prstDash val="solid"/>
          </a:ln>
          <a:effectLst>
            <a:outerShdw blurRad="127000" dist="25400" dir="5400000" algn="bl" rotWithShape="0">
              <a:srgbClr val="9AA0BE">
                <a:alpha val="30000"/>
              </a:srgbClr>
            </a:outerShdw>
          </a:effectLst>
        </p:spPr>
        <p:txBody>
          <a:bodyPr/>
          <a:lstStyle/>
          <a:p>
            <a:endParaRPr lang="en-US"/>
          </a:p>
        </p:txBody>
      </p:sp>
      <p:sp>
        <p:nvSpPr>
          <p:cNvPr id="26" name="Text 24"/>
          <p:cNvSpPr/>
          <p:nvPr/>
        </p:nvSpPr>
        <p:spPr>
          <a:xfrm>
            <a:off x="1005840" y="5074920"/>
            <a:ext cx="10241280" cy="411480"/>
          </a:xfrm>
          <a:prstGeom prst="rect">
            <a:avLst/>
          </a:prstGeom>
          <a:noFill/>
          <a:ln/>
        </p:spPr>
        <p:txBody>
          <a:bodyPr wrap="square" lIns="0" tIns="0" rIns="0" bIns="0"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Give the model goals, tools and memory — and it becomes an agent</a:t>
            </a:r>
            <a:endParaRPr lang="en-US" sz="2100" dirty="0"/>
          </a:p>
        </p:txBody>
      </p:sp>
      <p:sp>
        <p:nvSpPr>
          <p:cNvPr id="27" name="Text 25"/>
          <p:cNvSpPr/>
          <p:nvPr/>
        </p:nvSpPr>
        <p:spPr>
          <a:xfrm>
            <a:off x="1463040" y="5559552"/>
            <a:ext cx="9326880" cy="640080"/>
          </a:xfrm>
          <a:prstGeom prst="rect">
            <a:avLst/>
          </a:prstGeom>
          <a:noFill/>
          <a:ln/>
        </p:spPr>
        <p:txBody>
          <a:bodyPr wrap="square" lIns="0" tIns="0" rIns="0" bIns="0" rtlCol="0" anchor="ctr"/>
          <a:lstStyle/>
          <a:p>
            <a:pPr marL="0" indent="0" algn="ctr">
              <a:buNone/>
            </a:pPr>
            <a:r>
              <a:rPr lang="en-US" sz="1300" dirty="0">
                <a:solidFill>
                  <a:srgbClr val="9DA0DD"/>
                </a:solidFill>
                <a:latin typeface="Calibri" pitchFamily="34" charset="0"/>
                <a:ea typeface="Calibri" pitchFamily="34" charset="-122"/>
                <a:cs typeface="Calibri" pitchFamily="34" charset="-120"/>
              </a:rPr>
              <a:t>The model stops being the whole product and becomes the reasoning engine inside a system that can plan, call software and check its own work.</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Agentic AI: the loop that changes everything</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An agent is given a goal, not a prompt — and keeps going until the goal is met</a:t>
            </a:r>
            <a:endParaRPr lang="en-US" sz="1400" dirty="0"/>
          </a:p>
        </p:txBody>
      </p:sp>
      <p:sp>
        <p:nvSpPr>
          <p:cNvPr id="4" name="Shape 2"/>
          <p:cNvSpPr/>
          <p:nvPr/>
        </p:nvSpPr>
        <p:spPr>
          <a:xfrm>
            <a:off x="548640" y="1965960"/>
            <a:ext cx="2514600" cy="2377440"/>
          </a:xfrm>
          <a:prstGeom prst="roundRect">
            <a:avLst>
              <a:gd name="adj" fmla="val 3462"/>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548640" y="1965960"/>
            <a:ext cx="2514600" cy="502920"/>
          </a:xfrm>
          <a:prstGeom prst="roundRect">
            <a:avLst>
              <a:gd name="adj" fmla="val 16364"/>
            </a:avLst>
          </a:prstGeom>
          <a:solidFill>
            <a:srgbClr val="2A2D7C"/>
          </a:solidFill>
          <a:ln w="12700">
            <a:solidFill>
              <a:srgbClr val="2A2D7C"/>
            </a:solidFill>
            <a:prstDash val="solid"/>
          </a:ln>
        </p:spPr>
        <p:txBody>
          <a:bodyPr/>
          <a:lstStyle/>
          <a:p>
            <a:endParaRPr lang="en-US"/>
          </a:p>
        </p:txBody>
      </p:sp>
      <p:sp>
        <p:nvSpPr>
          <p:cNvPr id="6" name="Shape 4"/>
          <p:cNvSpPr/>
          <p:nvPr/>
        </p:nvSpPr>
        <p:spPr>
          <a:xfrm>
            <a:off x="548640" y="2240280"/>
            <a:ext cx="2514600" cy="228600"/>
          </a:xfrm>
          <a:prstGeom prst="rect">
            <a:avLst/>
          </a:prstGeom>
          <a:solidFill>
            <a:srgbClr val="2A2D7C"/>
          </a:solidFill>
          <a:ln w="12700">
            <a:solidFill>
              <a:srgbClr val="2A2D7C"/>
            </a:solidFill>
            <a:prstDash val="solid"/>
          </a:ln>
        </p:spPr>
        <p:txBody>
          <a:bodyPr/>
          <a:lstStyle/>
          <a:p>
            <a:endParaRPr lang="en-US"/>
          </a:p>
        </p:txBody>
      </p:sp>
      <p:sp>
        <p:nvSpPr>
          <p:cNvPr id="7" name="Text 5"/>
          <p:cNvSpPr/>
          <p:nvPr/>
        </p:nvSpPr>
        <p:spPr>
          <a:xfrm>
            <a:off x="685800" y="1965960"/>
            <a:ext cx="2240280" cy="502920"/>
          </a:xfrm>
          <a:prstGeom prst="rect">
            <a:avLst/>
          </a:prstGeom>
          <a:noFill/>
          <a:ln/>
        </p:spPr>
        <p:txBody>
          <a:bodyPr wrap="square" lIns="0" tIns="0" rIns="0" bIns="0" rtlCol="0" anchor="ctr"/>
          <a:lstStyle/>
          <a:p>
            <a:pPr marL="0" indent="0" algn="ctr">
              <a:buNone/>
            </a:pPr>
            <a:r>
              <a:rPr lang="en-US" sz="1250" b="1" kern="0" spc="150" dirty="0">
                <a:solidFill>
                  <a:srgbClr val="FFFFFF"/>
                </a:solidFill>
                <a:latin typeface="Arial" pitchFamily="34" charset="0"/>
                <a:ea typeface="Arial" pitchFamily="34" charset="-122"/>
                <a:cs typeface="Arial" pitchFamily="34" charset="-120"/>
              </a:rPr>
              <a:t>PERCEIVE</a:t>
            </a:r>
            <a:endParaRPr lang="en-US" sz="1250" dirty="0"/>
          </a:p>
        </p:txBody>
      </p:sp>
      <p:sp>
        <p:nvSpPr>
          <p:cNvPr id="8" name="Text 6"/>
          <p:cNvSpPr/>
          <p:nvPr/>
        </p:nvSpPr>
        <p:spPr>
          <a:xfrm>
            <a:off x="685800" y="2606040"/>
            <a:ext cx="2240280" cy="502920"/>
          </a:xfrm>
          <a:prstGeom prst="rect">
            <a:avLst/>
          </a:prstGeom>
          <a:noFill/>
          <a:ln/>
        </p:spPr>
        <p:txBody>
          <a:bodyPr wrap="square" lIns="0" tIns="0" rIns="0" bIns="0" rtlCol="0" anchor="ctr"/>
          <a:lstStyle/>
          <a:p>
            <a:pPr marL="0" indent="0" algn="ctr">
              <a:buNone/>
            </a:pPr>
            <a:r>
              <a:rPr lang="en-US" sz="3000" b="1" dirty="0">
                <a:solidFill>
                  <a:srgbClr val="DDE0F0"/>
                </a:solidFill>
                <a:latin typeface="Arial" pitchFamily="34" charset="0"/>
                <a:ea typeface="Arial" pitchFamily="34" charset="-122"/>
                <a:cs typeface="Arial" pitchFamily="34" charset="-120"/>
              </a:rPr>
              <a:t>1</a:t>
            </a:r>
            <a:endParaRPr lang="en-US" sz="3000" dirty="0"/>
          </a:p>
        </p:txBody>
      </p:sp>
      <p:sp>
        <p:nvSpPr>
          <p:cNvPr id="9" name="Text 7"/>
          <p:cNvSpPr/>
          <p:nvPr/>
        </p:nvSpPr>
        <p:spPr>
          <a:xfrm>
            <a:off x="731520" y="3200400"/>
            <a:ext cx="2148840" cy="1005840"/>
          </a:xfrm>
          <a:prstGeom prst="rect">
            <a:avLst/>
          </a:prstGeom>
          <a:noFill/>
          <a:ln/>
        </p:spPr>
        <p:txBody>
          <a:bodyPr wrap="square" lIns="0" tIns="0" rIns="0" bIns="0" rtlCol="0" anchor="ctr"/>
          <a:lstStyle/>
          <a:p>
            <a:pPr marL="0" indent="0" algn="ctr">
              <a:buNone/>
            </a:pPr>
            <a:r>
              <a:rPr lang="en-US" sz="1150" dirty="0">
                <a:solidFill>
                  <a:srgbClr val="5A5F73"/>
                </a:solidFill>
                <a:latin typeface="Calibri" pitchFamily="34" charset="0"/>
                <a:ea typeface="Calibri" pitchFamily="34" charset="-122"/>
                <a:cs typeface="Calibri" pitchFamily="34" charset="-120"/>
              </a:rPr>
              <a:t>Read the goal, the context and the current state of the world.</a:t>
            </a:r>
            <a:endParaRPr lang="en-US" sz="1150" dirty="0"/>
          </a:p>
        </p:txBody>
      </p:sp>
      <p:sp>
        <p:nvSpPr>
          <p:cNvPr id="10" name="Shape 8"/>
          <p:cNvSpPr/>
          <p:nvPr/>
        </p:nvSpPr>
        <p:spPr>
          <a:xfrm>
            <a:off x="3108960" y="297180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11" name="Shape 9"/>
          <p:cNvSpPr/>
          <p:nvPr/>
        </p:nvSpPr>
        <p:spPr>
          <a:xfrm>
            <a:off x="3401568" y="1965960"/>
            <a:ext cx="2514600" cy="2377440"/>
          </a:xfrm>
          <a:prstGeom prst="roundRect">
            <a:avLst>
              <a:gd name="adj" fmla="val 3462"/>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2" name="Shape 10"/>
          <p:cNvSpPr/>
          <p:nvPr/>
        </p:nvSpPr>
        <p:spPr>
          <a:xfrm>
            <a:off x="3401568" y="1965960"/>
            <a:ext cx="2514600" cy="502920"/>
          </a:xfrm>
          <a:prstGeom prst="roundRect">
            <a:avLst>
              <a:gd name="adj" fmla="val 16364"/>
            </a:avLst>
          </a:prstGeom>
          <a:solidFill>
            <a:srgbClr val="5B5FBF"/>
          </a:solidFill>
          <a:ln w="12700">
            <a:solidFill>
              <a:srgbClr val="5B5FBF"/>
            </a:solidFill>
            <a:prstDash val="solid"/>
          </a:ln>
        </p:spPr>
        <p:txBody>
          <a:bodyPr/>
          <a:lstStyle/>
          <a:p>
            <a:endParaRPr lang="en-US"/>
          </a:p>
        </p:txBody>
      </p:sp>
      <p:sp>
        <p:nvSpPr>
          <p:cNvPr id="13" name="Shape 11"/>
          <p:cNvSpPr/>
          <p:nvPr/>
        </p:nvSpPr>
        <p:spPr>
          <a:xfrm>
            <a:off x="3401568" y="2240280"/>
            <a:ext cx="2514600" cy="228600"/>
          </a:xfrm>
          <a:prstGeom prst="rect">
            <a:avLst/>
          </a:prstGeom>
          <a:solidFill>
            <a:srgbClr val="5B5FBF"/>
          </a:solidFill>
          <a:ln w="12700">
            <a:solidFill>
              <a:srgbClr val="5B5FBF"/>
            </a:solidFill>
            <a:prstDash val="solid"/>
          </a:ln>
        </p:spPr>
        <p:txBody>
          <a:bodyPr/>
          <a:lstStyle/>
          <a:p>
            <a:endParaRPr lang="en-US"/>
          </a:p>
        </p:txBody>
      </p:sp>
      <p:sp>
        <p:nvSpPr>
          <p:cNvPr id="14" name="Text 12"/>
          <p:cNvSpPr/>
          <p:nvPr/>
        </p:nvSpPr>
        <p:spPr>
          <a:xfrm>
            <a:off x="3538728" y="1965960"/>
            <a:ext cx="2240280" cy="502920"/>
          </a:xfrm>
          <a:prstGeom prst="rect">
            <a:avLst/>
          </a:prstGeom>
          <a:noFill/>
          <a:ln/>
        </p:spPr>
        <p:txBody>
          <a:bodyPr wrap="square" lIns="0" tIns="0" rIns="0" bIns="0" rtlCol="0" anchor="ctr"/>
          <a:lstStyle/>
          <a:p>
            <a:pPr marL="0" indent="0" algn="ctr">
              <a:buNone/>
            </a:pPr>
            <a:r>
              <a:rPr lang="en-US" sz="1250" b="1" kern="0" spc="150" dirty="0">
                <a:solidFill>
                  <a:srgbClr val="FFFFFF"/>
                </a:solidFill>
                <a:latin typeface="Arial" pitchFamily="34" charset="0"/>
                <a:ea typeface="Arial" pitchFamily="34" charset="-122"/>
                <a:cs typeface="Arial" pitchFamily="34" charset="-120"/>
              </a:rPr>
              <a:t>PLAN</a:t>
            </a:r>
            <a:endParaRPr lang="en-US" sz="1250" dirty="0"/>
          </a:p>
        </p:txBody>
      </p:sp>
      <p:sp>
        <p:nvSpPr>
          <p:cNvPr id="15" name="Text 13"/>
          <p:cNvSpPr/>
          <p:nvPr/>
        </p:nvSpPr>
        <p:spPr>
          <a:xfrm>
            <a:off x="3538728" y="2606040"/>
            <a:ext cx="2240280" cy="502920"/>
          </a:xfrm>
          <a:prstGeom prst="rect">
            <a:avLst/>
          </a:prstGeom>
          <a:noFill/>
          <a:ln/>
        </p:spPr>
        <p:txBody>
          <a:bodyPr wrap="square" lIns="0" tIns="0" rIns="0" bIns="0" rtlCol="0" anchor="ctr"/>
          <a:lstStyle/>
          <a:p>
            <a:pPr marL="0" indent="0" algn="ctr">
              <a:buNone/>
            </a:pPr>
            <a:r>
              <a:rPr lang="en-US" sz="3000" b="1" dirty="0">
                <a:solidFill>
                  <a:srgbClr val="DDE0F0"/>
                </a:solidFill>
                <a:latin typeface="Arial" pitchFamily="34" charset="0"/>
                <a:ea typeface="Arial" pitchFamily="34" charset="-122"/>
                <a:cs typeface="Arial" pitchFamily="34" charset="-120"/>
              </a:rPr>
              <a:t>2</a:t>
            </a:r>
            <a:endParaRPr lang="en-US" sz="3000" dirty="0"/>
          </a:p>
        </p:txBody>
      </p:sp>
      <p:sp>
        <p:nvSpPr>
          <p:cNvPr id="16" name="Text 14"/>
          <p:cNvSpPr/>
          <p:nvPr/>
        </p:nvSpPr>
        <p:spPr>
          <a:xfrm>
            <a:off x="3584448" y="3200400"/>
            <a:ext cx="2148840" cy="1005840"/>
          </a:xfrm>
          <a:prstGeom prst="rect">
            <a:avLst/>
          </a:prstGeom>
          <a:noFill/>
          <a:ln/>
        </p:spPr>
        <p:txBody>
          <a:bodyPr wrap="square" lIns="0" tIns="0" rIns="0" bIns="0" rtlCol="0" anchor="ctr"/>
          <a:lstStyle/>
          <a:p>
            <a:pPr marL="0" indent="0" algn="ctr">
              <a:buNone/>
            </a:pPr>
            <a:r>
              <a:rPr lang="en-US" sz="1150" dirty="0">
                <a:solidFill>
                  <a:srgbClr val="5A5F73"/>
                </a:solidFill>
                <a:latin typeface="Calibri" pitchFamily="34" charset="0"/>
                <a:ea typeface="Calibri" pitchFamily="34" charset="-122"/>
                <a:cs typeface="Calibri" pitchFamily="34" charset="-120"/>
              </a:rPr>
              <a:t>Break the goal into steps and decide which tool to use next.</a:t>
            </a:r>
            <a:endParaRPr lang="en-US" sz="1150" dirty="0"/>
          </a:p>
        </p:txBody>
      </p:sp>
      <p:sp>
        <p:nvSpPr>
          <p:cNvPr id="17" name="Shape 15"/>
          <p:cNvSpPr/>
          <p:nvPr/>
        </p:nvSpPr>
        <p:spPr>
          <a:xfrm>
            <a:off x="5961888" y="297180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18" name="Shape 16"/>
          <p:cNvSpPr/>
          <p:nvPr/>
        </p:nvSpPr>
        <p:spPr>
          <a:xfrm>
            <a:off x="6254496" y="1965960"/>
            <a:ext cx="2514600" cy="2377440"/>
          </a:xfrm>
          <a:prstGeom prst="roundRect">
            <a:avLst>
              <a:gd name="adj" fmla="val 3462"/>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9" name="Shape 17"/>
          <p:cNvSpPr/>
          <p:nvPr/>
        </p:nvSpPr>
        <p:spPr>
          <a:xfrm>
            <a:off x="6254496" y="1965960"/>
            <a:ext cx="2514600" cy="502920"/>
          </a:xfrm>
          <a:prstGeom prst="roundRect">
            <a:avLst>
              <a:gd name="adj" fmla="val 16364"/>
            </a:avLst>
          </a:prstGeom>
          <a:solidFill>
            <a:srgbClr val="00A6A6"/>
          </a:solidFill>
          <a:ln w="12700">
            <a:solidFill>
              <a:srgbClr val="00A6A6"/>
            </a:solidFill>
            <a:prstDash val="solid"/>
          </a:ln>
        </p:spPr>
        <p:txBody>
          <a:bodyPr/>
          <a:lstStyle/>
          <a:p>
            <a:endParaRPr lang="en-US"/>
          </a:p>
        </p:txBody>
      </p:sp>
      <p:sp>
        <p:nvSpPr>
          <p:cNvPr id="20" name="Shape 18"/>
          <p:cNvSpPr/>
          <p:nvPr/>
        </p:nvSpPr>
        <p:spPr>
          <a:xfrm>
            <a:off x="6254496" y="2240280"/>
            <a:ext cx="2514600" cy="228600"/>
          </a:xfrm>
          <a:prstGeom prst="rect">
            <a:avLst/>
          </a:prstGeom>
          <a:solidFill>
            <a:srgbClr val="00A6A6"/>
          </a:solidFill>
          <a:ln w="12700">
            <a:solidFill>
              <a:srgbClr val="00A6A6"/>
            </a:solidFill>
            <a:prstDash val="solid"/>
          </a:ln>
        </p:spPr>
        <p:txBody>
          <a:bodyPr/>
          <a:lstStyle/>
          <a:p>
            <a:endParaRPr lang="en-US"/>
          </a:p>
        </p:txBody>
      </p:sp>
      <p:sp>
        <p:nvSpPr>
          <p:cNvPr id="21" name="Text 19"/>
          <p:cNvSpPr/>
          <p:nvPr/>
        </p:nvSpPr>
        <p:spPr>
          <a:xfrm>
            <a:off x="6391656" y="1965960"/>
            <a:ext cx="2240280" cy="502920"/>
          </a:xfrm>
          <a:prstGeom prst="rect">
            <a:avLst/>
          </a:prstGeom>
          <a:noFill/>
          <a:ln/>
        </p:spPr>
        <p:txBody>
          <a:bodyPr wrap="square" lIns="0" tIns="0" rIns="0" bIns="0" rtlCol="0" anchor="ctr"/>
          <a:lstStyle/>
          <a:p>
            <a:pPr marL="0" indent="0" algn="ctr">
              <a:buNone/>
            </a:pPr>
            <a:r>
              <a:rPr lang="en-US" sz="1250" b="1" kern="0" spc="150" dirty="0">
                <a:solidFill>
                  <a:srgbClr val="FFFFFF"/>
                </a:solidFill>
                <a:latin typeface="Arial" pitchFamily="34" charset="0"/>
                <a:ea typeface="Arial" pitchFamily="34" charset="-122"/>
                <a:cs typeface="Arial" pitchFamily="34" charset="-120"/>
              </a:rPr>
              <a:t>ACT</a:t>
            </a:r>
            <a:endParaRPr lang="en-US" sz="1250" dirty="0"/>
          </a:p>
        </p:txBody>
      </p:sp>
      <p:sp>
        <p:nvSpPr>
          <p:cNvPr id="22" name="Text 20"/>
          <p:cNvSpPr/>
          <p:nvPr/>
        </p:nvSpPr>
        <p:spPr>
          <a:xfrm>
            <a:off x="6391656" y="2606040"/>
            <a:ext cx="2240280" cy="502920"/>
          </a:xfrm>
          <a:prstGeom prst="rect">
            <a:avLst/>
          </a:prstGeom>
          <a:noFill/>
          <a:ln/>
        </p:spPr>
        <p:txBody>
          <a:bodyPr wrap="square" lIns="0" tIns="0" rIns="0" bIns="0" rtlCol="0" anchor="ctr"/>
          <a:lstStyle/>
          <a:p>
            <a:pPr marL="0" indent="0" algn="ctr">
              <a:buNone/>
            </a:pPr>
            <a:r>
              <a:rPr lang="en-US" sz="3000" b="1" dirty="0">
                <a:solidFill>
                  <a:srgbClr val="DDE0F0"/>
                </a:solidFill>
                <a:latin typeface="Arial" pitchFamily="34" charset="0"/>
                <a:ea typeface="Arial" pitchFamily="34" charset="-122"/>
                <a:cs typeface="Arial" pitchFamily="34" charset="-120"/>
              </a:rPr>
              <a:t>3</a:t>
            </a:r>
            <a:endParaRPr lang="en-US" sz="3000" dirty="0"/>
          </a:p>
        </p:txBody>
      </p:sp>
      <p:sp>
        <p:nvSpPr>
          <p:cNvPr id="23" name="Text 21"/>
          <p:cNvSpPr/>
          <p:nvPr/>
        </p:nvSpPr>
        <p:spPr>
          <a:xfrm>
            <a:off x="6437376" y="3200400"/>
            <a:ext cx="2148840" cy="1005840"/>
          </a:xfrm>
          <a:prstGeom prst="rect">
            <a:avLst/>
          </a:prstGeom>
          <a:noFill/>
          <a:ln/>
        </p:spPr>
        <p:txBody>
          <a:bodyPr wrap="square" lIns="0" tIns="0" rIns="0" bIns="0" rtlCol="0" anchor="ctr"/>
          <a:lstStyle/>
          <a:p>
            <a:pPr marL="0" indent="0" algn="ctr">
              <a:buNone/>
            </a:pPr>
            <a:r>
              <a:rPr lang="en-US" sz="1150" dirty="0">
                <a:solidFill>
                  <a:srgbClr val="5A5F73"/>
                </a:solidFill>
                <a:latin typeface="Calibri" pitchFamily="34" charset="0"/>
                <a:ea typeface="Calibri" pitchFamily="34" charset="-122"/>
                <a:cs typeface="Calibri" pitchFamily="34" charset="-120"/>
              </a:rPr>
              <a:t>Call an API, query a database, write a file, send a message.</a:t>
            </a:r>
            <a:endParaRPr lang="en-US" sz="1150" dirty="0"/>
          </a:p>
        </p:txBody>
      </p:sp>
      <p:sp>
        <p:nvSpPr>
          <p:cNvPr id="24" name="Shape 22"/>
          <p:cNvSpPr/>
          <p:nvPr/>
        </p:nvSpPr>
        <p:spPr>
          <a:xfrm>
            <a:off x="8814816" y="2971800"/>
            <a:ext cx="274320" cy="274320"/>
          </a:xfrm>
          <a:prstGeom prst="rightArrow">
            <a:avLst/>
          </a:prstGeom>
          <a:solidFill>
            <a:srgbClr val="9DA0DD"/>
          </a:solidFill>
          <a:ln w="12700">
            <a:solidFill>
              <a:srgbClr val="9DA0DD"/>
            </a:solidFill>
            <a:prstDash val="solid"/>
          </a:ln>
        </p:spPr>
        <p:txBody>
          <a:bodyPr/>
          <a:lstStyle/>
          <a:p>
            <a:endParaRPr lang="en-US"/>
          </a:p>
        </p:txBody>
      </p:sp>
      <p:sp>
        <p:nvSpPr>
          <p:cNvPr id="25" name="Shape 23"/>
          <p:cNvSpPr/>
          <p:nvPr/>
        </p:nvSpPr>
        <p:spPr>
          <a:xfrm>
            <a:off x="9107424" y="1965960"/>
            <a:ext cx="2514600" cy="2377440"/>
          </a:xfrm>
          <a:prstGeom prst="roundRect">
            <a:avLst>
              <a:gd name="adj" fmla="val 3462"/>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6" name="Shape 24"/>
          <p:cNvSpPr/>
          <p:nvPr/>
        </p:nvSpPr>
        <p:spPr>
          <a:xfrm>
            <a:off x="9107424" y="1965960"/>
            <a:ext cx="2514600" cy="502920"/>
          </a:xfrm>
          <a:prstGeom prst="roundRect">
            <a:avLst>
              <a:gd name="adj" fmla="val 16364"/>
            </a:avLst>
          </a:prstGeom>
          <a:solidFill>
            <a:srgbClr val="E09400"/>
          </a:solidFill>
          <a:ln w="12700">
            <a:solidFill>
              <a:srgbClr val="E09400"/>
            </a:solidFill>
            <a:prstDash val="solid"/>
          </a:ln>
        </p:spPr>
        <p:txBody>
          <a:bodyPr/>
          <a:lstStyle/>
          <a:p>
            <a:endParaRPr lang="en-US"/>
          </a:p>
        </p:txBody>
      </p:sp>
      <p:sp>
        <p:nvSpPr>
          <p:cNvPr id="27" name="Shape 25"/>
          <p:cNvSpPr/>
          <p:nvPr/>
        </p:nvSpPr>
        <p:spPr>
          <a:xfrm>
            <a:off x="9107424" y="2240280"/>
            <a:ext cx="2514600" cy="228600"/>
          </a:xfrm>
          <a:prstGeom prst="rect">
            <a:avLst/>
          </a:prstGeom>
          <a:solidFill>
            <a:srgbClr val="E09400"/>
          </a:solidFill>
          <a:ln w="12700">
            <a:solidFill>
              <a:srgbClr val="E09400"/>
            </a:solidFill>
            <a:prstDash val="solid"/>
          </a:ln>
        </p:spPr>
        <p:txBody>
          <a:bodyPr/>
          <a:lstStyle/>
          <a:p>
            <a:endParaRPr lang="en-US"/>
          </a:p>
        </p:txBody>
      </p:sp>
      <p:sp>
        <p:nvSpPr>
          <p:cNvPr id="28" name="Text 26"/>
          <p:cNvSpPr/>
          <p:nvPr/>
        </p:nvSpPr>
        <p:spPr>
          <a:xfrm>
            <a:off x="9244584" y="1965960"/>
            <a:ext cx="2240280" cy="502920"/>
          </a:xfrm>
          <a:prstGeom prst="rect">
            <a:avLst/>
          </a:prstGeom>
          <a:noFill/>
          <a:ln/>
        </p:spPr>
        <p:txBody>
          <a:bodyPr wrap="square" lIns="0" tIns="0" rIns="0" bIns="0" rtlCol="0" anchor="ctr"/>
          <a:lstStyle/>
          <a:p>
            <a:pPr marL="0" indent="0" algn="ctr">
              <a:buNone/>
            </a:pPr>
            <a:r>
              <a:rPr lang="en-US" sz="1250" b="1" kern="0" spc="150" dirty="0">
                <a:solidFill>
                  <a:srgbClr val="FFFFFF"/>
                </a:solidFill>
                <a:latin typeface="Arial" pitchFamily="34" charset="0"/>
                <a:ea typeface="Arial" pitchFamily="34" charset="-122"/>
                <a:cs typeface="Arial" pitchFamily="34" charset="-120"/>
              </a:rPr>
              <a:t>OBSERVE</a:t>
            </a:r>
            <a:endParaRPr lang="en-US" sz="1250" dirty="0"/>
          </a:p>
        </p:txBody>
      </p:sp>
      <p:sp>
        <p:nvSpPr>
          <p:cNvPr id="29" name="Text 27"/>
          <p:cNvSpPr/>
          <p:nvPr/>
        </p:nvSpPr>
        <p:spPr>
          <a:xfrm>
            <a:off x="9244584" y="2606040"/>
            <a:ext cx="2240280" cy="502920"/>
          </a:xfrm>
          <a:prstGeom prst="rect">
            <a:avLst/>
          </a:prstGeom>
          <a:noFill/>
          <a:ln/>
        </p:spPr>
        <p:txBody>
          <a:bodyPr wrap="square" lIns="0" tIns="0" rIns="0" bIns="0" rtlCol="0" anchor="ctr"/>
          <a:lstStyle/>
          <a:p>
            <a:pPr marL="0" indent="0" algn="ctr">
              <a:buNone/>
            </a:pPr>
            <a:r>
              <a:rPr lang="en-US" sz="3000" b="1" dirty="0">
                <a:solidFill>
                  <a:srgbClr val="DDE0F0"/>
                </a:solidFill>
                <a:latin typeface="Arial" pitchFamily="34" charset="0"/>
                <a:ea typeface="Arial" pitchFamily="34" charset="-122"/>
                <a:cs typeface="Arial" pitchFamily="34" charset="-120"/>
              </a:rPr>
              <a:t>4</a:t>
            </a:r>
            <a:endParaRPr lang="en-US" sz="3000" dirty="0"/>
          </a:p>
        </p:txBody>
      </p:sp>
      <p:sp>
        <p:nvSpPr>
          <p:cNvPr id="30" name="Text 28"/>
          <p:cNvSpPr/>
          <p:nvPr/>
        </p:nvSpPr>
        <p:spPr>
          <a:xfrm>
            <a:off x="9290304" y="3200400"/>
            <a:ext cx="2148840" cy="1005840"/>
          </a:xfrm>
          <a:prstGeom prst="rect">
            <a:avLst/>
          </a:prstGeom>
          <a:noFill/>
          <a:ln/>
        </p:spPr>
        <p:txBody>
          <a:bodyPr wrap="square" lIns="0" tIns="0" rIns="0" bIns="0" rtlCol="0" anchor="ctr"/>
          <a:lstStyle/>
          <a:p>
            <a:pPr marL="0" indent="0" algn="ctr">
              <a:buNone/>
            </a:pPr>
            <a:r>
              <a:rPr lang="en-US" sz="1150" dirty="0">
                <a:solidFill>
                  <a:srgbClr val="5A5F73"/>
                </a:solidFill>
                <a:latin typeface="Calibri" pitchFamily="34" charset="0"/>
                <a:ea typeface="Calibri" pitchFamily="34" charset="-122"/>
                <a:cs typeface="Calibri" pitchFamily="34" charset="-120"/>
              </a:rPr>
              <a:t>Read the result. Did it work? Is the goal met?</a:t>
            </a:r>
            <a:endParaRPr lang="en-US" sz="1150" dirty="0"/>
          </a:p>
        </p:txBody>
      </p:sp>
      <p:sp>
        <p:nvSpPr>
          <p:cNvPr id="31" name="Shape 29"/>
          <p:cNvSpPr/>
          <p:nvPr/>
        </p:nvSpPr>
        <p:spPr>
          <a:xfrm>
            <a:off x="11064240" y="4343400"/>
            <a:ext cx="0" cy="548640"/>
          </a:xfrm>
          <a:prstGeom prst="line">
            <a:avLst/>
          </a:prstGeom>
          <a:noFill/>
          <a:ln w="25400">
            <a:solidFill>
              <a:srgbClr val="E09400"/>
            </a:solidFill>
            <a:prstDash val="solid"/>
          </a:ln>
        </p:spPr>
        <p:txBody>
          <a:bodyPr/>
          <a:lstStyle/>
          <a:p>
            <a:endParaRPr lang="en-US"/>
          </a:p>
        </p:txBody>
      </p:sp>
      <p:sp>
        <p:nvSpPr>
          <p:cNvPr id="32" name="Shape 30"/>
          <p:cNvSpPr/>
          <p:nvPr/>
        </p:nvSpPr>
        <p:spPr>
          <a:xfrm>
            <a:off x="1234440" y="4892040"/>
            <a:ext cx="9829800" cy="0"/>
          </a:xfrm>
          <a:prstGeom prst="line">
            <a:avLst/>
          </a:prstGeom>
          <a:noFill/>
          <a:ln w="25400">
            <a:solidFill>
              <a:srgbClr val="E09400"/>
            </a:solidFill>
            <a:prstDash val="solid"/>
          </a:ln>
        </p:spPr>
        <p:txBody>
          <a:bodyPr/>
          <a:lstStyle/>
          <a:p>
            <a:endParaRPr lang="en-US"/>
          </a:p>
        </p:txBody>
      </p:sp>
      <p:sp>
        <p:nvSpPr>
          <p:cNvPr id="33" name="Shape 31"/>
          <p:cNvSpPr/>
          <p:nvPr/>
        </p:nvSpPr>
        <p:spPr>
          <a:xfrm>
            <a:off x="1234440" y="4343400"/>
            <a:ext cx="0" cy="548640"/>
          </a:xfrm>
          <a:prstGeom prst="line">
            <a:avLst/>
          </a:prstGeom>
          <a:noFill/>
          <a:ln w="25400">
            <a:solidFill>
              <a:srgbClr val="E09400"/>
            </a:solidFill>
            <a:prstDash val="solid"/>
          </a:ln>
        </p:spPr>
        <p:txBody>
          <a:bodyPr/>
          <a:lstStyle/>
          <a:p>
            <a:endParaRPr lang="en-US"/>
          </a:p>
        </p:txBody>
      </p:sp>
      <p:sp>
        <p:nvSpPr>
          <p:cNvPr id="34" name="Text 32"/>
          <p:cNvSpPr/>
          <p:nvPr/>
        </p:nvSpPr>
        <p:spPr>
          <a:xfrm>
            <a:off x="4206240" y="4956048"/>
            <a:ext cx="4206240" cy="292608"/>
          </a:xfrm>
          <a:prstGeom prst="rect">
            <a:avLst/>
          </a:prstGeom>
          <a:noFill/>
          <a:ln/>
        </p:spPr>
        <p:txBody>
          <a:bodyPr wrap="square" lIns="0" tIns="0" rIns="0" bIns="0" rtlCol="0" anchor="ctr"/>
          <a:lstStyle/>
          <a:p>
            <a:pPr marL="0" indent="0" algn="ctr">
              <a:buNone/>
            </a:pPr>
            <a:r>
              <a:rPr lang="en-US" sz="1150" b="1" i="1" dirty="0">
                <a:solidFill>
                  <a:srgbClr val="E09400"/>
                </a:solidFill>
                <a:latin typeface="Calibri" pitchFamily="34" charset="0"/>
                <a:ea typeface="Calibri" pitchFamily="34" charset="-122"/>
                <a:cs typeface="Calibri" pitchFamily="34" charset="-120"/>
              </a:rPr>
              <a:t>not done yet → loop again with what it learned</a:t>
            </a:r>
            <a:endParaRPr lang="en-US" sz="1150" dirty="0"/>
          </a:p>
        </p:txBody>
      </p:sp>
      <p:sp>
        <p:nvSpPr>
          <p:cNvPr id="35" name="Shape 33"/>
          <p:cNvSpPr/>
          <p:nvPr/>
        </p:nvSpPr>
        <p:spPr>
          <a:xfrm>
            <a:off x="548640" y="5440680"/>
            <a:ext cx="11091672" cy="960120"/>
          </a:xfrm>
          <a:prstGeom prst="roundRect">
            <a:avLst>
              <a:gd name="adj" fmla="val 8571"/>
            </a:avLst>
          </a:prstGeom>
          <a:solidFill>
            <a:srgbClr val="EEF7F7"/>
          </a:solidFill>
          <a:ln w="12700">
            <a:solidFill>
              <a:srgbClr val="7FD3D3"/>
            </a:solidFill>
            <a:prstDash val="solid"/>
          </a:ln>
          <a:effectLst>
            <a:outerShdw blurRad="127000" dist="25400" dir="5400000" algn="bl" rotWithShape="0">
              <a:srgbClr val="9AA0BE">
                <a:alpha val="30000"/>
              </a:srgbClr>
            </a:outerShdw>
          </a:effectLst>
        </p:spPr>
        <p:txBody>
          <a:bodyPr/>
          <a:lstStyle/>
          <a:p>
            <a:endParaRPr lang="en-US"/>
          </a:p>
        </p:txBody>
      </p:sp>
      <p:sp>
        <p:nvSpPr>
          <p:cNvPr id="36" name="Text 34"/>
          <p:cNvSpPr/>
          <p:nvPr/>
        </p:nvSpPr>
        <p:spPr>
          <a:xfrm>
            <a:off x="822960" y="5440680"/>
            <a:ext cx="10543032" cy="960120"/>
          </a:xfrm>
          <a:prstGeom prst="rect">
            <a:avLst/>
          </a:prstGeom>
          <a:noFill/>
          <a:ln/>
        </p:spPr>
        <p:txBody>
          <a:bodyPr wrap="square" lIns="0" tIns="0" rIns="0" bIns="0" rtlCol="0" anchor="ctr"/>
          <a:lstStyle/>
          <a:p>
            <a:pPr marL="0" indent="0">
              <a:buNone/>
            </a:pPr>
            <a:r>
              <a:rPr lang="en-US" sz="1250" b="1" dirty="0">
                <a:solidFill>
                  <a:srgbClr val="101034"/>
                </a:solidFill>
                <a:latin typeface="Calibri" pitchFamily="34" charset="0"/>
                <a:ea typeface="Calibri" pitchFamily="34" charset="-122"/>
                <a:cs typeface="Calibri" pitchFamily="34" charset="-120"/>
              </a:rPr>
              <a:t>Chatbot: </a:t>
            </a:r>
            <a:r>
              <a:rPr lang="en-US" sz="1250" dirty="0">
                <a:solidFill>
                  <a:srgbClr val="5A5F73"/>
                </a:solidFill>
                <a:latin typeface="Calibri" pitchFamily="34" charset="0"/>
                <a:ea typeface="Calibri" pitchFamily="34" charset="-122"/>
                <a:cs typeface="Calibri" pitchFamily="34" charset="-120"/>
              </a:rPr>
              <a:t>“Which invoices are overdue?” → a list.        </a:t>
            </a:r>
            <a:r>
              <a:rPr lang="en-US" sz="1250" b="1" dirty="0">
                <a:solidFill>
                  <a:srgbClr val="005E5E"/>
                </a:solidFill>
                <a:latin typeface="Calibri" pitchFamily="34" charset="0"/>
                <a:ea typeface="Calibri" pitchFamily="34" charset="-122"/>
                <a:cs typeface="Calibri" pitchFamily="34" charset="-120"/>
              </a:rPr>
              <a:t>Agent: </a:t>
            </a:r>
            <a:r>
              <a:rPr lang="en-US" sz="1250" dirty="0">
                <a:solidFill>
                  <a:srgbClr val="005E5E"/>
                </a:solidFill>
                <a:latin typeface="Calibri" pitchFamily="34" charset="0"/>
                <a:ea typeface="Calibri" pitchFamily="34" charset="-122"/>
                <a:cs typeface="Calibri" pitchFamily="34" charset="-120"/>
              </a:rPr>
              <a:t>“Chase every overdue invoice.” → queries the ledger, drafts reminders, sends them, logs the follow-up date.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What is inside an agent</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The model is only the reasoning engine — four components make it useful</a:t>
            </a:r>
            <a:endParaRPr lang="en-US" sz="1400" dirty="0"/>
          </a:p>
        </p:txBody>
      </p:sp>
      <p:sp>
        <p:nvSpPr>
          <p:cNvPr id="4" name="Shape 2"/>
          <p:cNvSpPr/>
          <p:nvPr/>
        </p:nvSpPr>
        <p:spPr>
          <a:xfrm>
            <a:off x="4855464" y="2697480"/>
            <a:ext cx="2468880" cy="2468880"/>
          </a:xfrm>
          <a:prstGeom prst="ellipse">
            <a:avLst/>
          </a:prstGeom>
          <a:solidFill>
            <a:srgbClr val="101034"/>
          </a:solidFill>
          <a:ln w="25400">
            <a:solidFill>
              <a:srgbClr val="5B5FBF"/>
            </a:solidFill>
            <a:prstDash val="solid"/>
          </a:ln>
        </p:spPr>
        <p:txBody>
          <a:bodyPr/>
          <a:lstStyle/>
          <a:p>
            <a:endParaRPr lang="en-US"/>
          </a:p>
        </p:txBody>
      </p:sp>
      <p:sp>
        <p:nvSpPr>
          <p:cNvPr id="5" name="Text 3"/>
          <p:cNvSpPr/>
          <p:nvPr/>
        </p:nvSpPr>
        <p:spPr>
          <a:xfrm>
            <a:off x="4855464" y="3429000"/>
            <a:ext cx="246888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LLM</a:t>
            </a:r>
            <a:endParaRPr lang="en-US" sz="2400" dirty="0"/>
          </a:p>
        </p:txBody>
      </p:sp>
      <p:sp>
        <p:nvSpPr>
          <p:cNvPr id="6" name="Text 4"/>
          <p:cNvSpPr/>
          <p:nvPr/>
        </p:nvSpPr>
        <p:spPr>
          <a:xfrm>
            <a:off x="4855464" y="3886200"/>
            <a:ext cx="2468880" cy="365760"/>
          </a:xfrm>
          <a:prstGeom prst="rect">
            <a:avLst/>
          </a:prstGeom>
          <a:noFill/>
          <a:ln/>
        </p:spPr>
        <p:txBody>
          <a:bodyPr wrap="square" lIns="0" tIns="0" rIns="0" bIns="0" rtlCol="0" anchor="ctr"/>
          <a:lstStyle/>
          <a:p>
            <a:pPr marL="0" indent="0" algn="ctr">
              <a:buNone/>
            </a:pPr>
            <a:r>
              <a:rPr lang="en-US" sz="1200" dirty="0">
                <a:solidFill>
                  <a:srgbClr val="00A6A6"/>
                </a:solidFill>
                <a:latin typeface="Calibri" pitchFamily="34" charset="0"/>
                <a:ea typeface="Calibri" pitchFamily="34" charset="-122"/>
                <a:cs typeface="Calibri" pitchFamily="34" charset="-120"/>
              </a:rPr>
              <a:t>reasoning engine</a:t>
            </a:r>
            <a:endParaRPr lang="en-US" sz="1200" dirty="0"/>
          </a:p>
        </p:txBody>
      </p:sp>
      <p:sp>
        <p:nvSpPr>
          <p:cNvPr id="7" name="Text 5"/>
          <p:cNvSpPr/>
          <p:nvPr/>
        </p:nvSpPr>
        <p:spPr>
          <a:xfrm>
            <a:off x="4901184" y="4251960"/>
            <a:ext cx="2377440" cy="365760"/>
          </a:xfrm>
          <a:prstGeom prst="rect">
            <a:avLst/>
          </a:prstGeom>
          <a:noFill/>
          <a:ln/>
        </p:spPr>
        <p:txBody>
          <a:bodyPr wrap="square" lIns="0" tIns="0" rIns="0" bIns="0" rtlCol="0" anchor="ctr"/>
          <a:lstStyle/>
          <a:p>
            <a:pPr marL="0" indent="0" algn="ctr">
              <a:buNone/>
            </a:pPr>
            <a:r>
              <a:rPr lang="en-US" sz="1000" i="1" dirty="0">
                <a:solidFill>
                  <a:srgbClr val="9DA0DD"/>
                </a:solidFill>
                <a:latin typeface="Calibri" pitchFamily="34" charset="0"/>
                <a:ea typeface="Calibri" pitchFamily="34" charset="-122"/>
                <a:cs typeface="Calibri" pitchFamily="34" charset="-120"/>
              </a:rPr>
              <a:t>decides what to do next</a:t>
            </a:r>
            <a:endParaRPr lang="en-US" sz="1000" dirty="0"/>
          </a:p>
        </p:txBody>
      </p:sp>
      <p:sp>
        <p:nvSpPr>
          <p:cNvPr id="8" name="Shape 6"/>
          <p:cNvSpPr/>
          <p:nvPr/>
        </p:nvSpPr>
        <p:spPr>
          <a:xfrm>
            <a:off x="548640" y="1691640"/>
            <a:ext cx="3246120" cy="1783080"/>
          </a:xfrm>
          <a:prstGeom prst="roundRect">
            <a:avLst>
              <a:gd name="adj" fmla="val 461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9" name="Shape 7"/>
          <p:cNvSpPr/>
          <p:nvPr/>
        </p:nvSpPr>
        <p:spPr>
          <a:xfrm>
            <a:off x="749808" y="1892808"/>
            <a:ext cx="1417320" cy="384048"/>
          </a:xfrm>
          <a:prstGeom prst="roundRect">
            <a:avLst>
              <a:gd name="adj" fmla="val 21429"/>
            </a:avLst>
          </a:prstGeom>
          <a:solidFill>
            <a:srgbClr val="2A2D7C"/>
          </a:solidFill>
          <a:ln w="12700">
            <a:solidFill>
              <a:srgbClr val="2A2D7C"/>
            </a:solidFill>
            <a:prstDash val="solid"/>
          </a:ln>
        </p:spPr>
        <p:txBody>
          <a:bodyPr/>
          <a:lstStyle/>
          <a:p>
            <a:endParaRPr lang="en-US"/>
          </a:p>
        </p:txBody>
      </p:sp>
      <p:sp>
        <p:nvSpPr>
          <p:cNvPr id="10" name="Text 8"/>
          <p:cNvSpPr/>
          <p:nvPr/>
        </p:nvSpPr>
        <p:spPr>
          <a:xfrm>
            <a:off x="749808" y="1892808"/>
            <a:ext cx="1417320" cy="384048"/>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Arial" pitchFamily="34" charset="0"/>
                <a:ea typeface="Arial" pitchFamily="34" charset="-122"/>
                <a:cs typeface="Arial" pitchFamily="34" charset="-120"/>
              </a:rPr>
              <a:t>TOOLS</a:t>
            </a:r>
            <a:endParaRPr lang="en-US" sz="1050" dirty="0"/>
          </a:p>
        </p:txBody>
      </p:sp>
      <p:sp>
        <p:nvSpPr>
          <p:cNvPr id="11" name="Text 9"/>
          <p:cNvSpPr/>
          <p:nvPr/>
        </p:nvSpPr>
        <p:spPr>
          <a:xfrm>
            <a:off x="749808" y="2404872"/>
            <a:ext cx="28346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APIs, databases, search, code execution, internal systems. How the agent touches the real world.</a:t>
            </a:r>
            <a:endParaRPr lang="en-US" sz="1150" dirty="0"/>
          </a:p>
        </p:txBody>
      </p:sp>
      <p:sp>
        <p:nvSpPr>
          <p:cNvPr id="12" name="Shape 10"/>
          <p:cNvSpPr/>
          <p:nvPr/>
        </p:nvSpPr>
        <p:spPr>
          <a:xfrm>
            <a:off x="3794760" y="3063240"/>
            <a:ext cx="1106424" cy="228600"/>
          </a:xfrm>
          <a:prstGeom prst="line">
            <a:avLst/>
          </a:prstGeom>
          <a:noFill/>
          <a:ln w="19050">
            <a:solidFill>
              <a:srgbClr val="9DA0DD"/>
            </a:solidFill>
            <a:prstDash val="solid"/>
          </a:ln>
        </p:spPr>
        <p:txBody>
          <a:bodyPr/>
          <a:lstStyle/>
          <a:p>
            <a:endParaRPr lang="en-US"/>
          </a:p>
        </p:txBody>
      </p:sp>
      <p:sp>
        <p:nvSpPr>
          <p:cNvPr id="13" name="Shape 11"/>
          <p:cNvSpPr/>
          <p:nvPr/>
        </p:nvSpPr>
        <p:spPr>
          <a:xfrm>
            <a:off x="8412480" y="1691640"/>
            <a:ext cx="3246120" cy="1783080"/>
          </a:xfrm>
          <a:prstGeom prst="roundRect">
            <a:avLst>
              <a:gd name="adj" fmla="val 461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4" name="Shape 12"/>
          <p:cNvSpPr/>
          <p:nvPr/>
        </p:nvSpPr>
        <p:spPr>
          <a:xfrm>
            <a:off x="8613648" y="1892808"/>
            <a:ext cx="1417320" cy="384048"/>
          </a:xfrm>
          <a:prstGeom prst="roundRect">
            <a:avLst>
              <a:gd name="adj" fmla="val 21429"/>
            </a:avLst>
          </a:prstGeom>
          <a:solidFill>
            <a:srgbClr val="00A6A6"/>
          </a:solidFill>
          <a:ln w="12700">
            <a:solidFill>
              <a:srgbClr val="00A6A6"/>
            </a:solidFill>
            <a:prstDash val="solid"/>
          </a:ln>
        </p:spPr>
        <p:txBody>
          <a:bodyPr/>
          <a:lstStyle/>
          <a:p>
            <a:endParaRPr lang="en-US"/>
          </a:p>
        </p:txBody>
      </p:sp>
      <p:sp>
        <p:nvSpPr>
          <p:cNvPr id="15" name="Text 13"/>
          <p:cNvSpPr/>
          <p:nvPr/>
        </p:nvSpPr>
        <p:spPr>
          <a:xfrm>
            <a:off x="8613648" y="1892808"/>
            <a:ext cx="1417320" cy="384048"/>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Arial" pitchFamily="34" charset="0"/>
                <a:ea typeface="Arial" pitchFamily="34" charset="-122"/>
                <a:cs typeface="Arial" pitchFamily="34" charset="-120"/>
              </a:rPr>
              <a:t>MEMORY</a:t>
            </a:r>
            <a:endParaRPr lang="en-US" sz="1050" dirty="0"/>
          </a:p>
        </p:txBody>
      </p:sp>
      <p:sp>
        <p:nvSpPr>
          <p:cNvPr id="16" name="Text 14"/>
          <p:cNvSpPr/>
          <p:nvPr/>
        </p:nvSpPr>
        <p:spPr>
          <a:xfrm>
            <a:off x="8613648" y="2404872"/>
            <a:ext cx="28346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Short-term scratchpad plus long-term stores and vector search over past work.</a:t>
            </a:r>
            <a:endParaRPr lang="en-US" sz="1150" dirty="0"/>
          </a:p>
        </p:txBody>
      </p:sp>
      <p:sp>
        <p:nvSpPr>
          <p:cNvPr id="17" name="Shape 15"/>
          <p:cNvSpPr/>
          <p:nvPr/>
        </p:nvSpPr>
        <p:spPr>
          <a:xfrm>
            <a:off x="7278624" y="3063240"/>
            <a:ext cx="1133856" cy="228600"/>
          </a:xfrm>
          <a:prstGeom prst="line">
            <a:avLst/>
          </a:prstGeom>
          <a:noFill/>
          <a:ln w="19050">
            <a:solidFill>
              <a:srgbClr val="9DA0DD"/>
            </a:solidFill>
            <a:prstDash val="solid"/>
          </a:ln>
        </p:spPr>
        <p:txBody>
          <a:bodyPr/>
          <a:lstStyle/>
          <a:p>
            <a:endParaRPr lang="en-US"/>
          </a:p>
        </p:txBody>
      </p:sp>
      <p:sp>
        <p:nvSpPr>
          <p:cNvPr id="18" name="Shape 16"/>
          <p:cNvSpPr/>
          <p:nvPr/>
        </p:nvSpPr>
        <p:spPr>
          <a:xfrm>
            <a:off x="548640" y="4343400"/>
            <a:ext cx="3246120" cy="1783080"/>
          </a:xfrm>
          <a:prstGeom prst="roundRect">
            <a:avLst>
              <a:gd name="adj" fmla="val 461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9" name="Shape 17"/>
          <p:cNvSpPr/>
          <p:nvPr/>
        </p:nvSpPr>
        <p:spPr>
          <a:xfrm>
            <a:off x="749808" y="4544568"/>
            <a:ext cx="1417320" cy="384048"/>
          </a:xfrm>
          <a:prstGeom prst="roundRect">
            <a:avLst>
              <a:gd name="adj" fmla="val 21429"/>
            </a:avLst>
          </a:prstGeom>
          <a:solidFill>
            <a:srgbClr val="5B5FBF"/>
          </a:solidFill>
          <a:ln w="12700">
            <a:solidFill>
              <a:srgbClr val="5B5FBF"/>
            </a:solidFill>
            <a:prstDash val="solid"/>
          </a:ln>
        </p:spPr>
        <p:txBody>
          <a:bodyPr/>
          <a:lstStyle/>
          <a:p>
            <a:endParaRPr lang="en-US"/>
          </a:p>
        </p:txBody>
      </p:sp>
      <p:sp>
        <p:nvSpPr>
          <p:cNvPr id="20" name="Text 18"/>
          <p:cNvSpPr/>
          <p:nvPr/>
        </p:nvSpPr>
        <p:spPr>
          <a:xfrm>
            <a:off x="749808" y="4544568"/>
            <a:ext cx="1417320" cy="384048"/>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Arial" pitchFamily="34" charset="0"/>
                <a:ea typeface="Arial" pitchFamily="34" charset="-122"/>
                <a:cs typeface="Arial" pitchFamily="34" charset="-120"/>
              </a:rPr>
              <a:t>PLANNING</a:t>
            </a:r>
            <a:endParaRPr lang="en-US" sz="1050" dirty="0"/>
          </a:p>
        </p:txBody>
      </p:sp>
      <p:sp>
        <p:nvSpPr>
          <p:cNvPr id="21" name="Text 19"/>
          <p:cNvSpPr/>
          <p:nvPr/>
        </p:nvSpPr>
        <p:spPr>
          <a:xfrm>
            <a:off x="749808" y="5056632"/>
            <a:ext cx="28346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Task decomposition, sequencing, retry logic and self-critique between steps.</a:t>
            </a:r>
            <a:endParaRPr lang="en-US" sz="1150" dirty="0"/>
          </a:p>
        </p:txBody>
      </p:sp>
      <p:sp>
        <p:nvSpPr>
          <p:cNvPr id="22" name="Shape 20"/>
          <p:cNvSpPr/>
          <p:nvPr/>
        </p:nvSpPr>
        <p:spPr>
          <a:xfrm flipV="1">
            <a:off x="3794760" y="4572000"/>
            <a:ext cx="1106424" cy="228600"/>
          </a:xfrm>
          <a:prstGeom prst="line">
            <a:avLst/>
          </a:prstGeom>
          <a:noFill/>
          <a:ln w="19050">
            <a:solidFill>
              <a:srgbClr val="9DA0DD"/>
            </a:solidFill>
            <a:prstDash val="solid"/>
          </a:ln>
        </p:spPr>
        <p:txBody>
          <a:bodyPr/>
          <a:lstStyle/>
          <a:p>
            <a:endParaRPr lang="en-US"/>
          </a:p>
        </p:txBody>
      </p:sp>
      <p:sp>
        <p:nvSpPr>
          <p:cNvPr id="23" name="Shape 21"/>
          <p:cNvSpPr/>
          <p:nvPr/>
        </p:nvSpPr>
        <p:spPr>
          <a:xfrm>
            <a:off x="8412480" y="4343400"/>
            <a:ext cx="3246120" cy="1783080"/>
          </a:xfrm>
          <a:prstGeom prst="roundRect">
            <a:avLst>
              <a:gd name="adj" fmla="val 4615"/>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24" name="Shape 22"/>
          <p:cNvSpPr/>
          <p:nvPr/>
        </p:nvSpPr>
        <p:spPr>
          <a:xfrm>
            <a:off x="8613648" y="4544568"/>
            <a:ext cx="1417320" cy="384048"/>
          </a:xfrm>
          <a:prstGeom prst="roundRect">
            <a:avLst>
              <a:gd name="adj" fmla="val 21429"/>
            </a:avLst>
          </a:prstGeom>
          <a:solidFill>
            <a:srgbClr val="E09400"/>
          </a:solidFill>
          <a:ln w="12700">
            <a:solidFill>
              <a:srgbClr val="E09400"/>
            </a:solidFill>
            <a:prstDash val="solid"/>
          </a:ln>
        </p:spPr>
        <p:txBody>
          <a:bodyPr/>
          <a:lstStyle/>
          <a:p>
            <a:endParaRPr lang="en-US"/>
          </a:p>
        </p:txBody>
      </p:sp>
      <p:sp>
        <p:nvSpPr>
          <p:cNvPr id="25" name="Text 23"/>
          <p:cNvSpPr/>
          <p:nvPr/>
        </p:nvSpPr>
        <p:spPr>
          <a:xfrm>
            <a:off x="8613648" y="4544568"/>
            <a:ext cx="1417320" cy="384048"/>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Arial" pitchFamily="34" charset="0"/>
                <a:ea typeface="Arial" pitchFamily="34" charset="-122"/>
                <a:cs typeface="Arial" pitchFamily="34" charset="-120"/>
              </a:rPr>
              <a:t>GUARDRAILS</a:t>
            </a:r>
            <a:endParaRPr lang="en-US" sz="1050" dirty="0"/>
          </a:p>
        </p:txBody>
      </p:sp>
      <p:sp>
        <p:nvSpPr>
          <p:cNvPr id="26" name="Text 24"/>
          <p:cNvSpPr/>
          <p:nvPr/>
        </p:nvSpPr>
        <p:spPr>
          <a:xfrm>
            <a:off x="8613648" y="5056632"/>
            <a:ext cx="2834640" cy="960120"/>
          </a:xfrm>
          <a:prstGeom prst="rect">
            <a:avLst/>
          </a:prstGeom>
          <a:noFill/>
          <a:ln/>
        </p:spPr>
        <p:txBody>
          <a:bodyPr wrap="square" lIns="0" tIns="0" rIns="0" bIns="0" rtlCol="0" anchor="ctr"/>
          <a:lstStyle/>
          <a:p>
            <a:pPr marL="0" indent="0">
              <a:buNone/>
            </a:pPr>
            <a:r>
              <a:rPr lang="en-US" sz="1150" dirty="0">
                <a:solidFill>
                  <a:srgbClr val="5A5F73"/>
                </a:solidFill>
                <a:latin typeface="Calibri" pitchFamily="34" charset="0"/>
                <a:ea typeface="Calibri" pitchFamily="34" charset="-122"/>
                <a:cs typeface="Calibri" pitchFamily="34" charset="-120"/>
              </a:rPr>
              <a:t>Permissions, cost and iteration caps, approval gates, audit logging.</a:t>
            </a:r>
            <a:endParaRPr lang="en-US" sz="1150" dirty="0"/>
          </a:p>
        </p:txBody>
      </p:sp>
      <p:sp>
        <p:nvSpPr>
          <p:cNvPr id="27" name="Shape 25"/>
          <p:cNvSpPr/>
          <p:nvPr/>
        </p:nvSpPr>
        <p:spPr>
          <a:xfrm flipV="1">
            <a:off x="7278624" y="4572000"/>
            <a:ext cx="1133856" cy="228600"/>
          </a:xfrm>
          <a:prstGeom prst="line">
            <a:avLst/>
          </a:prstGeom>
          <a:noFill/>
          <a:ln w="19050">
            <a:solidFill>
              <a:srgbClr val="9DA0DD"/>
            </a:solidFill>
            <a:prstDash val="solid"/>
          </a:ln>
        </p:spPr>
        <p:txBody>
          <a:bodyPr/>
          <a:lstStyle/>
          <a:p>
            <a:endParaRPr lang="en-US"/>
          </a:p>
        </p:txBody>
      </p:sp>
      <p:sp>
        <p:nvSpPr>
          <p:cNvPr id="28" name="Text 26"/>
          <p:cNvSpPr/>
          <p:nvPr/>
        </p:nvSpPr>
        <p:spPr>
          <a:xfrm>
            <a:off x="548640" y="6355080"/>
            <a:ext cx="11091672" cy="320040"/>
          </a:xfrm>
          <a:prstGeom prst="rect">
            <a:avLst/>
          </a:prstGeom>
          <a:noFill/>
          <a:ln/>
        </p:spPr>
        <p:txBody>
          <a:bodyPr wrap="square" lIns="0" tIns="0" rIns="0" bIns="0" rtlCol="0" anchor="ctr"/>
          <a:lstStyle/>
          <a:p>
            <a:pPr marL="0" indent="0" algn="ctr">
              <a:buNone/>
            </a:pPr>
            <a:r>
              <a:rPr lang="en-US" sz="1050" dirty="0">
                <a:solidFill>
                  <a:srgbClr val="5A5F73"/>
                </a:solidFill>
                <a:latin typeface="Calibri" pitchFamily="34" charset="0"/>
                <a:ea typeface="Calibri" pitchFamily="34" charset="-122"/>
                <a:cs typeface="Calibri" pitchFamily="34" charset="-120"/>
              </a:rPr>
              <a:t>Frameworks: LangGraph · CrewAI · AutoGen · Bedrock Agents · watsonx Orchestrate    |    Protocols: MCP for tools, A2A for agent-to-agent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The autonomy ladder</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Most organisations are on rungs one and two — plan the climb deliberately</a:t>
            </a:r>
            <a:endParaRPr lang="en-US" sz="1400" dirty="0"/>
          </a:p>
        </p:txBody>
      </p:sp>
      <p:sp>
        <p:nvSpPr>
          <p:cNvPr id="4" name="Shape 2"/>
          <p:cNvSpPr/>
          <p:nvPr/>
        </p:nvSpPr>
        <p:spPr>
          <a:xfrm>
            <a:off x="548640" y="3931920"/>
            <a:ext cx="2011680" cy="2057400"/>
          </a:xfrm>
          <a:prstGeom prst="roundRect">
            <a:avLst>
              <a:gd name="adj" fmla="val 2727"/>
            </a:avLst>
          </a:prstGeom>
          <a:solidFill>
            <a:srgbClr val="9DA0DD"/>
          </a:solidFill>
          <a:ln w="12700">
            <a:solidFill>
              <a:srgbClr val="9DA0DD"/>
            </a:solidFill>
            <a:prstDash val="solid"/>
          </a:ln>
          <a:effectLst>
            <a:outerShdw blurRad="127000" dist="25400" dir="5400000" algn="bl" rotWithShape="0">
              <a:srgbClr val="9AA0BE">
                <a:alpha val="30000"/>
              </a:srgbClr>
            </a:outerShdw>
          </a:effectLst>
        </p:spPr>
        <p:txBody>
          <a:bodyPr/>
          <a:lstStyle/>
          <a:p>
            <a:endParaRPr lang="en-US"/>
          </a:p>
        </p:txBody>
      </p:sp>
      <p:sp>
        <p:nvSpPr>
          <p:cNvPr id="5" name="Text 3"/>
          <p:cNvSpPr/>
          <p:nvPr/>
        </p:nvSpPr>
        <p:spPr>
          <a:xfrm>
            <a:off x="685800" y="4069080"/>
            <a:ext cx="17373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L0</a:t>
            </a:r>
            <a:endParaRPr lang="en-US" sz="1700" dirty="0"/>
          </a:p>
        </p:txBody>
      </p:sp>
      <p:sp>
        <p:nvSpPr>
          <p:cNvPr id="6" name="Text 4"/>
          <p:cNvSpPr/>
          <p:nvPr/>
        </p:nvSpPr>
        <p:spPr>
          <a:xfrm>
            <a:off x="685800" y="4434840"/>
            <a:ext cx="173736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Chatbot</a:t>
            </a:r>
            <a:endParaRPr lang="en-US" sz="1250" dirty="0"/>
          </a:p>
        </p:txBody>
      </p:sp>
      <p:sp>
        <p:nvSpPr>
          <p:cNvPr id="7" name="Text 5"/>
          <p:cNvSpPr/>
          <p:nvPr/>
        </p:nvSpPr>
        <p:spPr>
          <a:xfrm>
            <a:off x="685800" y="4956048"/>
            <a:ext cx="1737360" cy="777240"/>
          </a:xfrm>
          <a:prstGeom prst="rect">
            <a:avLst/>
          </a:prstGeom>
          <a:noFill/>
          <a:ln/>
        </p:spPr>
        <p:txBody>
          <a:bodyPr wrap="square" lIns="0" tIns="0" rIns="0" bIns="0" rtlCol="0" anchor="ctr"/>
          <a:lstStyle/>
          <a:p>
            <a:pPr marL="0" indent="0">
              <a:buNone/>
            </a:pPr>
            <a:r>
              <a:rPr lang="en-US" sz="1000" dirty="0">
                <a:solidFill>
                  <a:srgbClr val="E6E8F8"/>
                </a:solidFill>
                <a:latin typeface="Calibri" pitchFamily="34" charset="0"/>
                <a:ea typeface="Calibri" pitchFamily="34" charset="-122"/>
                <a:cs typeface="Calibri" pitchFamily="34" charset="-120"/>
              </a:rPr>
              <a:t>Answers from what the model already knows.</a:t>
            </a:r>
            <a:endParaRPr lang="en-US" sz="1000" dirty="0"/>
          </a:p>
        </p:txBody>
      </p:sp>
      <p:sp>
        <p:nvSpPr>
          <p:cNvPr id="8" name="Text 6"/>
          <p:cNvSpPr/>
          <p:nvPr/>
        </p:nvSpPr>
        <p:spPr>
          <a:xfrm>
            <a:off x="594360" y="6080760"/>
            <a:ext cx="2103120" cy="548640"/>
          </a:xfrm>
          <a:prstGeom prst="rect">
            <a:avLst/>
          </a:prstGeom>
          <a:noFill/>
          <a:ln/>
        </p:spPr>
        <p:txBody>
          <a:bodyPr wrap="square" lIns="0" tIns="0" rIns="0" bIns="0" rtlCol="0" anchor="ctr"/>
          <a:lstStyle/>
          <a:p>
            <a:pPr marL="0" indent="0" algn="ctr">
              <a:buNone/>
            </a:pPr>
            <a:r>
              <a:rPr lang="en-US" sz="1050" i="1" dirty="0">
                <a:solidFill>
                  <a:srgbClr val="5A5F73"/>
                </a:solidFill>
                <a:latin typeface="Calibri" pitchFamily="34" charset="0"/>
                <a:ea typeface="Calibri" pitchFamily="34" charset="-122"/>
                <a:cs typeface="Calibri" pitchFamily="34" charset="-120"/>
              </a:rPr>
              <a:t>A general Q&amp;A assistant</a:t>
            </a:r>
            <a:endParaRPr lang="en-US" sz="1050" dirty="0"/>
          </a:p>
        </p:txBody>
      </p:sp>
      <p:sp>
        <p:nvSpPr>
          <p:cNvPr id="9" name="Shape 7"/>
          <p:cNvSpPr/>
          <p:nvPr/>
        </p:nvSpPr>
        <p:spPr>
          <a:xfrm>
            <a:off x="2779776" y="3465576"/>
            <a:ext cx="2011680" cy="2523744"/>
          </a:xfrm>
          <a:prstGeom prst="roundRect">
            <a:avLst>
              <a:gd name="adj" fmla="val 2727"/>
            </a:avLst>
          </a:prstGeom>
          <a:solidFill>
            <a:srgbClr val="7E82CE"/>
          </a:solidFill>
          <a:ln w="12700">
            <a:solidFill>
              <a:srgbClr val="7E82CE"/>
            </a:solidFill>
            <a:prstDash val="solid"/>
          </a:ln>
          <a:effectLst>
            <a:outerShdw blurRad="127000" dist="25400" dir="5400000" algn="bl" rotWithShape="0">
              <a:srgbClr val="9AA0BE">
                <a:alpha val="30000"/>
              </a:srgbClr>
            </a:outerShdw>
          </a:effectLst>
        </p:spPr>
        <p:txBody>
          <a:bodyPr/>
          <a:lstStyle/>
          <a:p>
            <a:endParaRPr lang="en-US"/>
          </a:p>
        </p:txBody>
      </p:sp>
      <p:sp>
        <p:nvSpPr>
          <p:cNvPr id="10" name="Text 8"/>
          <p:cNvSpPr/>
          <p:nvPr/>
        </p:nvSpPr>
        <p:spPr>
          <a:xfrm>
            <a:off x="2916936" y="3602736"/>
            <a:ext cx="17373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L1</a:t>
            </a:r>
            <a:endParaRPr lang="en-US" sz="1700" dirty="0"/>
          </a:p>
        </p:txBody>
      </p:sp>
      <p:sp>
        <p:nvSpPr>
          <p:cNvPr id="11" name="Text 9"/>
          <p:cNvSpPr/>
          <p:nvPr/>
        </p:nvSpPr>
        <p:spPr>
          <a:xfrm>
            <a:off x="2916936" y="3968496"/>
            <a:ext cx="173736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Grounded assistant</a:t>
            </a:r>
            <a:endParaRPr lang="en-US" sz="1250" dirty="0"/>
          </a:p>
        </p:txBody>
      </p:sp>
      <p:sp>
        <p:nvSpPr>
          <p:cNvPr id="12" name="Text 10"/>
          <p:cNvSpPr/>
          <p:nvPr/>
        </p:nvSpPr>
        <p:spPr>
          <a:xfrm>
            <a:off x="2916936" y="4489704"/>
            <a:ext cx="1737360" cy="777240"/>
          </a:xfrm>
          <a:prstGeom prst="rect">
            <a:avLst/>
          </a:prstGeom>
          <a:noFill/>
          <a:ln/>
        </p:spPr>
        <p:txBody>
          <a:bodyPr wrap="square" lIns="0" tIns="0" rIns="0" bIns="0" rtlCol="0" anchor="ctr"/>
          <a:lstStyle/>
          <a:p>
            <a:pPr marL="0" indent="0">
              <a:buNone/>
            </a:pPr>
            <a:r>
              <a:rPr lang="en-US" sz="1000" dirty="0">
                <a:solidFill>
                  <a:srgbClr val="E6E8F8"/>
                </a:solidFill>
                <a:latin typeface="Calibri" pitchFamily="34" charset="0"/>
                <a:ea typeface="Calibri" pitchFamily="34" charset="-122"/>
                <a:cs typeface="Calibri" pitchFamily="34" charset="-120"/>
              </a:rPr>
              <a:t>Retrieves your documents before answering.</a:t>
            </a:r>
            <a:endParaRPr lang="en-US" sz="1000" dirty="0"/>
          </a:p>
        </p:txBody>
      </p:sp>
      <p:sp>
        <p:nvSpPr>
          <p:cNvPr id="13" name="Text 11"/>
          <p:cNvSpPr/>
          <p:nvPr/>
        </p:nvSpPr>
        <p:spPr>
          <a:xfrm>
            <a:off x="2825496" y="6080760"/>
            <a:ext cx="2103120" cy="548640"/>
          </a:xfrm>
          <a:prstGeom prst="rect">
            <a:avLst/>
          </a:prstGeom>
          <a:noFill/>
          <a:ln/>
        </p:spPr>
        <p:txBody>
          <a:bodyPr wrap="square" lIns="0" tIns="0" rIns="0" bIns="0" rtlCol="0" anchor="ctr"/>
          <a:lstStyle/>
          <a:p>
            <a:pPr marL="0" indent="0" algn="ctr">
              <a:buNone/>
            </a:pPr>
            <a:r>
              <a:rPr lang="en-US" sz="1050" i="1" dirty="0">
                <a:solidFill>
                  <a:srgbClr val="5A5F73"/>
                </a:solidFill>
                <a:latin typeface="Calibri" pitchFamily="34" charset="0"/>
                <a:ea typeface="Calibri" pitchFamily="34" charset="-122"/>
                <a:cs typeface="Calibri" pitchFamily="34" charset="-120"/>
              </a:rPr>
              <a:t>RAG over policy manuals</a:t>
            </a:r>
            <a:endParaRPr lang="en-US" sz="1050" dirty="0"/>
          </a:p>
        </p:txBody>
      </p:sp>
      <p:sp>
        <p:nvSpPr>
          <p:cNvPr id="14" name="Shape 12"/>
          <p:cNvSpPr/>
          <p:nvPr/>
        </p:nvSpPr>
        <p:spPr>
          <a:xfrm>
            <a:off x="5010912" y="2999232"/>
            <a:ext cx="2011680" cy="2990088"/>
          </a:xfrm>
          <a:prstGeom prst="roundRect">
            <a:avLst>
              <a:gd name="adj" fmla="val 2727"/>
            </a:avLst>
          </a:prstGeom>
          <a:solidFill>
            <a:srgbClr val="5B5FBF"/>
          </a:solidFill>
          <a:ln w="12700">
            <a:solidFill>
              <a:srgbClr val="5B5FBF"/>
            </a:solidFill>
            <a:prstDash val="solid"/>
          </a:ln>
          <a:effectLst>
            <a:outerShdw blurRad="127000" dist="25400" dir="5400000" algn="bl" rotWithShape="0">
              <a:srgbClr val="9AA0BE">
                <a:alpha val="30000"/>
              </a:srgbClr>
            </a:outerShdw>
          </a:effectLst>
        </p:spPr>
        <p:txBody>
          <a:bodyPr/>
          <a:lstStyle/>
          <a:p>
            <a:endParaRPr lang="en-US"/>
          </a:p>
        </p:txBody>
      </p:sp>
      <p:sp>
        <p:nvSpPr>
          <p:cNvPr id="15" name="Text 13"/>
          <p:cNvSpPr/>
          <p:nvPr/>
        </p:nvSpPr>
        <p:spPr>
          <a:xfrm>
            <a:off x="5148072" y="3136392"/>
            <a:ext cx="17373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L2</a:t>
            </a:r>
            <a:endParaRPr lang="en-US" sz="1700" dirty="0"/>
          </a:p>
        </p:txBody>
      </p:sp>
      <p:sp>
        <p:nvSpPr>
          <p:cNvPr id="16" name="Text 14"/>
          <p:cNvSpPr/>
          <p:nvPr/>
        </p:nvSpPr>
        <p:spPr>
          <a:xfrm>
            <a:off x="5148072" y="3502152"/>
            <a:ext cx="173736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Tool user</a:t>
            </a:r>
            <a:endParaRPr lang="en-US" sz="1250" dirty="0"/>
          </a:p>
        </p:txBody>
      </p:sp>
      <p:sp>
        <p:nvSpPr>
          <p:cNvPr id="17" name="Text 15"/>
          <p:cNvSpPr/>
          <p:nvPr/>
        </p:nvSpPr>
        <p:spPr>
          <a:xfrm>
            <a:off x="5148072" y="4023360"/>
            <a:ext cx="1737360" cy="777240"/>
          </a:xfrm>
          <a:prstGeom prst="rect">
            <a:avLst/>
          </a:prstGeom>
          <a:noFill/>
          <a:ln/>
        </p:spPr>
        <p:txBody>
          <a:bodyPr wrap="square" lIns="0" tIns="0" rIns="0" bIns="0" rtlCol="0" anchor="ctr"/>
          <a:lstStyle/>
          <a:p>
            <a:pPr marL="0" indent="0">
              <a:buNone/>
            </a:pPr>
            <a:r>
              <a:rPr lang="en-US" sz="1000" dirty="0">
                <a:solidFill>
                  <a:srgbClr val="E6E8F8"/>
                </a:solidFill>
                <a:latin typeface="Calibri" pitchFamily="34" charset="0"/>
                <a:ea typeface="Calibri" pitchFamily="34" charset="-122"/>
                <a:cs typeface="Calibri" pitchFamily="34" charset="-120"/>
              </a:rPr>
              <a:t>Calls an API when the prompt asks it to.</a:t>
            </a:r>
            <a:endParaRPr lang="en-US" sz="1000" dirty="0"/>
          </a:p>
        </p:txBody>
      </p:sp>
      <p:sp>
        <p:nvSpPr>
          <p:cNvPr id="18" name="Text 16"/>
          <p:cNvSpPr/>
          <p:nvPr/>
        </p:nvSpPr>
        <p:spPr>
          <a:xfrm>
            <a:off x="5056632" y="6080760"/>
            <a:ext cx="2103120" cy="548640"/>
          </a:xfrm>
          <a:prstGeom prst="rect">
            <a:avLst/>
          </a:prstGeom>
          <a:noFill/>
          <a:ln/>
        </p:spPr>
        <p:txBody>
          <a:bodyPr wrap="square" lIns="0" tIns="0" rIns="0" bIns="0" rtlCol="0" anchor="ctr"/>
          <a:lstStyle/>
          <a:p>
            <a:pPr marL="0" indent="0" algn="ctr">
              <a:buNone/>
            </a:pPr>
            <a:r>
              <a:rPr lang="en-US" sz="1050" i="1" dirty="0">
                <a:solidFill>
                  <a:srgbClr val="5A5F73"/>
                </a:solidFill>
                <a:latin typeface="Calibri" pitchFamily="34" charset="0"/>
                <a:ea typeface="Calibri" pitchFamily="34" charset="-122"/>
                <a:cs typeface="Calibri" pitchFamily="34" charset="-120"/>
              </a:rPr>
              <a:t>Checks live order status</a:t>
            </a:r>
            <a:endParaRPr lang="en-US" sz="1050" dirty="0"/>
          </a:p>
        </p:txBody>
      </p:sp>
      <p:sp>
        <p:nvSpPr>
          <p:cNvPr id="19" name="Shape 17"/>
          <p:cNvSpPr/>
          <p:nvPr/>
        </p:nvSpPr>
        <p:spPr>
          <a:xfrm>
            <a:off x="7242048" y="2532888"/>
            <a:ext cx="2011680" cy="3456432"/>
          </a:xfrm>
          <a:prstGeom prst="roundRect">
            <a:avLst>
              <a:gd name="adj" fmla="val 2727"/>
            </a:avLst>
          </a:prstGeom>
          <a:solidFill>
            <a:srgbClr val="2A2D7C"/>
          </a:solidFill>
          <a:ln w="12700">
            <a:solidFill>
              <a:srgbClr val="2A2D7C"/>
            </a:solidFill>
            <a:prstDash val="solid"/>
          </a:ln>
          <a:effectLst>
            <a:outerShdw blurRad="127000" dist="25400" dir="5400000" algn="bl" rotWithShape="0">
              <a:srgbClr val="9AA0BE">
                <a:alpha val="30000"/>
              </a:srgbClr>
            </a:outerShdw>
          </a:effectLst>
        </p:spPr>
        <p:txBody>
          <a:bodyPr/>
          <a:lstStyle/>
          <a:p>
            <a:endParaRPr lang="en-US"/>
          </a:p>
        </p:txBody>
      </p:sp>
      <p:sp>
        <p:nvSpPr>
          <p:cNvPr id="20" name="Text 18"/>
          <p:cNvSpPr/>
          <p:nvPr/>
        </p:nvSpPr>
        <p:spPr>
          <a:xfrm>
            <a:off x="7379208" y="2670048"/>
            <a:ext cx="17373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L3</a:t>
            </a:r>
            <a:endParaRPr lang="en-US" sz="1700" dirty="0"/>
          </a:p>
        </p:txBody>
      </p:sp>
      <p:sp>
        <p:nvSpPr>
          <p:cNvPr id="21" name="Text 19"/>
          <p:cNvSpPr/>
          <p:nvPr/>
        </p:nvSpPr>
        <p:spPr>
          <a:xfrm>
            <a:off x="7379208" y="3035808"/>
            <a:ext cx="173736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Autonomous agent</a:t>
            </a:r>
            <a:endParaRPr lang="en-US" sz="1250" dirty="0"/>
          </a:p>
        </p:txBody>
      </p:sp>
      <p:sp>
        <p:nvSpPr>
          <p:cNvPr id="22" name="Text 20"/>
          <p:cNvSpPr/>
          <p:nvPr/>
        </p:nvSpPr>
        <p:spPr>
          <a:xfrm>
            <a:off x="7379208" y="3557016"/>
            <a:ext cx="1737360" cy="777240"/>
          </a:xfrm>
          <a:prstGeom prst="rect">
            <a:avLst/>
          </a:prstGeom>
          <a:noFill/>
          <a:ln/>
        </p:spPr>
        <p:txBody>
          <a:bodyPr wrap="square" lIns="0" tIns="0" rIns="0" bIns="0" rtlCol="0" anchor="ctr"/>
          <a:lstStyle/>
          <a:p>
            <a:pPr marL="0" indent="0">
              <a:buNone/>
            </a:pPr>
            <a:r>
              <a:rPr lang="en-US" sz="1000" dirty="0">
                <a:solidFill>
                  <a:srgbClr val="E6E8F8"/>
                </a:solidFill>
                <a:latin typeface="Calibri" pitchFamily="34" charset="0"/>
                <a:ea typeface="Calibri" pitchFamily="34" charset="-122"/>
                <a:cs typeface="Calibri" pitchFamily="34" charset="-120"/>
              </a:rPr>
              <a:t>Plans multi-step work and loops until done.</a:t>
            </a:r>
            <a:endParaRPr lang="en-US" sz="1000" dirty="0"/>
          </a:p>
        </p:txBody>
      </p:sp>
      <p:sp>
        <p:nvSpPr>
          <p:cNvPr id="23" name="Text 21"/>
          <p:cNvSpPr/>
          <p:nvPr/>
        </p:nvSpPr>
        <p:spPr>
          <a:xfrm>
            <a:off x="7287768" y="6080760"/>
            <a:ext cx="2103120" cy="548640"/>
          </a:xfrm>
          <a:prstGeom prst="rect">
            <a:avLst/>
          </a:prstGeom>
          <a:noFill/>
          <a:ln/>
        </p:spPr>
        <p:txBody>
          <a:bodyPr wrap="square" lIns="0" tIns="0" rIns="0" bIns="0" rtlCol="0" anchor="ctr"/>
          <a:lstStyle/>
          <a:p>
            <a:pPr marL="0" indent="0" algn="ctr">
              <a:buNone/>
            </a:pPr>
            <a:r>
              <a:rPr lang="en-US" sz="1050" i="1" dirty="0">
                <a:solidFill>
                  <a:srgbClr val="5A5F73"/>
                </a:solidFill>
                <a:latin typeface="Calibri" pitchFamily="34" charset="0"/>
                <a:ea typeface="Calibri" pitchFamily="34" charset="-122"/>
                <a:cs typeface="Calibri" pitchFamily="34" charset="-120"/>
              </a:rPr>
              <a:t>Resolves a refund end to end</a:t>
            </a:r>
            <a:endParaRPr lang="en-US" sz="1050" dirty="0"/>
          </a:p>
        </p:txBody>
      </p:sp>
      <p:sp>
        <p:nvSpPr>
          <p:cNvPr id="24" name="Shape 22"/>
          <p:cNvSpPr/>
          <p:nvPr/>
        </p:nvSpPr>
        <p:spPr>
          <a:xfrm>
            <a:off x="9473184" y="2066544"/>
            <a:ext cx="2011680" cy="3922776"/>
          </a:xfrm>
          <a:prstGeom prst="roundRect">
            <a:avLst>
              <a:gd name="adj" fmla="val 2727"/>
            </a:avLst>
          </a:prstGeom>
          <a:solidFill>
            <a:srgbClr val="00A6A6"/>
          </a:solidFill>
          <a:ln w="12700">
            <a:solidFill>
              <a:srgbClr val="00A6A6"/>
            </a:solidFill>
            <a:prstDash val="solid"/>
          </a:ln>
          <a:effectLst>
            <a:outerShdw blurRad="127000" dist="25400" dir="5400000" algn="bl" rotWithShape="0">
              <a:srgbClr val="9AA0BE">
                <a:alpha val="30000"/>
              </a:srgbClr>
            </a:outerShdw>
          </a:effectLst>
        </p:spPr>
        <p:txBody>
          <a:bodyPr/>
          <a:lstStyle/>
          <a:p>
            <a:endParaRPr lang="en-US"/>
          </a:p>
        </p:txBody>
      </p:sp>
      <p:sp>
        <p:nvSpPr>
          <p:cNvPr id="25" name="Text 23"/>
          <p:cNvSpPr/>
          <p:nvPr/>
        </p:nvSpPr>
        <p:spPr>
          <a:xfrm>
            <a:off x="9610344" y="2203704"/>
            <a:ext cx="17373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L4</a:t>
            </a:r>
            <a:endParaRPr lang="en-US" sz="1700" dirty="0"/>
          </a:p>
        </p:txBody>
      </p:sp>
      <p:sp>
        <p:nvSpPr>
          <p:cNvPr id="26" name="Text 24"/>
          <p:cNvSpPr/>
          <p:nvPr/>
        </p:nvSpPr>
        <p:spPr>
          <a:xfrm>
            <a:off x="9610344" y="2569464"/>
            <a:ext cx="173736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Multi-agent system</a:t>
            </a:r>
            <a:endParaRPr lang="en-US" sz="1250" dirty="0"/>
          </a:p>
        </p:txBody>
      </p:sp>
      <p:sp>
        <p:nvSpPr>
          <p:cNvPr id="27" name="Text 25"/>
          <p:cNvSpPr/>
          <p:nvPr/>
        </p:nvSpPr>
        <p:spPr>
          <a:xfrm>
            <a:off x="9610344" y="3090672"/>
            <a:ext cx="1737360" cy="777240"/>
          </a:xfrm>
          <a:prstGeom prst="rect">
            <a:avLst/>
          </a:prstGeom>
          <a:noFill/>
          <a:ln/>
        </p:spPr>
        <p:txBody>
          <a:bodyPr wrap="square" lIns="0" tIns="0" rIns="0" bIns="0" rtlCol="0" anchor="ctr"/>
          <a:lstStyle/>
          <a:p>
            <a:pPr marL="0" indent="0">
              <a:buNone/>
            </a:pPr>
            <a:r>
              <a:rPr lang="en-US" sz="1000" dirty="0">
                <a:solidFill>
                  <a:srgbClr val="E6E8F8"/>
                </a:solidFill>
                <a:latin typeface="Calibri" pitchFamily="34" charset="0"/>
                <a:ea typeface="Calibri" pitchFamily="34" charset="-122"/>
                <a:cs typeface="Calibri" pitchFamily="34" charset="-120"/>
              </a:rPr>
              <a:t>Specialised agents delegate and review each other.</a:t>
            </a:r>
            <a:endParaRPr lang="en-US" sz="1000" dirty="0"/>
          </a:p>
        </p:txBody>
      </p:sp>
      <p:sp>
        <p:nvSpPr>
          <p:cNvPr id="28" name="Text 26"/>
          <p:cNvSpPr/>
          <p:nvPr/>
        </p:nvSpPr>
        <p:spPr>
          <a:xfrm>
            <a:off x="9518904" y="6080760"/>
            <a:ext cx="2103120" cy="548640"/>
          </a:xfrm>
          <a:prstGeom prst="rect">
            <a:avLst/>
          </a:prstGeom>
          <a:noFill/>
          <a:ln/>
        </p:spPr>
        <p:txBody>
          <a:bodyPr wrap="square" lIns="0" tIns="0" rIns="0" bIns="0" rtlCol="0" anchor="ctr"/>
          <a:lstStyle/>
          <a:p>
            <a:pPr marL="0" indent="0" algn="ctr">
              <a:buNone/>
            </a:pPr>
            <a:r>
              <a:rPr lang="en-US" sz="1050" i="1" dirty="0">
                <a:solidFill>
                  <a:srgbClr val="5A5F73"/>
                </a:solidFill>
                <a:latin typeface="Calibri" pitchFamily="34" charset="0"/>
                <a:ea typeface="Calibri" pitchFamily="34" charset="-122"/>
                <a:cs typeface="Calibri" pitchFamily="34" charset="-120"/>
              </a:rPr>
              <a:t>Research + writer + checker crew</a:t>
            </a:r>
            <a:endParaRPr lang="en-US" sz="1050" dirty="0"/>
          </a:p>
        </p:txBody>
      </p:sp>
      <p:sp>
        <p:nvSpPr>
          <p:cNvPr id="29" name="Shape 27"/>
          <p:cNvSpPr/>
          <p:nvPr/>
        </p:nvSpPr>
        <p:spPr>
          <a:xfrm>
            <a:off x="548640" y="1481328"/>
            <a:ext cx="11091672" cy="256032"/>
          </a:xfrm>
          <a:prstGeom prst="rightArrow">
            <a:avLst/>
          </a:prstGeom>
          <a:solidFill>
            <a:srgbClr val="E6E8F4"/>
          </a:solidFill>
          <a:ln w="12700">
            <a:solidFill>
              <a:srgbClr val="E6E8F4"/>
            </a:solidFill>
            <a:prstDash val="solid"/>
          </a:ln>
        </p:spPr>
        <p:txBody>
          <a:bodyPr/>
          <a:lstStyle/>
          <a:p>
            <a:endParaRPr lang="en-US"/>
          </a:p>
        </p:txBody>
      </p:sp>
      <p:sp>
        <p:nvSpPr>
          <p:cNvPr id="30" name="Text 28"/>
          <p:cNvSpPr/>
          <p:nvPr/>
        </p:nvSpPr>
        <p:spPr>
          <a:xfrm>
            <a:off x="548640" y="1463040"/>
            <a:ext cx="10634472" cy="292608"/>
          </a:xfrm>
          <a:prstGeom prst="rect">
            <a:avLst/>
          </a:prstGeom>
          <a:noFill/>
          <a:ln/>
        </p:spPr>
        <p:txBody>
          <a:bodyPr wrap="square" lIns="0" tIns="0" rIns="0" bIns="0" rtlCol="0" anchor="ctr"/>
          <a:lstStyle/>
          <a:p>
            <a:pPr marL="0" indent="0" algn="ctr">
              <a:buNone/>
            </a:pPr>
            <a:r>
              <a:rPr lang="en-US" sz="1100" b="1" i="1" dirty="0">
                <a:solidFill>
                  <a:srgbClr val="2A2D7C"/>
                </a:solidFill>
                <a:latin typeface="Calibri" pitchFamily="34" charset="0"/>
                <a:ea typeface="Calibri" pitchFamily="34" charset="-122"/>
                <a:cs typeface="Calibri" pitchFamily="34" charset="-120"/>
              </a:rPr>
              <a:t>more autonomy  ·  more value  ·  more governance required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Agents at work</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Four patterns already running in production today</a:t>
            </a:r>
            <a:endParaRPr lang="en-US" sz="1400" dirty="0"/>
          </a:p>
        </p:txBody>
      </p:sp>
      <p:sp>
        <p:nvSpPr>
          <p:cNvPr id="4" name="Shape 2"/>
          <p:cNvSpPr/>
          <p:nvPr/>
        </p:nvSpPr>
        <p:spPr>
          <a:xfrm>
            <a:off x="548640" y="1645920"/>
            <a:ext cx="5394960" cy="2240280"/>
          </a:xfrm>
          <a:prstGeom prst="roundRect">
            <a:avLst>
              <a:gd name="adj" fmla="val 367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5" name="Shape 3"/>
          <p:cNvSpPr/>
          <p:nvPr/>
        </p:nvSpPr>
        <p:spPr>
          <a:xfrm>
            <a:off x="548640" y="1645920"/>
            <a:ext cx="5394960" cy="548640"/>
          </a:xfrm>
          <a:prstGeom prst="roundRect">
            <a:avLst>
              <a:gd name="adj" fmla="val 15000"/>
            </a:avLst>
          </a:prstGeom>
          <a:solidFill>
            <a:srgbClr val="2A2D7C"/>
          </a:solidFill>
          <a:ln w="12700">
            <a:solidFill>
              <a:srgbClr val="2A2D7C"/>
            </a:solidFill>
            <a:prstDash val="solid"/>
          </a:ln>
        </p:spPr>
        <p:txBody>
          <a:bodyPr/>
          <a:lstStyle/>
          <a:p>
            <a:endParaRPr lang="en-US"/>
          </a:p>
        </p:txBody>
      </p:sp>
      <p:sp>
        <p:nvSpPr>
          <p:cNvPr id="6" name="Shape 4"/>
          <p:cNvSpPr/>
          <p:nvPr/>
        </p:nvSpPr>
        <p:spPr>
          <a:xfrm>
            <a:off x="548640" y="1965960"/>
            <a:ext cx="5394960" cy="228600"/>
          </a:xfrm>
          <a:prstGeom prst="rect">
            <a:avLst/>
          </a:prstGeom>
          <a:solidFill>
            <a:srgbClr val="2A2D7C"/>
          </a:solidFill>
          <a:ln w="12700">
            <a:solidFill>
              <a:srgbClr val="2A2D7C"/>
            </a:solidFill>
            <a:prstDash val="solid"/>
          </a:ln>
        </p:spPr>
        <p:txBody>
          <a:bodyPr/>
          <a:lstStyle/>
          <a:p>
            <a:endParaRPr lang="en-US"/>
          </a:p>
        </p:txBody>
      </p:sp>
      <p:sp>
        <p:nvSpPr>
          <p:cNvPr id="7" name="Text 5"/>
          <p:cNvSpPr/>
          <p:nvPr/>
        </p:nvSpPr>
        <p:spPr>
          <a:xfrm>
            <a:off x="777240" y="1645920"/>
            <a:ext cx="4937760" cy="5486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Software engineering agent</a:t>
            </a:r>
            <a:endParaRPr lang="en-US" sz="1450" dirty="0"/>
          </a:p>
        </p:txBody>
      </p:sp>
      <p:sp>
        <p:nvSpPr>
          <p:cNvPr id="8" name="Text 6"/>
          <p:cNvSpPr/>
          <p:nvPr/>
        </p:nvSpPr>
        <p:spPr>
          <a:xfrm>
            <a:off x="804672" y="2304288"/>
            <a:ext cx="274320" cy="274320"/>
          </a:xfrm>
          <a:prstGeom prst="rect">
            <a:avLst/>
          </a:prstGeom>
          <a:noFill/>
          <a:ln/>
        </p:spPr>
        <p:txBody>
          <a:bodyPr wrap="square" lIns="0" tIns="0" rIns="0" bIns="0" rtlCol="0" anchor="ctr"/>
          <a:lstStyle/>
          <a:p>
            <a:pPr marL="0" indent="0">
              <a:buNone/>
            </a:pPr>
            <a:r>
              <a:rPr lang="en-US" sz="1050" b="1" dirty="0">
                <a:solidFill>
                  <a:srgbClr val="2A2D7C"/>
                </a:solidFill>
                <a:latin typeface="Arial" pitchFamily="34" charset="0"/>
                <a:ea typeface="Arial" pitchFamily="34" charset="-122"/>
                <a:cs typeface="Arial" pitchFamily="34" charset="-120"/>
              </a:rPr>
              <a:t>1.</a:t>
            </a:r>
            <a:endParaRPr lang="en-US" sz="1050" dirty="0"/>
          </a:p>
        </p:txBody>
      </p:sp>
      <p:sp>
        <p:nvSpPr>
          <p:cNvPr id="9" name="Text 7"/>
          <p:cNvSpPr/>
          <p:nvPr/>
        </p:nvSpPr>
        <p:spPr>
          <a:xfrm>
            <a:off x="1097280" y="2304288"/>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Reads the ticket and the repository</a:t>
            </a:r>
            <a:endParaRPr lang="en-US" sz="1150" dirty="0"/>
          </a:p>
        </p:txBody>
      </p:sp>
      <p:sp>
        <p:nvSpPr>
          <p:cNvPr id="10" name="Text 8"/>
          <p:cNvSpPr/>
          <p:nvPr/>
        </p:nvSpPr>
        <p:spPr>
          <a:xfrm>
            <a:off x="804672" y="2633472"/>
            <a:ext cx="274320" cy="274320"/>
          </a:xfrm>
          <a:prstGeom prst="rect">
            <a:avLst/>
          </a:prstGeom>
          <a:noFill/>
          <a:ln/>
        </p:spPr>
        <p:txBody>
          <a:bodyPr wrap="square" lIns="0" tIns="0" rIns="0" bIns="0" rtlCol="0" anchor="ctr"/>
          <a:lstStyle/>
          <a:p>
            <a:pPr marL="0" indent="0">
              <a:buNone/>
            </a:pPr>
            <a:r>
              <a:rPr lang="en-US" sz="1050" b="1" dirty="0">
                <a:solidFill>
                  <a:srgbClr val="2A2D7C"/>
                </a:solidFill>
                <a:latin typeface="Arial" pitchFamily="34" charset="0"/>
                <a:ea typeface="Arial" pitchFamily="34" charset="-122"/>
                <a:cs typeface="Arial" pitchFamily="34" charset="-120"/>
              </a:rPr>
              <a:t>2.</a:t>
            </a:r>
            <a:endParaRPr lang="en-US" sz="1050" dirty="0"/>
          </a:p>
        </p:txBody>
      </p:sp>
      <p:sp>
        <p:nvSpPr>
          <p:cNvPr id="11" name="Text 9"/>
          <p:cNvSpPr/>
          <p:nvPr/>
        </p:nvSpPr>
        <p:spPr>
          <a:xfrm>
            <a:off x="1097280" y="2633472"/>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Writes the fix and the tests</a:t>
            </a:r>
            <a:endParaRPr lang="en-US" sz="1150" dirty="0"/>
          </a:p>
        </p:txBody>
      </p:sp>
      <p:sp>
        <p:nvSpPr>
          <p:cNvPr id="12" name="Text 10"/>
          <p:cNvSpPr/>
          <p:nvPr/>
        </p:nvSpPr>
        <p:spPr>
          <a:xfrm>
            <a:off x="804672" y="2962656"/>
            <a:ext cx="274320" cy="274320"/>
          </a:xfrm>
          <a:prstGeom prst="rect">
            <a:avLst/>
          </a:prstGeom>
          <a:noFill/>
          <a:ln/>
        </p:spPr>
        <p:txBody>
          <a:bodyPr wrap="square" lIns="0" tIns="0" rIns="0" bIns="0" rtlCol="0" anchor="ctr"/>
          <a:lstStyle/>
          <a:p>
            <a:pPr marL="0" indent="0">
              <a:buNone/>
            </a:pPr>
            <a:r>
              <a:rPr lang="en-US" sz="1050" b="1" dirty="0">
                <a:solidFill>
                  <a:srgbClr val="2A2D7C"/>
                </a:solidFill>
                <a:latin typeface="Arial" pitchFamily="34" charset="0"/>
                <a:ea typeface="Arial" pitchFamily="34" charset="-122"/>
                <a:cs typeface="Arial" pitchFamily="34" charset="-120"/>
              </a:rPr>
              <a:t>3.</a:t>
            </a:r>
            <a:endParaRPr lang="en-US" sz="1050" dirty="0"/>
          </a:p>
        </p:txBody>
      </p:sp>
      <p:sp>
        <p:nvSpPr>
          <p:cNvPr id="13" name="Text 11"/>
          <p:cNvSpPr/>
          <p:nvPr/>
        </p:nvSpPr>
        <p:spPr>
          <a:xfrm>
            <a:off x="1097280" y="2962656"/>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Runs the suite, reads failures, retries</a:t>
            </a:r>
            <a:endParaRPr lang="en-US" sz="1150" dirty="0"/>
          </a:p>
        </p:txBody>
      </p:sp>
      <p:sp>
        <p:nvSpPr>
          <p:cNvPr id="14" name="Text 12"/>
          <p:cNvSpPr/>
          <p:nvPr/>
        </p:nvSpPr>
        <p:spPr>
          <a:xfrm>
            <a:off x="804672" y="3291840"/>
            <a:ext cx="274320" cy="274320"/>
          </a:xfrm>
          <a:prstGeom prst="rect">
            <a:avLst/>
          </a:prstGeom>
          <a:noFill/>
          <a:ln/>
        </p:spPr>
        <p:txBody>
          <a:bodyPr wrap="square" lIns="0" tIns="0" rIns="0" bIns="0" rtlCol="0" anchor="ctr"/>
          <a:lstStyle/>
          <a:p>
            <a:pPr marL="0" indent="0">
              <a:buNone/>
            </a:pPr>
            <a:r>
              <a:rPr lang="en-US" sz="1050" b="1" dirty="0">
                <a:solidFill>
                  <a:srgbClr val="2A2D7C"/>
                </a:solidFill>
                <a:latin typeface="Arial" pitchFamily="34" charset="0"/>
                <a:ea typeface="Arial" pitchFamily="34" charset="-122"/>
                <a:cs typeface="Arial" pitchFamily="34" charset="-120"/>
              </a:rPr>
              <a:t>4.</a:t>
            </a:r>
            <a:endParaRPr lang="en-US" sz="1050" dirty="0"/>
          </a:p>
        </p:txBody>
      </p:sp>
      <p:sp>
        <p:nvSpPr>
          <p:cNvPr id="15" name="Text 13"/>
          <p:cNvSpPr/>
          <p:nvPr/>
        </p:nvSpPr>
        <p:spPr>
          <a:xfrm>
            <a:off x="1097280" y="3291840"/>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Opens a pull request for human review</a:t>
            </a:r>
            <a:endParaRPr lang="en-US" sz="1150" dirty="0"/>
          </a:p>
        </p:txBody>
      </p:sp>
      <p:sp>
        <p:nvSpPr>
          <p:cNvPr id="16" name="Text 14"/>
          <p:cNvSpPr/>
          <p:nvPr/>
        </p:nvSpPr>
        <p:spPr>
          <a:xfrm>
            <a:off x="804672" y="3547872"/>
            <a:ext cx="4882896" cy="292608"/>
          </a:xfrm>
          <a:prstGeom prst="rect">
            <a:avLst/>
          </a:prstGeom>
          <a:noFill/>
          <a:ln/>
        </p:spPr>
        <p:txBody>
          <a:bodyPr wrap="square" lIns="0" tIns="0" rIns="0" bIns="0" rtlCol="0" anchor="ctr"/>
          <a:lstStyle/>
          <a:p>
            <a:pPr marL="0" indent="0">
              <a:buNone/>
            </a:pPr>
            <a:r>
              <a:rPr lang="en-US" sz="1050" i="1" dirty="0">
                <a:solidFill>
                  <a:srgbClr val="5A5F73"/>
                </a:solidFill>
                <a:latin typeface="Calibri" pitchFamily="34" charset="0"/>
                <a:ea typeface="Calibri" pitchFamily="34" charset="-122"/>
                <a:cs typeface="Calibri" pitchFamily="34" charset="-120"/>
              </a:rPr>
              <a:t>Claude Code, GitHub Copilot agent</a:t>
            </a:r>
            <a:endParaRPr lang="en-US" sz="1050" dirty="0"/>
          </a:p>
        </p:txBody>
      </p:sp>
      <p:sp>
        <p:nvSpPr>
          <p:cNvPr id="17" name="Shape 15"/>
          <p:cNvSpPr/>
          <p:nvPr/>
        </p:nvSpPr>
        <p:spPr>
          <a:xfrm>
            <a:off x="6245352" y="1645920"/>
            <a:ext cx="5394960" cy="2240280"/>
          </a:xfrm>
          <a:prstGeom prst="roundRect">
            <a:avLst>
              <a:gd name="adj" fmla="val 367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18" name="Shape 16"/>
          <p:cNvSpPr/>
          <p:nvPr/>
        </p:nvSpPr>
        <p:spPr>
          <a:xfrm>
            <a:off x="6245352" y="1645920"/>
            <a:ext cx="5394960" cy="548640"/>
          </a:xfrm>
          <a:prstGeom prst="roundRect">
            <a:avLst>
              <a:gd name="adj" fmla="val 15000"/>
            </a:avLst>
          </a:prstGeom>
          <a:solidFill>
            <a:srgbClr val="00A6A6"/>
          </a:solidFill>
          <a:ln w="12700">
            <a:solidFill>
              <a:srgbClr val="00A6A6"/>
            </a:solidFill>
            <a:prstDash val="solid"/>
          </a:ln>
        </p:spPr>
        <p:txBody>
          <a:bodyPr/>
          <a:lstStyle/>
          <a:p>
            <a:endParaRPr lang="en-US"/>
          </a:p>
        </p:txBody>
      </p:sp>
      <p:sp>
        <p:nvSpPr>
          <p:cNvPr id="19" name="Shape 17"/>
          <p:cNvSpPr/>
          <p:nvPr/>
        </p:nvSpPr>
        <p:spPr>
          <a:xfrm>
            <a:off x="6245352" y="1965960"/>
            <a:ext cx="5394960" cy="228600"/>
          </a:xfrm>
          <a:prstGeom prst="rect">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6473952" y="1645920"/>
            <a:ext cx="4937760" cy="5486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Customer service agent</a:t>
            </a:r>
            <a:endParaRPr lang="en-US" sz="1450" dirty="0"/>
          </a:p>
        </p:txBody>
      </p:sp>
      <p:sp>
        <p:nvSpPr>
          <p:cNvPr id="21" name="Text 19"/>
          <p:cNvSpPr/>
          <p:nvPr/>
        </p:nvSpPr>
        <p:spPr>
          <a:xfrm>
            <a:off x="6501384" y="2304288"/>
            <a:ext cx="274320" cy="274320"/>
          </a:xfrm>
          <a:prstGeom prst="rect">
            <a:avLst/>
          </a:prstGeom>
          <a:noFill/>
          <a:ln/>
        </p:spPr>
        <p:txBody>
          <a:bodyPr wrap="square" lIns="0" tIns="0" rIns="0" bIns="0" rtlCol="0" anchor="ctr"/>
          <a:lstStyle/>
          <a:p>
            <a:pPr marL="0" indent="0">
              <a:buNone/>
            </a:pPr>
            <a:r>
              <a:rPr lang="en-US" sz="1050" b="1" dirty="0">
                <a:solidFill>
                  <a:srgbClr val="00A6A6"/>
                </a:solidFill>
                <a:latin typeface="Arial" pitchFamily="34" charset="0"/>
                <a:ea typeface="Arial" pitchFamily="34" charset="-122"/>
                <a:cs typeface="Arial" pitchFamily="34" charset="-120"/>
              </a:rPr>
              <a:t>1.</a:t>
            </a:r>
            <a:endParaRPr lang="en-US" sz="1050" dirty="0"/>
          </a:p>
        </p:txBody>
      </p:sp>
      <p:sp>
        <p:nvSpPr>
          <p:cNvPr id="22" name="Text 20"/>
          <p:cNvSpPr/>
          <p:nvPr/>
        </p:nvSpPr>
        <p:spPr>
          <a:xfrm>
            <a:off x="6793992" y="2304288"/>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Reads the complaint and the account history</a:t>
            </a:r>
            <a:endParaRPr lang="en-US" sz="1150" dirty="0"/>
          </a:p>
        </p:txBody>
      </p:sp>
      <p:sp>
        <p:nvSpPr>
          <p:cNvPr id="23" name="Text 21"/>
          <p:cNvSpPr/>
          <p:nvPr/>
        </p:nvSpPr>
        <p:spPr>
          <a:xfrm>
            <a:off x="6501384" y="2633472"/>
            <a:ext cx="274320" cy="274320"/>
          </a:xfrm>
          <a:prstGeom prst="rect">
            <a:avLst/>
          </a:prstGeom>
          <a:noFill/>
          <a:ln/>
        </p:spPr>
        <p:txBody>
          <a:bodyPr wrap="square" lIns="0" tIns="0" rIns="0" bIns="0" rtlCol="0" anchor="ctr"/>
          <a:lstStyle/>
          <a:p>
            <a:pPr marL="0" indent="0">
              <a:buNone/>
            </a:pPr>
            <a:r>
              <a:rPr lang="en-US" sz="1050" b="1" dirty="0">
                <a:solidFill>
                  <a:srgbClr val="00A6A6"/>
                </a:solidFill>
                <a:latin typeface="Arial" pitchFamily="34" charset="0"/>
                <a:ea typeface="Arial" pitchFamily="34" charset="-122"/>
                <a:cs typeface="Arial" pitchFamily="34" charset="-120"/>
              </a:rPr>
              <a:t>2.</a:t>
            </a:r>
            <a:endParaRPr lang="en-US" sz="1050" dirty="0"/>
          </a:p>
        </p:txBody>
      </p:sp>
      <p:sp>
        <p:nvSpPr>
          <p:cNvPr id="24" name="Text 22"/>
          <p:cNvSpPr/>
          <p:nvPr/>
        </p:nvSpPr>
        <p:spPr>
          <a:xfrm>
            <a:off x="6793992" y="2633472"/>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Checks entitlement against policy</a:t>
            </a:r>
            <a:endParaRPr lang="en-US" sz="1150" dirty="0"/>
          </a:p>
        </p:txBody>
      </p:sp>
      <p:sp>
        <p:nvSpPr>
          <p:cNvPr id="25" name="Text 23"/>
          <p:cNvSpPr/>
          <p:nvPr/>
        </p:nvSpPr>
        <p:spPr>
          <a:xfrm>
            <a:off x="6501384" y="2962656"/>
            <a:ext cx="274320" cy="274320"/>
          </a:xfrm>
          <a:prstGeom prst="rect">
            <a:avLst/>
          </a:prstGeom>
          <a:noFill/>
          <a:ln/>
        </p:spPr>
        <p:txBody>
          <a:bodyPr wrap="square" lIns="0" tIns="0" rIns="0" bIns="0" rtlCol="0" anchor="ctr"/>
          <a:lstStyle/>
          <a:p>
            <a:pPr marL="0" indent="0">
              <a:buNone/>
            </a:pPr>
            <a:r>
              <a:rPr lang="en-US" sz="1050" b="1" dirty="0">
                <a:solidFill>
                  <a:srgbClr val="00A6A6"/>
                </a:solidFill>
                <a:latin typeface="Arial" pitchFamily="34" charset="0"/>
                <a:ea typeface="Arial" pitchFamily="34" charset="-122"/>
                <a:cs typeface="Arial" pitchFamily="34" charset="-120"/>
              </a:rPr>
              <a:t>3.</a:t>
            </a:r>
            <a:endParaRPr lang="en-US" sz="1050" dirty="0"/>
          </a:p>
        </p:txBody>
      </p:sp>
      <p:sp>
        <p:nvSpPr>
          <p:cNvPr id="26" name="Text 24"/>
          <p:cNvSpPr/>
          <p:nvPr/>
        </p:nvSpPr>
        <p:spPr>
          <a:xfrm>
            <a:off x="6793992" y="2962656"/>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Issues the refund in the billing system</a:t>
            </a:r>
            <a:endParaRPr lang="en-US" sz="1150" dirty="0"/>
          </a:p>
        </p:txBody>
      </p:sp>
      <p:sp>
        <p:nvSpPr>
          <p:cNvPr id="27" name="Text 25"/>
          <p:cNvSpPr/>
          <p:nvPr/>
        </p:nvSpPr>
        <p:spPr>
          <a:xfrm>
            <a:off x="6501384" y="3291840"/>
            <a:ext cx="274320" cy="274320"/>
          </a:xfrm>
          <a:prstGeom prst="rect">
            <a:avLst/>
          </a:prstGeom>
          <a:noFill/>
          <a:ln/>
        </p:spPr>
        <p:txBody>
          <a:bodyPr wrap="square" lIns="0" tIns="0" rIns="0" bIns="0" rtlCol="0" anchor="ctr"/>
          <a:lstStyle/>
          <a:p>
            <a:pPr marL="0" indent="0">
              <a:buNone/>
            </a:pPr>
            <a:r>
              <a:rPr lang="en-US" sz="1050" b="1" dirty="0">
                <a:solidFill>
                  <a:srgbClr val="00A6A6"/>
                </a:solidFill>
                <a:latin typeface="Arial" pitchFamily="34" charset="0"/>
                <a:ea typeface="Arial" pitchFamily="34" charset="-122"/>
                <a:cs typeface="Arial" pitchFamily="34" charset="-120"/>
              </a:rPr>
              <a:t>4.</a:t>
            </a:r>
            <a:endParaRPr lang="en-US" sz="1050" dirty="0"/>
          </a:p>
        </p:txBody>
      </p:sp>
      <p:sp>
        <p:nvSpPr>
          <p:cNvPr id="28" name="Text 26"/>
          <p:cNvSpPr/>
          <p:nvPr/>
        </p:nvSpPr>
        <p:spPr>
          <a:xfrm>
            <a:off x="6793992" y="3291840"/>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Escalates when confidence is low</a:t>
            </a:r>
            <a:endParaRPr lang="en-US" sz="1150" dirty="0"/>
          </a:p>
        </p:txBody>
      </p:sp>
      <p:sp>
        <p:nvSpPr>
          <p:cNvPr id="29" name="Text 27"/>
          <p:cNvSpPr/>
          <p:nvPr/>
        </p:nvSpPr>
        <p:spPr>
          <a:xfrm>
            <a:off x="6501384" y="3547872"/>
            <a:ext cx="4882896" cy="292608"/>
          </a:xfrm>
          <a:prstGeom prst="rect">
            <a:avLst/>
          </a:prstGeom>
          <a:noFill/>
          <a:ln/>
        </p:spPr>
        <p:txBody>
          <a:bodyPr wrap="square" lIns="0" tIns="0" rIns="0" bIns="0" rtlCol="0" anchor="ctr"/>
          <a:lstStyle/>
          <a:p>
            <a:pPr marL="0" indent="0">
              <a:buNone/>
            </a:pPr>
            <a:r>
              <a:rPr lang="en-US" sz="1050" i="1" dirty="0">
                <a:solidFill>
                  <a:srgbClr val="5A5F73"/>
                </a:solidFill>
                <a:latin typeface="Calibri" pitchFamily="34" charset="0"/>
                <a:ea typeface="Calibri" pitchFamily="34" charset="-122"/>
                <a:cs typeface="Calibri" pitchFamily="34" charset="-120"/>
              </a:rPr>
              <a:t>Tier-1 resolution without a handoff</a:t>
            </a:r>
            <a:endParaRPr lang="en-US" sz="1050" dirty="0"/>
          </a:p>
        </p:txBody>
      </p:sp>
      <p:sp>
        <p:nvSpPr>
          <p:cNvPr id="30" name="Shape 28"/>
          <p:cNvSpPr/>
          <p:nvPr/>
        </p:nvSpPr>
        <p:spPr>
          <a:xfrm>
            <a:off x="548640" y="4133088"/>
            <a:ext cx="5394960" cy="2240280"/>
          </a:xfrm>
          <a:prstGeom prst="roundRect">
            <a:avLst>
              <a:gd name="adj" fmla="val 367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31" name="Shape 29"/>
          <p:cNvSpPr/>
          <p:nvPr/>
        </p:nvSpPr>
        <p:spPr>
          <a:xfrm>
            <a:off x="548640" y="4133088"/>
            <a:ext cx="5394960" cy="548640"/>
          </a:xfrm>
          <a:prstGeom prst="roundRect">
            <a:avLst>
              <a:gd name="adj" fmla="val 15000"/>
            </a:avLst>
          </a:prstGeom>
          <a:solidFill>
            <a:srgbClr val="5B5FBF"/>
          </a:solidFill>
          <a:ln w="12700">
            <a:solidFill>
              <a:srgbClr val="5B5FBF"/>
            </a:solidFill>
            <a:prstDash val="solid"/>
          </a:ln>
        </p:spPr>
        <p:txBody>
          <a:bodyPr/>
          <a:lstStyle/>
          <a:p>
            <a:endParaRPr lang="en-US"/>
          </a:p>
        </p:txBody>
      </p:sp>
      <p:sp>
        <p:nvSpPr>
          <p:cNvPr id="32" name="Shape 30"/>
          <p:cNvSpPr/>
          <p:nvPr/>
        </p:nvSpPr>
        <p:spPr>
          <a:xfrm>
            <a:off x="548640" y="4453128"/>
            <a:ext cx="5394960" cy="228600"/>
          </a:xfrm>
          <a:prstGeom prst="rect">
            <a:avLst/>
          </a:prstGeom>
          <a:solidFill>
            <a:srgbClr val="5B5FBF"/>
          </a:solidFill>
          <a:ln w="12700">
            <a:solidFill>
              <a:srgbClr val="5B5FBF"/>
            </a:solidFill>
            <a:prstDash val="solid"/>
          </a:ln>
        </p:spPr>
        <p:txBody>
          <a:bodyPr/>
          <a:lstStyle/>
          <a:p>
            <a:endParaRPr lang="en-US"/>
          </a:p>
        </p:txBody>
      </p:sp>
      <p:sp>
        <p:nvSpPr>
          <p:cNvPr id="33" name="Text 31"/>
          <p:cNvSpPr/>
          <p:nvPr/>
        </p:nvSpPr>
        <p:spPr>
          <a:xfrm>
            <a:off x="777240" y="4133088"/>
            <a:ext cx="4937760" cy="5486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Research agent</a:t>
            </a:r>
            <a:endParaRPr lang="en-US" sz="1450" dirty="0"/>
          </a:p>
        </p:txBody>
      </p:sp>
      <p:sp>
        <p:nvSpPr>
          <p:cNvPr id="34" name="Text 32"/>
          <p:cNvSpPr/>
          <p:nvPr/>
        </p:nvSpPr>
        <p:spPr>
          <a:xfrm>
            <a:off x="804672" y="4791456"/>
            <a:ext cx="274320" cy="274320"/>
          </a:xfrm>
          <a:prstGeom prst="rect">
            <a:avLst/>
          </a:prstGeom>
          <a:noFill/>
          <a:ln/>
        </p:spPr>
        <p:txBody>
          <a:bodyPr wrap="square" lIns="0" tIns="0" rIns="0" bIns="0" rtlCol="0" anchor="ctr"/>
          <a:lstStyle/>
          <a:p>
            <a:pPr marL="0" indent="0">
              <a:buNone/>
            </a:pPr>
            <a:r>
              <a:rPr lang="en-US" sz="1050" b="1" dirty="0">
                <a:solidFill>
                  <a:srgbClr val="5B5FBF"/>
                </a:solidFill>
                <a:latin typeface="Arial" pitchFamily="34" charset="0"/>
                <a:ea typeface="Arial" pitchFamily="34" charset="-122"/>
                <a:cs typeface="Arial" pitchFamily="34" charset="-120"/>
              </a:rPr>
              <a:t>1.</a:t>
            </a:r>
            <a:endParaRPr lang="en-US" sz="1050" dirty="0"/>
          </a:p>
        </p:txBody>
      </p:sp>
      <p:sp>
        <p:nvSpPr>
          <p:cNvPr id="35" name="Text 33"/>
          <p:cNvSpPr/>
          <p:nvPr/>
        </p:nvSpPr>
        <p:spPr>
          <a:xfrm>
            <a:off x="1097280" y="4791456"/>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Decomposes the question into sub-queries</a:t>
            </a:r>
            <a:endParaRPr lang="en-US" sz="1150" dirty="0"/>
          </a:p>
        </p:txBody>
      </p:sp>
      <p:sp>
        <p:nvSpPr>
          <p:cNvPr id="36" name="Text 34"/>
          <p:cNvSpPr/>
          <p:nvPr/>
        </p:nvSpPr>
        <p:spPr>
          <a:xfrm>
            <a:off x="804672" y="5120640"/>
            <a:ext cx="274320" cy="274320"/>
          </a:xfrm>
          <a:prstGeom prst="rect">
            <a:avLst/>
          </a:prstGeom>
          <a:noFill/>
          <a:ln/>
        </p:spPr>
        <p:txBody>
          <a:bodyPr wrap="square" lIns="0" tIns="0" rIns="0" bIns="0" rtlCol="0" anchor="ctr"/>
          <a:lstStyle/>
          <a:p>
            <a:pPr marL="0" indent="0">
              <a:buNone/>
            </a:pPr>
            <a:r>
              <a:rPr lang="en-US" sz="1050" b="1" dirty="0">
                <a:solidFill>
                  <a:srgbClr val="5B5FBF"/>
                </a:solidFill>
                <a:latin typeface="Arial" pitchFamily="34" charset="0"/>
                <a:ea typeface="Arial" pitchFamily="34" charset="-122"/>
                <a:cs typeface="Arial" pitchFamily="34" charset="-120"/>
              </a:rPr>
              <a:t>2.</a:t>
            </a:r>
            <a:endParaRPr lang="en-US" sz="1050" dirty="0"/>
          </a:p>
        </p:txBody>
      </p:sp>
      <p:sp>
        <p:nvSpPr>
          <p:cNvPr id="37" name="Text 35"/>
          <p:cNvSpPr/>
          <p:nvPr/>
        </p:nvSpPr>
        <p:spPr>
          <a:xfrm>
            <a:off x="1097280" y="5120640"/>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Searches, reads and cross-checks sources</a:t>
            </a:r>
            <a:endParaRPr lang="en-US" sz="1150" dirty="0"/>
          </a:p>
        </p:txBody>
      </p:sp>
      <p:sp>
        <p:nvSpPr>
          <p:cNvPr id="38" name="Text 36"/>
          <p:cNvSpPr/>
          <p:nvPr/>
        </p:nvSpPr>
        <p:spPr>
          <a:xfrm>
            <a:off x="804672" y="5449824"/>
            <a:ext cx="274320" cy="274320"/>
          </a:xfrm>
          <a:prstGeom prst="rect">
            <a:avLst/>
          </a:prstGeom>
          <a:noFill/>
          <a:ln/>
        </p:spPr>
        <p:txBody>
          <a:bodyPr wrap="square" lIns="0" tIns="0" rIns="0" bIns="0" rtlCol="0" anchor="ctr"/>
          <a:lstStyle/>
          <a:p>
            <a:pPr marL="0" indent="0">
              <a:buNone/>
            </a:pPr>
            <a:r>
              <a:rPr lang="en-US" sz="1050" b="1" dirty="0">
                <a:solidFill>
                  <a:srgbClr val="5B5FBF"/>
                </a:solidFill>
                <a:latin typeface="Arial" pitchFamily="34" charset="0"/>
                <a:ea typeface="Arial" pitchFamily="34" charset="-122"/>
                <a:cs typeface="Arial" pitchFamily="34" charset="-120"/>
              </a:rPr>
              <a:t>3.</a:t>
            </a:r>
            <a:endParaRPr lang="en-US" sz="1050" dirty="0"/>
          </a:p>
        </p:txBody>
      </p:sp>
      <p:sp>
        <p:nvSpPr>
          <p:cNvPr id="39" name="Text 37"/>
          <p:cNvSpPr/>
          <p:nvPr/>
        </p:nvSpPr>
        <p:spPr>
          <a:xfrm>
            <a:off x="1097280" y="5449824"/>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Notes conflicts and gaps</a:t>
            </a:r>
            <a:endParaRPr lang="en-US" sz="1150" dirty="0"/>
          </a:p>
        </p:txBody>
      </p:sp>
      <p:sp>
        <p:nvSpPr>
          <p:cNvPr id="40" name="Text 38"/>
          <p:cNvSpPr/>
          <p:nvPr/>
        </p:nvSpPr>
        <p:spPr>
          <a:xfrm>
            <a:off x="804672" y="5779008"/>
            <a:ext cx="274320" cy="274320"/>
          </a:xfrm>
          <a:prstGeom prst="rect">
            <a:avLst/>
          </a:prstGeom>
          <a:noFill/>
          <a:ln/>
        </p:spPr>
        <p:txBody>
          <a:bodyPr wrap="square" lIns="0" tIns="0" rIns="0" bIns="0" rtlCol="0" anchor="ctr"/>
          <a:lstStyle/>
          <a:p>
            <a:pPr marL="0" indent="0">
              <a:buNone/>
            </a:pPr>
            <a:r>
              <a:rPr lang="en-US" sz="1050" b="1" dirty="0">
                <a:solidFill>
                  <a:srgbClr val="5B5FBF"/>
                </a:solidFill>
                <a:latin typeface="Arial" pitchFamily="34" charset="0"/>
                <a:ea typeface="Arial" pitchFamily="34" charset="-122"/>
                <a:cs typeface="Arial" pitchFamily="34" charset="-120"/>
              </a:rPr>
              <a:t>4.</a:t>
            </a:r>
            <a:endParaRPr lang="en-US" sz="1050" dirty="0"/>
          </a:p>
        </p:txBody>
      </p:sp>
      <p:sp>
        <p:nvSpPr>
          <p:cNvPr id="41" name="Text 39"/>
          <p:cNvSpPr/>
          <p:nvPr/>
        </p:nvSpPr>
        <p:spPr>
          <a:xfrm>
            <a:off x="1097280" y="5779008"/>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Delivers a cited synthesis</a:t>
            </a:r>
            <a:endParaRPr lang="en-US" sz="1150" dirty="0"/>
          </a:p>
        </p:txBody>
      </p:sp>
      <p:sp>
        <p:nvSpPr>
          <p:cNvPr id="42" name="Text 40"/>
          <p:cNvSpPr/>
          <p:nvPr/>
        </p:nvSpPr>
        <p:spPr>
          <a:xfrm>
            <a:off x="804672" y="6035040"/>
            <a:ext cx="4882896" cy="292608"/>
          </a:xfrm>
          <a:prstGeom prst="rect">
            <a:avLst/>
          </a:prstGeom>
          <a:noFill/>
          <a:ln/>
        </p:spPr>
        <p:txBody>
          <a:bodyPr wrap="square" lIns="0" tIns="0" rIns="0" bIns="0" rtlCol="0" anchor="ctr"/>
          <a:lstStyle/>
          <a:p>
            <a:pPr marL="0" indent="0">
              <a:buNone/>
            </a:pPr>
            <a:r>
              <a:rPr lang="en-US" sz="1050" i="1" dirty="0">
                <a:solidFill>
                  <a:srgbClr val="5A5F73"/>
                </a:solidFill>
                <a:latin typeface="Calibri" pitchFamily="34" charset="0"/>
                <a:ea typeface="Calibri" pitchFamily="34" charset="-122"/>
                <a:cs typeface="Calibri" pitchFamily="34" charset="-120"/>
              </a:rPr>
              <a:t>Market scans, due diligence packs</a:t>
            </a:r>
            <a:endParaRPr lang="en-US" sz="1050" dirty="0"/>
          </a:p>
        </p:txBody>
      </p:sp>
      <p:sp>
        <p:nvSpPr>
          <p:cNvPr id="43" name="Shape 41"/>
          <p:cNvSpPr/>
          <p:nvPr/>
        </p:nvSpPr>
        <p:spPr>
          <a:xfrm>
            <a:off x="6245352" y="4133088"/>
            <a:ext cx="5394960" cy="2240280"/>
          </a:xfrm>
          <a:prstGeom prst="roundRect">
            <a:avLst>
              <a:gd name="adj" fmla="val 3673"/>
            </a:avLst>
          </a:prstGeom>
          <a:solidFill>
            <a:srgbClr val="F4F5FA"/>
          </a:solidFill>
          <a:ln w="12700">
            <a:solidFill>
              <a:srgbClr val="DCDFEE"/>
            </a:solidFill>
            <a:prstDash val="solid"/>
          </a:ln>
          <a:effectLst>
            <a:outerShdw blurRad="127000" dist="25400" dir="5400000" algn="bl" rotWithShape="0">
              <a:srgbClr val="9AA0BE">
                <a:alpha val="30000"/>
              </a:srgbClr>
            </a:outerShdw>
          </a:effectLst>
        </p:spPr>
        <p:txBody>
          <a:bodyPr/>
          <a:lstStyle/>
          <a:p>
            <a:endParaRPr lang="en-US"/>
          </a:p>
        </p:txBody>
      </p:sp>
      <p:sp>
        <p:nvSpPr>
          <p:cNvPr id="44" name="Shape 42"/>
          <p:cNvSpPr/>
          <p:nvPr/>
        </p:nvSpPr>
        <p:spPr>
          <a:xfrm>
            <a:off x="6245352" y="4133088"/>
            <a:ext cx="5394960" cy="548640"/>
          </a:xfrm>
          <a:prstGeom prst="roundRect">
            <a:avLst>
              <a:gd name="adj" fmla="val 15000"/>
            </a:avLst>
          </a:prstGeom>
          <a:solidFill>
            <a:srgbClr val="E09400"/>
          </a:solidFill>
          <a:ln w="12700">
            <a:solidFill>
              <a:srgbClr val="E09400"/>
            </a:solidFill>
            <a:prstDash val="solid"/>
          </a:ln>
        </p:spPr>
        <p:txBody>
          <a:bodyPr/>
          <a:lstStyle/>
          <a:p>
            <a:endParaRPr lang="en-US"/>
          </a:p>
        </p:txBody>
      </p:sp>
      <p:sp>
        <p:nvSpPr>
          <p:cNvPr id="45" name="Shape 43"/>
          <p:cNvSpPr/>
          <p:nvPr/>
        </p:nvSpPr>
        <p:spPr>
          <a:xfrm>
            <a:off x="6245352" y="4453128"/>
            <a:ext cx="5394960" cy="228600"/>
          </a:xfrm>
          <a:prstGeom prst="rect">
            <a:avLst/>
          </a:prstGeom>
          <a:solidFill>
            <a:srgbClr val="E09400"/>
          </a:solidFill>
          <a:ln w="12700">
            <a:solidFill>
              <a:srgbClr val="E09400"/>
            </a:solidFill>
            <a:prstDash val="solid"/>
          </a:ln>
        </p:spPr>
        <p:txBody>
          <a:bodyPr/>
          <a:lstStyle/>
          <a:p>
            <a:endParaRPr lang="en-US"/>
          </a:p>
        </p:txBody>
      </p:sp>
      <p:sp>
        <p:nvSpPr>
          <p:cNvPr id="46" name="Text 44"/>
          <p:cNvSpPr/>
          <p:nvPr/>
        </p:nvSpPr>
        <p:spPr>
          <a:xfrm>
            <a:off x="6473952" y="4133088"/>
            <a:ext cx="4937760" cy="5486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Operations agent</a:t>
            </a:r>
            <a:endParaRPr lang="en-US" sz="1450" dirty="0"/>
          </a:p>
        </p:txBody>
      </p:sp>
      <p:sp>
        <p:nvSpPr>
          <p:cNvPr id="47" name="Text 45"/>
          <p:cNvSpPr/>
          <p:nvPr/>
        </p:nvSpPr>
        <p:spPr>
          <a:xfrm>
            <a:off x="6501384" y="4791456"/>
            <a:ext cx="274320" cy="274320"/>
          </a:xfrm>
          <a:prstGeom prst="rect">
            <a:avLst/>
          </a:prstGeom>
          <a:noFill/>
          <a:ln/>
        </p:spPr>
        <p:txBody>
          <a:bodyPr wrap="square" lIns="0" tIns="0" rIns="0" bIns="0" rtlCol="0" anchor="ctr"/>
          <a:lstStyle/>
          <a:p>
            <a:pPr marL="0" indent="0">
              <a:buNone/>
            </a:pPr>
            <a:r>
              <a:rPr lang="en-US" sz="1050" b="1" dirty="0">
                <a:solidFill>
                  <a:srgbClr val="E09400"/>
                </a:solidFill>
                <a:latin typeface="Arial" pitchFamily="34" charset="0"/>
                <a:ea typeface="Arial" pitchFamily="34" charset="-122"/>
                <a:cs typeface="Arial" pitchFamily="34" charset="-120"/>
              </a:rPr>
              <a:t>1.</a:t>
            </a:r>
            <a:endParaRPr lang="en-US" sz="1050" dirty="0"/>
          </a:p>
        </p:txBody>
      </p:sp>
      <p:sp>
        <p:nvSpPr>
          <p:cNvPr id="48" name="Text 46"/>
          <p:cNvSpPr/>
          <p:nvPr/>
        </p:nvSpPr>
        <p:spPr>
          <a:xfrm>
            <a:off x="6793992" y="4791456"/>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Watches alerts and log streams</a:t>
            </a:r>
            <a:endParaRPr lang="en-US" sz="1150" dirty="0"/>
          </a:p>
        </p:txBody>
      </p:sp>
      <p:sp>
        <p:nvSpPr>
          <p:cNvPr id="49" name="Text 47"/>
          <p:cNvSpPr/>
          <p:nvPr/>
        </p:nvSpPr>
        <p:spPr>
          <a:xfrm>
            <a:off x="6501384" y="5120640"/>
            <a:ext cx="274320" cy="274320"/>
          </a:xfrm>
          <a:prstGeom prst="rect">
            <a:avLst/>
          </a:prstGeom>
          <a:noFill/>
          <a:ln/>
        </p:spPr>
        <p:txBody>
          <a:bodyPr wrap="square" lIns="0" tIns="0" rIns="0" bIns="0" rtlCol="0" anchor="ctr"/>
          <a:lstStyle/>
          <a:p>
            <a:pPr marL="0" indent="0">
              <a:buNone/>
            </a:pPr>
            <a:r>
              <a:rPr lang="en-US" sz="1050" b="1" dirty="0">
                <a:solidFill>
                  <a:srgbClr val="E09400"/>
                </a:solidFill>
                <a:latin typeface="Arial" pitchFamily="34" charset="0"/>
                <a:ea typeface="Arial" pitchFamily="34" charset="-122"/>
                <a:cs typeface="Arial" pitchFamily="34" charset="-120"/>
              </a:rPr>
              <a:t>2.</a:t>
            </a:r>
            <a:endParaRPr lang="en-US" sz="1050" dirty="0"/>
          </a:p>
        </p:txBody>
      </p:sp>
      <p:sp>
        <p:nvSpPr>
          <p:cNvPr id="50" name="Text 48"/>
          <p:cNvSpPr/>
          <p:nvPr/>
        </p:nvSpPr>
        <p:spPr>
          <a:xfrm>
            <a:off x="6793992" y="5120640"/>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Correlates signals to a probable cause</a:t>
            </a:r>
            <a:endParaRPr lang="en-US" sz="1150" dirty="0"/>
          </a:p>
        </p:txBody>
      </p:sp>
      <p:sp>
        <p:nvSpPr>
          <p:cNvPr id="51" name="Text 49"/>
          <p:cNvSpPr/>
          <p:nvPr/>
        </p:nvSpPr>
        <p:spPr>
          <a:xfrm>
            <a:off x="6501384" y="5449824"/>
            <a:ext cx="274320" cy="274320"/>
          </a:xfrm>
          <a:prstGeom prst="rect">
            <a:avLst/>
          </a:prstGeom>
          <a:noFill/>
          <a:ln/>
        </p:spPr>
        <p:txBody>
          <a:bodyPr wrap="square" lIns="0" tIns="0" rIns="0" bIns="0" rtlCol="0" anchor="ctr"/>
          <a:lstStyle/>
          <a:p>
            <a:pPr marL="0" indent="0">
              <a:buNone/>
            </a:pPr>
            <a:r>
              <a:rPr lang="en-US" sz="1050" b="1" dirty="0">
                <a:solidFill>
                  <a:srgbClr val="E09400"/>
                </a:solidFill>
                <a:latin typeface="Arial" pitchFamily="34" charset="0"/>
                <a:ea typeface="Arial" pitchFamily="34" charset="-122"/>
                <a:cs typeface="Arial" pitchFamily="34" charset="-120"/>
              </a:rPr>
              <a:t>3.</a:t>
            </a:r>
            <a:endParaRPr lang="en-US" sz="1050" dirty="0"/>
          </a:p>
        </p:txBody>
      </p:sp>
      <p:sp>
        <p:nvSpPr>
          <p:cNvPr id="52" name="Text 50"/>
          <p:cNvSpPr/>
          <p:nvPr/>
        </p:nvSpPr>
        <p:spPr>
          <a:xfrm>
            <a:off x="6793992" y="5449824"/>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Runs the runbook step it is permitted to run</a:t>
            </a:r>
            <a:endParaRPr lang="en-US" sz="1150" dirty="0"/>
          </a:p>
        </p:txBody>
      </p:sp>
      <p:sp>
        <p:nvSpPr>
          <p:cNvPr id="53" name="Text 51"/>
          <p:cNvSpPr/>
          <p:nvPr/>
        </p:nvSpPr>
        <p:spPr>
          <a:xfrm>
            <a:off x="6501384" y="5779008"/>
            <a:ext cx="274320" cy="274320"/>
          </a:xfrm>
          <a:prstGeom prst="rect">
            <a:avLst/>
          </a:prstGeom>
          <a:noFill/>
          <a:ln/>
        </p:spPr>
        <p:txBody>
          <a:bodyPr wrap="square" lIns="0" tIns="0" rIns="0" bIns="0" rtlCol="0" anchor="ctr"/>
          <a:lstStyle/>
          <a:p>
            <a:pPr marL="0" indent="0">
              <a:buNone/>
            </a:pPr>
            <a:r>
              <a:rPr lang="en-US" sz="1050" b="1" dirty="0">
                <a:solidFill>
                  <a:srgbClr val="E09400"/>
                </a:solidFill>
                <a:latin typeface="Arial" pitchFamily="34" charset="0"/>
                <a:ea typeface="Arial" pitchFamily="34" charset="-122"/>
                <a:cs typeface="Arial" pitchFamily="34" charset="-120"/>
              </a:rPr>
              <a:t>4.</a:t>
            </a:r>
            <a:endParaRPr lang="en-US" sz="1050" dirty="0"/>
          </a:p>
        </p:txBody>
      </p:sp>
      <p:sp>
        <p:nvSpPr>
          <p:cNvPr id="54" name="Text 52"/>
          <p:cNvSpPr/>
          <p:nvPr/>
        </p:nvSpPr>
        <p:spPr>
          <a:xfrm>
            <a:off x="6793992" y="5779008"/>
            <a:ext cx="4572000" cy="292608"/>
          </a:xfrm>
          <a:prstGeom prst="rect">
            <a:avLst/>
          </a:prstGeom>
          <a:noFill/>
          <a:ln/>
        </p:spPr>
        <p:txBody>
          <a:bodyPr wrap="square" lIns="0" tIns="0" rIns="0" bIns="0" rtlCol="0" anchor="ctr"/>
          <a:lstStyle/>
          <a:p>
            <a:pPr marL="0" indent="0">
              <a:buNone/>
            </a:pPr>
            <a:r>
              <a:rPr lang="en-US" sz="1150" dirty="0">
                <a:solidFill>
                  <a:srgbClr val="101034"/>
                </a:solidFill>
                <a:latin typeface="Calibri" pitchFamily="34" charset="0"/>
                <a:ea typeface="Calibri" pitchFamily="34" charset="-122"/>
                <a:cs typeface="Calibri" pitchFamily="34" charset="-120"/>
              </a:rPr>
              <a:t>Pages a human with the evidence attached</a:t>
            </a:r>
            <a:endParaRPr lang="en-US" sz="1150" dirty="0"/>
          </a:p>
        </p:txBody>
      </p:sp>
      <p:sp>
        <p:nvSpPr>
          <p:cNvPr id="55" name="Text 53"/>
          <p:cNvSpPr/>
          <p:nvPr/>
        </p:nvSpPr>
        <p:spPr>
          <a:xfrm>
            <a:off x="6501384" y="6035040"/>
            <a:ext cx="4882896" cy="292608"/>
          </a:xfrm>
          <a:prstGeom prst="rect">
            <a:avLst/>
          </a:prstGeom>
          <a:noFill/>
          <a:ln/>
        </p:spPr>
        <p:txBody>
          <a:bodyPr wrap="square" lIns="0" tIns="0" rIns="0" bIns="0" rtlCol="0" anchor="ctr"/>
          <a:lstStyle/>
          <a:p>
            <a:pPr marL="0" indent="0">
              <a:buNone/>
            </a:pPr>
            <a:r>
              <a:rPr lang="en-US" sz="1050" i="1" dirty="0">
                <a:solidFill>
                  <a:srgbClr val="5A5F73"/>
                </a:solidFill>
                <a:latin typeface="Calibri" pitchFamily="34" charset="0"/>
                <a:ea typeface="Calibri" pitchFamily="34" charset="-122"/>
                <a:cs typeface="Calibri" pitchFamily="34" charset="-120"/>
              </a:rPr>
              <a:t>IT incident triage, reconciliation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101034"/>
                </a:solidFill>
                <a:latin typeface="Arial" pitchFamily="34" charset="0"/>
                <a:ea typeface="Arial" pitchFamily="34" charset="-122"/>
                <a:cs typeface="Arial" pitchFamily="34" charset="-120"/>
              </a:rPr>
              <a:t>All five side by side</a:t>
            </a:r>
            <a:endParaRPr lang="en-US" sz="31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marL="0" indent="0">
              <a:buNone/>
            </a:pPr>
            <a:r>
              <a:rPr lang="en-US" sz="1400" dirty="0">
                <a:solidFill>
                  <a:srgbClr val="5A5F73"/>
                </a:solidFill>
                <a:latin typeface="Calibri" pitchFamily="34" charset="0"/>
                <a:ea typeface="Calibri" pitchFamily="34" charset="-122"/>
                <a:cs typeface="Calibri" pitchFamily="34" charset="-120"/>
              </a:rPr>
              <a:t>One row per question people actually ask</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4315968"/>
        </p:xfrm>
        <a:graphic>
          <a:graphicData uri="http://schemas.openxmlformats.org/drawingml/2006/table">
            <a:tbl>
              <a:tblPr/>
              <a:tblGrid>
                <a:gridCol w="1673352">
                  <a:extLst>
                    <a:ext uri="{9D8B030D-6E8A-4147-A177-3AD203B41FA5}">
                      <a16:colId xmlns:a16="http://schemas.microsoft.com/office/drawing/2014/main" val="20000"/>
                    </a:ext>
                  </a:extLst>
                </a:gridCol>
                <a:gridCol w="1883664">
                  <a:extLst>
                    <a:ext uri="{9D8B030D-6E8A-4147-A177-3AD203B41FA5}">
                      <a16:colId xmlns:a16="http://schemas.microsoft.com/office/drawing/2014/main" val="20001"/>
                    </a:ext>
                  </a:extLst>
                </a:gridCol>
                <a:gridCol w="1883664">
                  <a:extLst>
                    <a:ext uri="{9D8B030D-6E8A-4147-A177-3AD203B41FA5}">
                      <a16:colId xmlns:a16="http://schemas.microsoft.com/office/drawing/2014/main" val="20002"/>
                    </a:ext>
                  </a:extLst>
                </a:gridCol>
                <a:gridCol w="1883664">
                  <a:extLst>
                    <a:ext uri="{9D8B030D-6E8A-4147-A177-3AD203B41FA5}">
                      <a16:colId xmlns:a16="http://schemas.microsoft.com/office/drawing/2014/main" val="20003"/>
                    </a:ext>
                  </a:extLst>
                </a:gridCol>
                <a:gridCol w="1883664">
                  <a:extLst>
                    <a:ext uri="{9D8B030D-6E8A-4147-A177-3AD203B41FA5}">
                      <a16:colId xmlns:a16="http://schemas.microsoft.com/office/drawing/2014/main" val="20004"/>
                    </a:ext>
                  </a:extLst>
                </a:gridCol>
                <a:gridCol w="1883664">
                  <a:extLst>
                    <a:ext uri="{9D8B030D-6E8A-4147-A177-3AD203B41FA5}">
                      <a16:colId xmlns:a16="http://schemas.microsoft.com/office/drawing/2014/main" val="20005"/>
                    </a:ext>
                  </a:extLst>
                </a:gridCol>
              </a:tblGrid>
              <a:tr h="566928">
                <a:tc>
                  <a:txBody>
                    <a:bodyPr/>
                    <a:lstStyle/>
                    <a:p>
                      <a:pPr marL="0" indent="0" algn="l">
                        <a:buNone/>
                      </a:pPr>
                      <a:endParaRPr lang="en-US" sz="1150" dirty="0">
                        <a:latin typeface="Arial" charset="0"/>
                        <a:ea typeface="Arial" charset="0"/>
                        <a:cs typeface="Arial"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101034"/>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Artificial Intelligence</a:t>
                      </a:r>
                      <a:endParaRPr lang="en-US" sz="1150" dirty="0">
                        <a:latin typeface="Arial" charset="0"/>
                        <a:ea typeface="Arial" charset="0"/>
                        <a:cs typeface="Arial"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2A2D7C"/>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Machine Learning</a:t>
                      </a:r>
                      <a:endParaRPr lang="en-US" sz="1150" dirty="0">
                        <a:latin typeface="Arial" charset="0"/>
                        <a:ea typeface="Arial" charset="0"/>
                        <a:cs typeface="Arial"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5B5FBF"/>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Deep Learning</a:t>
                      </a:r>
                      <a:endParaRPr lang="en-US" sz="1150" dirty="0">
                        <a:latin typeface="Arial" charset="0"/>
                        <a:ea typeface="Arial" charset="0"/>
                        <a:cs typeface="Arial"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7E82CE"/>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Generative AI</a:t>
                      </a:r>
                      <a:endParaRPr lang="en-US" sz="1150" dirty="0">
                        <a:latin typeface="Arial" charset="0"/>
                        <a:ea typeface="Arial" charset="0"/>
                        <a:cs typeface="Arial"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00A6A6"/>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Agentic AI</a:t>
                      </a:r>
                      <a:endParaRPr lang="en-US" sz="1150" dirty="0">
                        <a:latin typeface="Arial" charset="0"/>
                        <a:ea typeface="Arial" charset="0"/>
                        <a:cs typeface="Arial"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E09400"/>
                    </a:solidFill>
                  </a:tcPr>
                </a:tc>
                <a:extLst>
                  <a:ext uri="{0D108BD9-81ED-4DB2-BD59-A6C34878D82A}">
                    <a16:rowId xmlns:a16="http://schemas.microsoft.com/office/drawing/2014/main" val="10000"/>
                  </a:ext>
                </a:extLst>
              </a:tr>
              <a:tr h="749808">
                <a:tc>
                  <a:txBody>
                    <a:bodyPr/>
                    <a:lstStyle/>
                    <a:p>
                      <a:pPr marL="0" indent="0" algn="l">
                        <a:buNone/>
                      </a:pPr>
                      <a:r>
                        <a:rPr lang="en-US" sz="1050" b="1" dirty="0">
                          <a:solidFill>
                            <a:srgbClr val="101034"/>
                          </a:solidFill>
                          <a:latin typeface="Calibri" pitchFamily="34" charset="0"/>
                          <a:ea typeface="Calibri" pitchFamily="34" charset="-122"/>
                          <a:cs typeface="Calibri" pitchFamily="34" charset="-120"/>
                        </a:rPr>
                        <a:t>Core idea</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Machines that mimic intelligence</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Learns patterns from data</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Many-layered neural networks</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Creates new content</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Pursues a goal using tools</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l">
                        <a:buNone/>
                      </a:pPr>
                      <a:r>
                        <a:rPr lang="en-US" sz="1050" b="1" dirty="0">
                          <a:solidFill>
                            <a:srgbClr val="101034"/>
                          </a:solidFill>
                          <a:latin typeface="Calibri" pitchFamily="34" charset="0"/>
                          <a:ea typeface="Calibri" pitchFamily="34" charset="-122"/>
                          <a:cs typeface="Calibri" pitchFamily="34" charset="-120"/>
                        </a:rPr>
                        <a:t>Needs</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Rules or data</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Structured, labelled data</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Large volumes of raw data</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A pretrained foundation model</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A model plus tools and memory</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extLst>
                  <a:ext uri="{0D108BD9-81ED-4DB2-BD59-A6C34878D82A}">
                    <a16:rowId xmlns:a16="http://schemas.microsoft.com/office/drawing/2014/main" val="10002"/>
                  </a:ext>
                </a:extLst>
              </a:tr>
              <a:tr h="749808">
                <a:tc>
                  <a:txBody>
                    <a:bodyPr/>
                    <a:lstStyle/>
                    <a:p>
                      <a:pPr marL="0" indent="0" algn="l">
                        <a:buNone/>
                      </a:pPr>
                      <a:r>
                        <a:rPr lang="en-US" sz="1050" b="1" dirty="0">
                          <a:solidFill>
                            <a:srgbClr val="101034"/>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A decision or action</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A prediction or score</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A prediction from raw input</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Text, code, image, audio</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Completed tasks</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l">
                        <a:buNone/>
                      </a:pPr>
                      <a:r>
                        <a:rPr lang="en-US" sz="1050" b="1" dirty="0">
                          <a:solidFill>
                            <a:srgbClr val="101034"/>
                          </a:solidFill>
                          <a:latin typeface="Calibri" pitchFamily="34" charset="0"/>
                          <a:ea typeface="Calibri" pitchFamily="34" charset="-122"/>
                          <a:cs typeface="Calibri" pitchFamily="34" charset="-120"/>
                        </a:rPr>
                        <a:t>Human role</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Defines the rules</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Engineers features, labels data</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Designs and trains the network</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Writes the prompt</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Sets the goal and the guardrails</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4F5FA"/>
                    </a:solidFill>
                  </a:tcPr>
                </a:tc>
                <a:extLst>
                  <a:ext uri="{0D108BD9-81ED-4DB2-BD59-A6C34878D82A}">
                    <a16:rowId xmlns:a16="http://schemas.microsoft.com/office/drawing/2014/main" val="10004"/>
                  </a:ext>
                </a:extLst>
              </a:tr>
              <a:tr h="749808">
                <a:tc>
                  <a:txBody>
                    <a:bodyPr/>
                    <a:lstStyle/>
                    <a:p>
                      <a:pPr marL="0" indent="0" algn="l">
                        <a:buNone/>
                      </a:pPr>
                      <a:r>
                        <a:rPr lang="en-US" sz="1050" b="1" dirty="0">
                          <a:solidFill>
                            <a:srgbClr val="101034"/>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Chess engine, routing</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Credit scoring, churn model</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Face unlock, speech to text</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Drafting a credit memo</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A5F73"/>
                          </a:solidFill>
                          <a:latin typeface="Calibri" pitchFamily="34" charset="0"/>
                          <a:ea typeface="Calibri" pitchFamily="34" charset="-122"/>
                          <a:cs typeface="Calibri" pitchFamily="34" charset="-120"/>
                        </a:rPr>
                        <a:t>Chasing every overdue invoice</a:t>
                      </a:r>
                      <a:endParaRPr lang="en-US" sz="1050" dirty="0">
                        <a:latin typeface="Calibri" charset="0"/>
                        <a:ea typeface="Calibri" charset="0"/>
                        <a:cs typeface="Calibri" charset="0"/>
                      </a:endParaRPr>
                    </a:p>
                  </a:txBody>
                  <a:tcPr marL="82296" marR="82296" marT="82296" marB="82296" anchor="ctr">
                    <a:lnL w="12700" cap="flat" cmpd="sng" algn="ctr">
                      <a:solidFill>
                        <a:srgbClr val="DCDFEE"/>
                      </a:solidFill>
                      <a:prstDash val="solid"/>
                      <a:round/>
                      <a:headEnd type="none" w="med" len="med"/>
                      <a:tailEnd type="none" w="med" len="med"/>
                    </a:lnL>
                    <a:lnR w="12700" cap="flat" cmpd="sng" algn="ctr">
                      <a:solidFill>
                        <a:srgbClr val="DCDFEE"/>
                      </a:solidFill>
                      <a:prstDash val="solid"/>
                      <a:round/>
                      <a:headEnd type="none" w="med" len="med"/>
                      <a:tailEnd type="none" w="med" len="med"/>
                    </a:lnR>
                    <a:lnT w="12700" cap="flat" cmpd="sng" algn="ctr">
                      <a:solidFill>
                        <a:srgbClr val="DCDFEE"/>
                      </a:solidFill>
                      <a:prstDash val="solid"/>
                      <a:round/>
                      <a:headEnd type="none" w="med" len="med"/>
                      <a:tailEnd type="none" w="med" len="med"/>
                    </a:lnT>
                    <a:lnB w="12700" cap="flat" cmpd="sng" algn="ctr">
                      <a:solidFill>
                        <a:srgbClr val="DCDF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6172200"/>
            <a:ext cx="11091672" cy="365760"/>
          </a:xfrm>
          <a:prstGeom prst="rect">
            <a:avLst/>
          </a:prstGeom>
          <a:noFill/>
          <a:ln/>
        </p:spPr>
        <p:txBody>
          <a:bodyPr wrap="square" lIns="0" tIns="0" rIns="0" bIns="0" rtlCol="0" anchor="ctr"/>
          <a:lstStyle/>
          <a:p>
            <a:pPr marL="0" indent="0">
              <a:buNone/>
            </a:pPr>
            <a:r>
              <a:rPr lang="en-US" sz="1150" i="1" dirty="0">
                <a:solidFill>
                  <a:srgbClr val="5A5F73"/>
                </a:solidFill>
                <a:latin typeface="Calibri" pitchFamily="34" charset="0"/>
                <a:ea typeface="Calibri" pitchFamily="34" charset="-122"/>
                <a:cs typeface="Calibri" pitchFamily="34" charset="-120"/>
              </a:rPr>
              <a:t>Reading the table left to right is also the historical order — and each column still depends on the ones to its left.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1034"/>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100" b="1" dirty="0">
                <a:solidFill>
                  <a:srgbClr val="FFFFFF"/>
                </a:solidFill>
                <a:latin typeface="Arial" pitchFamily="34" charset="0"/>
                <a:ea typeface="Arial" pitchFamily="34" charset="-122"/>
                <a:cs typeface="Arial" pitchFamily="34" charset="-120"/>
              </a:rPr>
              <a:t>Five things to take away</a:t>
            </a:r>
            <a:endParaRPr lang="en-US" sz="3100" dirty="0"/>
          </a:p>
        </p:txBody>
      </p:sp>
      <p:sp>
        <p:nvSpPr>
          <p:cNvPr id="3" name="Shape 1"/>
          <p:cNvSpPr/>
          <p:nvPr/>
        </p:nvSpPr>
        <p:spPr>
          <a:xfrm>
            <a:off x="548640" y="1600200"/>
            <a:ext cx="11091672" cy="841248"/>
          </a:xfrm>
          <a:prstGeom prst="roundRect">
            <a:avLst>
              <a:gd name="adj" fmla="val 8696"/>
            </a:avLst>
          </a:prstGeom>
          <a:solidFill>
            <a:srgbClr val="1A1A47"/>
          </a:solidFill>
          <a:ln w="12700">
            <a:solidFill>
              <a:srgbClr val="2E2F63"/>
            </a:solidFill>
            <a:prstDash val="solid"/>
          </a:ln>
        </p:spPr>
        <p:txBody>
          <a:bodyPr/>
          <a:lstStyle/>
          <a:p>
            <a:endParaRPr lang="en-US"/>
          </a:p>
        </p:txBody>
      </p:sp>
      <p:sp>
        <p:nvSpPr>
          <p:cNvPr id="4" name="Shape 2"/>
          <p:cNvSpPr/>
          <p:nvPr/>
        </p:nvSpPr>
        <p:spPr>
          <a:xfrm>
            <a:off x="804672" y="1792224"/>
            <a:ext cx="457200" cy="457200"/>
          </a:xfrm>
          <a:prstGeom prst="ellipse">
            <a:avLst/>
          </a:prstGeom>
          <a:solidFill>
            <a:srgbClr val="5B5FBF"/>
          </a:solidFill>
          <a:ln w="12700">
            <a:solidFill>
              <a:srgbClr val="5B5FBF"/>
            </a:solidFill>
            <a:prstDash val="solid"/>
          </a:ln>
        </p:spPr>
        <p:txBody>
          <a:bodyPr/>
          <a:lstStyle/>
          <a:p>
            <a:endParaRPr lang="en-US"/>
          </a:p>
        </p:txBody>
      </p:sp>
      <p:sp>
        <p:nvSpPr>
          <p:cNvPr id="5" name="Text 3"/>
          <p:cNvSpPr/>
          <p:nvPr/>
        </p:nvSpPr>
        <p:spPr>
          <a:xfrm>
            <a:off x="804672" y="17922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371600" y="1709928"/>
            <a:ext cx="4480560" cy="3200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The terms nest, they do not compete</a:t>
            </a:r>
            <a:endParaRPr lang="en-US" sz="1450" dirty="0"/>
          </a:p>
        </p:txBody>
      </p:sp>
      <p:sp>
        <p:nvSpPr>
          <p:cNvPr id="7" name="Text 5"/>
          <p:cNvSpPr/>
          <p:nvPr/>
        </p:nvSpPr>
        <p:spPr>
          <a:xfrm>
            <a:off x="1371600" y="2011680"/>
            <a:ext cx="9966960" cy="365760"/>
          </a:xfrm>
          <a:prstGeom prst="rect">
            <a:avLst/>
          </a:prstGeom>
          <a:noFill/>
          <a:ln/>
        </p:spPr>
        <p:txBody>
          <a:bodyPr wrap="square" lIns="0" tIns="0" rIns="0" bIns="0" rtlCol="0" anchor="ctr"/>
          <a:lstStyle/>
          <a:p>
            <a:pPr marL="0" indent="0">
              <a:buNone/>
            </a:pPr>
            <a:r>
              <a:rPr lang="en-US" sz="1150" dirty="0">
                <a:solidFill>
                  <a:srgbClr val="9DA0DD"/>
                </a:solidFill>
                <a:latin typeface="Calibri" pitchFamily="34" charset="0"/>
                <a:ea typeface="Calibri" pitchFamily="34" charset="-122"/>
                <a:cs typeface="Calibri" pitchFamily="34" charset="-120"/>
              </a:rPr>
              <a:t>Every LLM is deep learning, which is machine learning, which is AI. Say the precise word.</a:t>
            </a:r>
            <a:endParaRPr lang="en-US" sz="1150" dirty="0"/>
          </a:p>
        </p:txBody>
      </p:sp>
      <p:sp>
        <p:nvSpPr>
          <p:cNvPr id="8" name="Shape 6"/>
          <p:cNvSpPr/>
          <p:nvPr/>
        </p:nvSpPr>
        <p:spPr>
          <a:xfrm>
            <a:off x="548640" y="2560320"/>
            <a:ext cx="11091672" cy="841248"/>
          </a:xfrm>
          <a:prstGeom prst="roundRect">
            <a:avLst>
              <a:gd name="adj" fmla="val 8696"/>
            </a:avLst>
          </a:prstGeom>
          <a:solidFill>
            <a:srgbClr val="1A1A47"/>
          </a:solidFill>
          <a:ln w="12700">
            <a:solidFill>
              <a:srgbClr val="2E2F63"/>
            </a:solidFill>
            <a:prstDash val="solid"/>
          </a:ln>
        </p:spPr>
        <p:txBody>
          <a:bodyPr/>
          <a:lstStyle/>
          <a:p>
            <a:endParaRPr lang="en-US"/>
          </a:p>
        </p:txBody>
      </p:sp>
      <p:sp>
        <p:nvSpPr>
          <p:cNvPr id="9" name="Shape 7"/>
          <p:cNvSpPr/>
          <p:nvPr/>
        </p:nvSpPr>
        <p:spPr>
          <a:xfrm>
            <a:off x="804672" y="2752344"/>
            <a:ext cx="457200" cy="457200"/>
          </a:xfrm>
          <a:prstGeom prst="ellipse">
            <a:avLst/>
          </a:prstGeom>
          <a:solidFill>
            <a:srgbClr val="5B5FBF"/>
          </a:solidFill>
          <a:ln w="12700">
            <a:solidFill>
              <a:srgbClr val="5B5FBF"/>
            </a:solidFill>
            <a:prstDash val="solid"/>
          </a:ln>
        </p:spPr>
        <p:txBody>
          <a:bodyPr/>
          <a:lstStyle/>
          <a:p>
            <a:endParaRPr lang="en-US"/>
          </a:p>
        </p:txBody>
      </p:sp>
      <p:sp>
        <p:nvSpPr>
          <p:cNvPr id="10" name="Text 8"/>
          <p:cNvSpPr/>
          <p:nvPr/>
        </p:nvSpPr>
        <p:spPr>
          <a:xfrm>
            <a:off x="804672" y="275234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371600" y="2670048"/>
            <a:ext cx="4480560" cy="3200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Match the tool to the problem</a:t>
            </a:r>
            <a:endParaRPr lang="en-US" sz="1450" dirty="0"/>
          </a:p>
        </p:txBody>
      </p:sp>
      <p:sp>
        <p:nvSpPr>
          <p:cNvPr id="12" name="Text 10"/>
          <p:cNvSpPr/>
          <p:nvPr/>
        </p:nvSpPr>
        <p:spPr>
          <a:xfrm>
            <a:off x="1371600" y="2971800"/>
            <a:ext cx="9966960" cy="365760"/>
          </a:xfrm>
          <a:prstGeom prst="rect">
            <a:avLst/>
          </a:prstGeom>
          <a:noFill/>
          <a:ln/>
        </p:spPr>
        <p:txBody>
          <a:bodyPr wrap="square" lIns="0" tIns="0" rIns="0" bIns="0" rtlCol="0" anchor="ctr"/>
          <a:lstStyle/>
          <a:p>
            <a:pPr marL="0" indent="0">
              <a:buNone/>
            </a:pPr>
            <a:r>
              <a:rPr lang="en-US" sz="1150" dirty="0">
                <a:solidFill>
                  <a:srgbClr val="9DA0DD"/>
                </a:solidFill>
                <a:latin typeface="Calibri" pitchFamily="34" charset="0"/>
                <a:ea typeface="Calibri" pitchFamily="34" charset="-122"/>
                <a:cs typeface="Calibri" pitchFamily="34" charset="-120"/>
              </a:rPr>
              <a:t>Tabular and repeatable → classical ML. Unstructured and language-shaped → generative AI.</a:t>
            </a:r>
            <a:endParaRPr lang="en-US" sz="1150" dirty="0"/>
          </a:p>
        </p:txBody>
      </p:sp>
      <p:sp>
        <p:nvSpPr>
          <p:cNvPr id="13" name="Shape 11"/>
          <p:cNvSpPr/>
          <p:nvPr/>
        </p:nvSpPr>
        <p:spPr>
          <a:xfrm>
            <a:off x="548640" y="3520440"/>
            <a:ext cx="11091672" cy="841248"/>
          </a:xfrm>
          <a:prstGeom prst="roundRect">
            <a:avLst>
              <a:gd name="adj" fmla="val 8696"/>
            </a:avLst>
          </a:prstGeom>
          <a:solidFill>
            <a:srgbClr val="1A1A47"/>
          </a:solidFill>
          <a:ln w="12700">
            <a:solidFill>
              <a:srgbClr val="2E2F63"/>
            </a:solidFill>
            <a:prstDash val="solid"/>
          </a:ln>
        </p:spPr>
        <p:txBody>
          <a:bodyPr/>
          <a:lstStyle/>
          <a:p>
            <a:endParaRPr lang="en-US"/>
          </a:p>
        </p:txBody>
      </p:sp>
      <p:sp>
        <p:nvSpPr>
          <p:cNvPr id="14" name="Shape 12"/>
          <p:cNvSpPr/>
          <p:nvPr/>
        </p:nvSpPr>
        <p:spPr>
          <a:xfrm>
            <a:off x="804672" y="3712464"/>
            <a:ext cx="457200" cy="457200"/>
          </a:xfrm>
          <a:prstGeom prst="ellipse">
            <a:avLst/>
          </a:prstGeom>
          <a:solidFill>
            <a:srgbClr val="00A6A6"/>
          </a:solidFill>
          <a:ln w="12700">
            <a:solidFill>
              <a:srgbClr val="00A6A6"/>
            </a:solidFill>
            <a:prstDash val="solid"/>
          </a:ln>
        </p:spPr>
        <p:txBody>
          <a:bodyPr/>
          <a:lstStyle/>
          <a:p>
            <a:endParaRPr lang="en-US"/>
          </a:p>
        </p:txBody>
      </p:sp>
      <p:sp>
        <p:nvSpPr>
          <p:cNvPr id="15" name="Text 13"/>
          <p:cNvSpPr/>
          <p:nvPr/>
        </p:nvSpPr>
        <p:spPr>
          <a:xfrm>
            <a:off x="804672" y="37124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p:nvPr/>
        </p:nvSpPr>
        <p:spPr>
          <a:xfrm>
            <a:off x="1371600" y="3630168"/>
            <a:ext cx="4480560" cy="3200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Generative models predict, they do not know</a:t>
            </a:r>
            <a:endParaRPr lang="en-US" sz="1450" dirty="0"/>
          </a:p>
        </p:txBody>
      </p:sp>
      <p:sp>
        <p:nvSpPr>
          <p:cNvPr id="17" name="Text 15"/>
          <p:cNvSpPr/>
          <p:nvPr/>
        </p:nvSpPr>
        <p:spPr>
          <a:xfrm>
            <a:off x="1371600" y="3931920"/>
            <a:ext cx="9966960" cy="365760"/>
          </a:xfrm>
          <a:prstGeom prst="rect">
            <a:avLst/>
          </a:prstGeom>
          <a:noFill/>
          <a:ln/>
        </p:spPr>
        <p:txBody>
          <a:bodyPr wrap="square" lIns="0" tIns="0" rIns="0" bIns="0" rtlCol="0" anchor="ctr"/>
          <a:lstStyle/>
          <a:p>
            <a:pPr marL="0" indent="0">
              <a:buNone/>
            </a:pPr>
            <a:r>
              <a:rPr lang="en-US" sz="1150" dirty="0">
                <a:solidFill>
                  <a:srgbClr val="9DA0DD"/>
                </a:solidFill>
                <a:latin typeface="Calibri" pitchFamily="34" charset="0"/>
                <a:ea typeface="Calibri" pitchFamily="34" charset="-122"/>
                <a:cs typeface="Calibri" pitchFamily="34" charset="-120"/>
              </a:rPr>
              <a:t>Ground them in your data and verify the output. Fluency is not accuracy.</a:t>
            </a:r>
            <a:endParaRPr lang="en-US" sz="1150" dirty="0"/>
          </a:p>
        </p:txBody>
      </p:sp>
      <p:sp>
        <p:nvSpPr>
          <p:cNvPr id="18" name="Shape 16"/>
          <p:cNvSpPr/>
          <p:nvPr/>
        </p:nvSpPr>
        <p:spPr>
          <a:xfrm>
            <a:off x="548640" y="4480560"/>
            <a:ext cx="11091672" cy="841248"/>
          </a:xfrm>
          <a:prstGeom prst="roundRect">
            <a:avLst>
              <a:gd name="adj" fmla="val 8696"/>
            </a:avLst>
          </a:prstGeom>
          <a:solidFill>
            <a:srgbClr val="1A1A47"/>
          </a:solidFill>
          <a:ln w="12700">
            <a:solidFill>
              <a:srgbClr val="2E2F63"/>
            </a:solidFill>
            <a:prstDash val="solid"/>
          </a:ln>
        </p:spPr>
        <p:txBody>
          <a:bodyPr/>
          <a:lstStyle/>
          <a:p>
            <a:endParaRPr lang="en-US"/>
          </a:p>
        </p:txBody>
      </p:sp>
      <p:sp>
        <p:nvSpPr>
          <p:cNvPr id="19" name="Shape 17"/>
          <p:cNvSpPr/>
          <p:nvPr/>
        </p:nvSpPr>
        <p:spPr>
          <a:xfrm>
            <a:off x="804672" y="4672584"/>
            <a:ext cx="457200" cy="457200"/>
          </a:xfrm>
          <a:prstGeom prst="ellipse">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804672" y="46725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p:nvPr/>
        </p:nvSpPr>
        <p:spPr>
          <a:xfrm>
            <a:off x="1371600" y="4590288"/>
            <a:ext cx="4480560" cy="3200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Agents are an architecture, not a model</a:t>
            </a:r>
            <a:endParaRPr lang="en-US" sz="1450" dirty="0"/>
          </a:p>
        </p:txBody>
      </p:sp>
      <p:sp>
        <p:nvSpPr>
          <p:cNvPr id="22" name="Text 20"/>
          <p:cNvSpPr/>
          <p:nvPr/>
        </p:nvSpPr>
        <p:spPr>
          <a:xfrm>
            <a:off x="1371600" y="4892040"/>
            <a:ext cx="9966960" cy="365760"/>
          </a:xfrm>
          <a:prstGeom prst="rect">
            <a:avLst/>
          </a:prstGeom>
          <a:noFill/>
          <a:ln/>
        </p:spPr>
        <p:txBody>
          <a:bodyPr wrap="square" lIns="0" tIns="0" rIns="0" bIns="0" rtlCol="0" anchor="ctr"/>
          <a:lstStyle/>
          <a:p>
            <a:pPr marL="0" indent="0">
              <a:buNone/>
            </a:pPr>
            <a:r>
              <a:rPr lang="en-US" sz="1150" dirty="0">
                <a:solidFill>
                  <a:srgbClr val="9DA0DD"/>
                </a:solidFill>
                <a:latin typeface="Calibri" pitchFamily="34" charset="0"/>
                <a:ea typeface="Calibri" pitchFamily="34" charset="-122"/>
                <a:cs typeface="Calibri" pitchFamily="34" charset="-120"/>
              </a:rPr>
              <a:t>Goal, tools, memory, guardrails. The model is one component of four.</a:t>
            </a:r>
            <a:endParaRPr lang="en-US" sz="1150" dirty="0"/>
          </a:p>
        </p:txBody>
      </p:sp>
      <p:sp>
        <p:nvSpPr>
          <p:cNvPr id="23" name="Shape 21"/>
          <p:cNvSpPr/>
          <p:nvPr/>
        </p:nvSpPr>
        <p:spPr>
          <a:xfrm>
            <a:off x="548640" y="5440680"/>
            <a:ext cx="11091672" cy="841248"/>
          </a:xfrm>
          <a:prstGeom prst="roundRect">
            <a:avLst>
              <a:gd name="adj" fmla="val 8696"/>
            </a:avLst>
          </a:prstGeom>
          <a:solidFill>
            <a:srgbClr val="1A1A47"/>
          </a:solidFill>
          <a:ln w="12700">
            <a:solidFill>
              <a:srgbClr val="2E2F63"/>
            </a:solidFill>
            <a:prstDash val="solid"/>
          </a:ln>
        </p:spPr>
        <p:txBody>
          <a:bodyPr/>
          <a:lstStyle/>
          <a:p>
            <a:endParaRPr lang="en-US"/>
          </a:p>
        </p:txBody>
      </p:sp>
      <p:sp>
        <p:nvSpPr>
          <p:cNvPr id="24" name="Shape 22"/>
          <p:cNvSpPr/>
          <p:nvPr/>
        </p:nvSpPr>
        <p:spPr>
          <a:xfrm>
            <a:off x="804672" y="5632704"/>
            <a:ext cx="457200" cy="457200"/>
          </a:xfrm>
          <a:prstGeom prst="ellipse">
            <a:avLst/>
          </a:prstGeom>
          <a:solidFill>
            <a:srgbClr val="E09400"/>
          </a:solidFill>
          <a:ln w="12700">
            <a:solidFill>
              <a:srgbClr val="E09400"/>
            </a:solidFill>
            <a:prstDash val="solid"/>
          </a:ln>
        </p:spPr>
        <p:txBody>
          <a:bodyPr/>
          <a:lstStyle/>
          <a:p>
            <a:endParaRPr lang="en-US"/>
          </a:p>
        </p:txBody>
      </p:sp>
      <p:sp>
        <p:nvSpPr>
          <p:cNvPr id="25" name="Text 23"/>
          <p:cNvSpPr/>
          <p:nvPr/>
        </p:nvSpPr>
        <p:spPr>
          <a:xfrm>
            <a:off x="804672" y="563270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p:nvPr/>
        </p:nvSpPr>
        <p:spPr>
          <a:xfrm>
            <a:off x="1371600" y="5550408"/>
            <a:ext cx="4480560" cy="3200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Governance scales with autonomy</a:t>
            </a:r>
            <a:endParaRPr lang="en-US" sz="1450" dirty="0"/>
          </a:p>
        </p:txBody>
      </p:sp>
      <p:sp>
        <p:nvSpPr>
          <p:cNvPr id="27" name="Text 25"/>
          <p:cNvSpPr/>
          <p:nvPr/>
        </p:nvSpPr>
        <p:spPr>
          <a:xfrm>
            <a:off x="1371600" y="5852160"/>
            <a:ext cx="9966960" cy="365760"/>
          </a:xfrm>
          <a:prstGeom prst="rect">
            <a:avLst/>
          </a:prstGeom>
          <a:noFill/>
          <a:ln/>
        </p:spPr>
        <p:txBody>
          <a:bodyPr wrap="square" lIns="0" tIns="0" rIns="0" bIns="0" rtlCol="0" anchor="ctr"/>
          <a:lstStyle/>
          <a:p>
            <a:pPr marL="0" indent="0">
              <a:buNone/>
            </a:pPr>
            <a:r>
              <a:rPr lang="en-US" sz="1150" dirty="0">
                <a:solidFill>
                  <a:srgbClr val="9DA0DD"/>
                </a:solidFill>
                <a:latin typeface="Calibri" pitchFamily="34" charset="0"/>
                <a:ea typeface="Calibri" pitchFamily="34" charset="-122"/>
                <a:cs typeface="Calibri" pitchFamily="34" charset="-120"/>
              </a:rPr>
              <a:t>The more the system can do without you, the more you need logging, limits and approval gates.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1034"/>
        </a:solidFill>
        <a:effectLst/>
      </p:bgPr>
    </p:bg>
    <p:spTree>
      <p:nvGrpSpPr>
        <p:cNvPr id="1" name=""/>
        <p:cNvGrpSpPr/>
        <p:nvPr/>
      </p:nvGrpSpPr>
      <p:grpSpPr>
        <a:xfrm>
          <a:off x="0" y="0"/>
          <a:ext cx="0" cy="0"/>
          <a:chOff x="0" y="0"/>
          <a:chExt cx="0" cy="0"/>
        </a:xfrm>
      </p:grpSpPr>
      <p:sp>
        <p:nvSpPr>
          <p:cNvPr id="2" name="Shape 0"/>
          <p:cNvSpPr/>
          <p:nvPr/>
        </p:nvSpPr>
        <p:spPr>
          <a:xfrm>
            <a:off x="4169664" y="685800"/>
            <a:ext cx="3840480" cy="3840480"/>
          </a:xfrm>
          <a:prstGeom prst="ellipse">
            <a:avLst/>
          </a:prstGeom>
          <a:solidFill>
            <a:srgbClr val="101034"/>
          </a:solidFill>
          <a:ln w="19050">
            <a:solidFill>
              <a:srgbClr val="5B5FBF"/>
            </a:solidFill>
            <a:prstDash val="solid"/>
          </a:ln>
        </p:spPr>
        <p:txBody>
          <a:bodyPr/>
          <a:lstStyle/>
          <a:p>
            <a:endParaRPr lang="en-US"/>
          </a:p>
        </p:txBody>
      </p:sp>
      <p:sp>
        <p:nvSpPr>
          <p:cNvPr id="3" name="Shape 1"/>
          <p:cNvSpPr/>
          <p:nvPr/>
        </p:nvSpPr>
        <p:spPr>
          <a:xfrm>
            <a:off x="4649724" y="1165860"/>
            <a:ext cx="2880360" cy="2880360"/>
          </a:xfrm>
          <a:prstGeom prst="ellipse">
            <a:avLst/>
          </a:prstGeom>
          <a:solidFill>
            <a:srgbClr val="101034"/>
          </a:solidFill>
          <a:ln w="19050">
            <a:solidFill>
              <a:srgbClr val="3D4192"/>
            </a:solidFill>
            <a:prstDash val="solid"/>
          </a:ln>
        </p:spPr>
        <p:txBody>
          <a:bodyPr/>
          <a:lstStyle/>
          <a:p>
            <a:endParaRPr lang="en-US"/>
          </a:p>
        </p:txBody>
      </p:sp>
      <p:sp>
        <p:nvSpPr>
          <p:cNvPr id="4" name="Shape 2"/>
          <p:cNvSpPr/>
          <p:nvPr/>
        </p:nvSpPr>
        <p:spPr>
          <a:xfrm>
            <a:off x="5129784" y="1645920"/>
            <a:ext cx="1920240" cy="1920240"/>
          </a:xfrm>
          <a:prstGeom prst="ellipse">
            <a:avLst/>
          </a:prstGeom>
          <a:solidFill>
            <a:srgbClr val="101034"/>
          </a:solidFill>
          <a:ln w="19050">
            <a:solidFill>
              <a:srgbClr val="00A6A6"/>
            </a:solidFill>
            <a:prstDash val="solid"/>
          </a:ln>
        </p:spPr>
        <p:txBody>
          <a:bodyPr/>
          <a:lstStyle/>
          <a:p>
            <a:endParaRPr lang="en-US"/>
          </a:p>
        </p:txBody>
      </p:sp>
      <p:sp>
        <p:nvSpPr>
          <p:cNvPr id="5" name="Shape 3"/>
          <p:cNvSpPr/>
          <p:nvPr/>
        </p:nvSpPr>
        <p:spPr>
          <a:xfrm>
            <a:off x="5609844" y="2125980"/>
            <a:ext cx="960120" cy="960120"/>
          </a:xfrm>
          <a:prstGeom prst="ellipse">
            <a:avLst/>
          </a:prstGeom>
          <a:solidFill>
            <a:srgbClr val="101034"/>
          </a:solidFill>
          <a:ln w="19050">
            <a:solidFill>
              <a:srgbClr val="E09400"/>
            </a:solidFill>
            <a:prstDash val="solid"/>
          </a:ln>
        </p:spPr>
        <p:txBody>
          <a:bodyPr/>
          <a:lstStyle/>
          <a:p>
            <a:endParaRPr lang="en-US"/>
          </a:p>
        </p:txBody>
      </p:sp>
      <p:sp>
        <p:nvSpPr>
          <p:cNvPr id="6" name="Text 4"/>
          <p:cNvSpPr/>
          <p:nvPr/>
        </p:nvSpPr>
        <p:spPr>
          <a:xfrm>
            <a:off x="0" y="4846320"/>
            <a:ext cx="12188952" cy="64008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Questions</a:t>
            </a:r>
            <a:endParaRPr lang="en-US" sz="4000" dirty="0"/>
          </a:p>
        </p:txBody>
      </p:sp>
      <p:sp>
        <p:nvSpPr>
          <p:cNvPr id="7" name="Text 5"/>
          <p:cNvSpPr/>
          <p:nvPr/>
        </p:nvSpPr>
        <p:spPr>
          <a:xfrm>
            <a:off x="0" y="5532120"/>
            <a:ext cx="12188952" cy="411480"/>
          </a:xfrm>
          <a:prstGeom prst="rect">
            <a:avLst/>
          </a:prstGeom>
          <a:noFill/>
          <a:ln/>
        </p:spPr>
        <p:txBody>
          <a:bodyPr wrap="square" lIns="0" tIns="0" rIns="0" bIns="0" rtlCol="0" anchor="ctr"/>
          <a:lstStyle/>
          <a:p>
            <a:pPr marL="0" indent="0" algn="ctr">
              <a:buNone/>
            </a:pPr>
            <a:r>
              <a:rPr lang="en-US" sz="1400" dirty="0">
                <a:solidFill>
                  <a:srgbClr val="9DA0DD"/>
                </a:solidFill>
                <a:latin typeface="Calibri" pitchFamily="34" charset="0"/>
                <a:ea typeface="Calibri" pitchFamily="34" charset="-122"/>
                <a:cs typeface="Calibri" pitchFamily="34" charset="-120"/>
              </a:rPr>
              <a:t>AI · ML · DL · Generative AI · Agentic AI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4326</Words>
  <Application>Microsoft Macintosh PowerPoint</Application>
  <PresentationFormat>Widescreen</PresentationFormat>
  <Paragraphs>581</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AI to Agentic AI</dc:title>
  <dc:subject>PptxGenJS Presentation</dc:subject>
  <dc:creator>Training Deck</dc:creator>
  <cp:lastModifiedBy>Giridhar Sripathi</cp:lastModifiedBy>
  <cp:revision>1</cp:revision>
  <dcterms:created xsi:type="dcterms:W3CDTF">2026-07-30T09:29:47Z</dcterms:created>
  <dcterms:modified xsi:type="dcterms:W3CDTF">2026-07-31T09:28:58Z</dcterms:modified>
</cp:coreProperties>
</file>